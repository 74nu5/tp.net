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81124cf-2c39-82e8-70bd-74d6df8cde89}">
          <p14:sldIdLst>
            <p14:sldId id="256"/>
            <p14:sldId id="257"/>
          </p14:sldIdLst>
        </p14:section>
        <p14:section name="1. Le débogueur" id="{5ca8b81e-55df-1ad2-6fcf-2fa727c36b88}">
          <p14:sldIdLst>
            <p14:sldId id="258"/>
            <p14:sldId id="259"/>
            <p14:sldId id="260"/>
          </p14:sldIdLst>
        </p14:section>
        <p14:section name="2. Les exceptions" id="{24a8e959-b80d-7b5d-7b0c-a5224e55627a}">
          <p14:sldIdLst>
            <p14:sldId id="261"/>
            <p14:sldId id="262"/>
            <p14:sldId id="263"/>
          </p14:sldIdLst>
        </p14:section>
        <p14:section name="3. Les logs" id="{44028699-5006-ccbc-60c4-9b594b0840e9}">
          <p14:sldIdLst>
            <p14:sldId id="264"/>
            <p14:sldId id="265"/>
            <p14:sldId id="266"/>
          </p14:sldIdLst>
        </p14:section>
        <p14:section name="4. Observabilité" id="{61e5ee69-dbac-28f4-62fd-75174d045f93}">
          <p14:sldIdLst>
            <p14:sldId id="267"/>
            <p14:sldId id="268"/>
            <p14:sldId id="269"/>
          </p14:sldIdLst>
        </p14:section>
        <p14:section name="5. Une méthode" id="{9e8e5a58-e589-b0f7-1afa-516d56c61943}">
          <p14:sldIdLst>
            <p14:sldId id="270"/>
            <p14:sldId id="271"/>
          </p14:sldIdLst>
        </p14:section>
        <p14:section name="6. .NET 11" id="{a61f1cd4-0b00-0568-1bef-8f22d2a43996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cours le plus directement utile pour l'après-midi : ce sont les outils qu'on utilise pour corriger les anomalies sur nos applis.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outil par exercice du TP-05, puis la méthode qui les relie.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Rider, Visual Studio et VS Code avec C# Dev Kit proposent tous ces options, avec des noms un peu différents (Actions, Log evaluated expression, Logpoint). On peut déboguer un test directement depuis l'IDE.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 Reload a des limites : certaines modifications (rude edits) demandent un redémarrage, que dotnet watch propose. Un point d'arrêt dans un test est souvent le plus court chemin vers la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stack trace de l'exercice 2 du TP-05. Les frames Microsoft.* sont celles du framework : on cherche la première frame Tickets.*, avec un fichier et une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Task.WhenAll, await relance la première exception ; toutes sont dans task.Exception. En .NET, chaque exception porte sa stack trace, contrairement à un Result::Err en 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règle par environnement : appsettings.Development.json ajoute la catégorie Microsoft.EntityFrameworkCore.Database.Command en Information. Une variable d'environnement Logging__LogLevel__Default=Debug l'emporte sur les fichiers.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L'analyseur CA2254 signale les chaînes interpolées passées à un logger. [LoggerMessage] évite aussi le coût du formatage quand le niveau est coupé.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instrumentations ASP.NET Core, HttpClient et SqlClient créent les spans toutes seules. On ajoute les siens avec une ActivitySource.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Aspire ≈ un docker-compose écrit en C#, avec le tableau de bord en plus. Les ServiceDefaults ajoutent OpenTelemetry, les health checks et la résilience à chaque service. Pas besoin de Docker tant qu'on ne lance que des projets.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démarche demandée pour les trois anomalies du TP-05, et pour les anomalies de l'après-midi.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cinq lignes correspondent aux anomalies du TP-05 et aux cas les plus fréquents sur nos applis.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Différence avec Rust : les cas sont des types existants (des records), pas des variantes déclarées dans l'union. ≈ sealed interface + records en Java 21, union discriminée en TypeScript.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ce qui est listé ici a été vérifié avec le SDK .NET 11 RC2. Faire installer le SDK 11 à côté du 10 : global.json choisit la version par dossier.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récapitulatif sert aussi d'aide-mémoire pour l'après-midi.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Vérifier avant de commencer que le SDK .NET 11 est installé pour l'exercice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UVERTUR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CLOTU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Titre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Sous-titre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Titre de partie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Détail</a:t>
            </a:r>
            <a:endParaRPr lang="en-US" sz="1800" dirty="0"/>
          </a:p>
        </p:txBody>
      </p:sp>
      <p:pic>
        <p:nvPicPr>
          <p:cNvPr id="4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5989320"/>
            <a:ext cx="685800" cy="5376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Titre</a:t>
            </a:r>
            <a:endParaRPr lang="en-US" sz="2800" dirty="0"/>
          </a:p>
        </p:txBody>
      </p:sp>
      <p:pic>
        <p:nvPicPr>
          <p:cNvPr id="3" name="Image 0" descr="/tmp/claude-0/-home-user-Tp-Net/172d164e-f28f-581b-a794-ba1e7ff38c50/scratchpad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320040"/>
            <a:ext cx="777240" cy="6089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Parcours .NET · 3B Studio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Détail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rtitre"/>
          <p:cNvSpPr txBox="1"/>
          <p:nvPr/>
        </p:nvSpPr>
        <p:spPr>
          <a:xfrm>
            <a:off x="73152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COURS 5 · VENDREDI 23 OCTOBRE · BONUS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4884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Diagnostiquer une appli .NET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776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Débogueur, stack traces, logs, Aspire : les outils pour corriger une anomalie. Et un aperçu de .NET 11.</a:t>
            </a:r>
            <a:endParaRPr lang="en-US" sz="1800" dirty="0"/>
          </a:p>
        </p:txBody>
      </p:sp>
      <p:sp>
        <p:nvSpPr>
          <p:cNvPr id="5" name="Hexagone décoratif"/>
          <p:cNvSpPr/>
          <p:nvPr/>
        </p:nvSpPr>
        <p:spPr>
          <a:xfrm>
            <a:off x="7863840" y="914400"/>
            <a:ext cx="1828800" cy="1583787"/>
          </a:xfrm>
          <a:custGeom>
            <a:avLst/>
            <a:gdLst/>
            <a:ahLst/>
            <a:cxnLst/>
            <a:rect l="l" t="t" r="r" b="b"/>
            <a:pathLst>
              <a:path w="1828800" h="1583787">
                <a:moveTo>
                  <a:pt x="0" y="791894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791894"/>
                </a:lnTo>
                <a:lnTo>
                  <a:pt x="1371600" y="1583787"/>
                </a:lnTo>
                <a:lnTo>
                  <a:pt x="457200" y="1583787"/>
                </a:lnTo>
                <a:close/>
              </a:path>
            </a:pathLst>
          </a:custGeom>
          <a:solidFill>
            <a:srgbClr val="000D78">
              <a:alpha val="85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424160" y="4526280"/>
            <a:ext cx="1371600" cy="1187840"/>
          </a:xfrm>
          <a:custGeom>
            <a:avLst/>
            <a:gdLst/>
            <a:ahLst/>
            <a:cxnLst/>
            <a:rect l="l" t="t" r="r" b="b"/>
            <a:pathLst>
              <a:path w="1371600" h="1187840">
                <a:moveTo>
                  <a:pt x="0" y="593920"/>
                </a:moveTo>
                <a:lnTo>
                  <a:pt x="342900" y="0"/>
                </a:lnTo>
                <a:lnTo>
                  <a:pt x="1028700" y="0"/>
                </a:lnTo>
                <a:lnTo>
                  <a:pt x="1371600" y="593920"/>
                </a:lnTo>
                <a:lnTo>
                  <a:pt x="1028700" y="1187840"/>
                </a:lnTo>
                <a:lnTo>
                  <a:pt x="342900" y="1187840"/>
                </a:lnTo>
                <a:close/>
              </a:path>
            </a:pathLst>
          </a:custGeom>
          <a:solidFill>
            <a:srgbClr val="001793">
              <a:alpha val="6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jaune"/>
          <p:cNvSpPr/>
          <p:nvPr/>
        </p:nvSpPr>
        <p:spPr>
          <a:xfrm>
            <a:off x="7635240" y="502920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8" name="Grand hexagone"/>
          <p:cNvSpPr/>
          <p:nvPr/>
        </p:nvSpPr>
        <p:spPr>
          <a:xfrm>
            <a:off x="827532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9" name="Numéro du cours"/>
          <p:cNvSpPr txBox="1"/>
          <p:nvPr/>
        </p:nvSpPr>
        <p:spPr>
          <a:xfrm>
            <a:off x="827532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2"/>
                </a:solidFill>
              </a:rPr>
              <a:t>5</a:t>
            </a:r>
            <a:endParaRPr lang="en-US" sz="8000" dirty="0"/>
          </a:p>
        </p:txBody>
      </p:sp>
      <p:pic>
        <p:nvPicPr>
          <p:cNvPr id="10" name="Logo" descr="Logo 3B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49240"/>
            <a:ext cx="822960" cy="6452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 programme</a:t>
            </a:r>
            <a:endParaRPr lang="en-US" sz="2800" dirty="0"/>
          </a:p>
        </p:txBody>
      </p:sp>
      <p:sp>
        <p:nvSpPr>
          <p:cNvPr id="3" name="Pastille 1"/>
          <p:cNvSpPr/>
          <p:nvPr/>
        </p:nvSpPr>
        <p:spPr>
          <a:xfrm>
            <a:off x="548640" y="141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4" name="Icône 1" descr="Le débogue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72768"/>
            <a:ext cx="356616" cy="356616"/>
          </a:xfrm>
          <a:prstGeom prst="rect">
            <a:avLst/>
          </a:prstGeom>
        </p:spPr>
      </p:pic>
      <p:sp>
        <p:nvSpPr>
          <p:cNvPr id="5" name="Partie 1"/>
          <p:cNvSpPr txBox="1"/>
          <p:nvPr/>
        </p:nvSpPr>
        <p:spPr>
          <a:xfrm>
            <a:off x="1554480" y="143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Le débogueur</a:t>
            </a:r>
            <a:endParaRPr lang="en-US" sz="1800" dirty="0"/>
          </a:p>
        </p:txBody>
      </p:sp>
      <p:sp>
        <p:nvSpPr>
          <p:cNvPr id="6" name="Contenu 1"/>
          <p:cNvSpPr txBox="1"/>
          <p:nvPr/>
        </p:nvSpPr>
        <p:spPr>
          <a:xfrm>
            <a:off x="5852160" y="143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points d'arrêt, espions, Hot Reload</a:t>
            </a:r>
            <a:endParaRPr lang="en-US" sz="1500" dirty="0"/>
          </a:p>
        </p:txBody>
      </p:sp>
      <p:sp>
        <p:nvSpPr>
          <p:cNvPr id="7" name="Pastille 2"/>
          <p:cNvSpPr/>
          <p:nvPr/>
        </p:nvSpPr>
        <p:spPr>
          <a:xfrm>
            <a:off x="548640" y="2179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8" name="Icône 2" descr="Les excep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34768"/>
            <a:ext cx="356616" cy="356616"/>
          </a:xfrm>
          <a:prstGeom prst="rect">
            <a:avLst/>
          </a:prstGeom>
        </p:spPr>
      </p:pic>
      <p:sp>
        <p:nvSpPr>
          <p:cNvPr id="9" name="Partie 2"/>
          <p:cNvSpPr txBox="1"/>
          <p:nvPr/>
        </p:nvSpPr>
        <p:spPr>
          <a:xfrm>
            <a:off x="1554480" y="2197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Les exceptions</a:t>
            </a:r>
            <a:endParaRPr lang="en-US" sz="1800" dirty="0"/>
          </a:p>
        </p:txBody>
      </p:sp>
      <p:sp>
        <p:nvSpPr>
          <p:cNvPr id="10" name="Contenu 2"/>
          <p:cNvSpPr txBox="1"/>
          <p:nvPr/>
        </p:nvSpPr>
        <p:spPr>
          <a:xfrm>
            <a:off x="5852160" y="2197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lire une stack trace, relancer proprement</a:t>
            </a:r>
            <a:endParaRPr lang="en-US" sz="1500" dirty="0"/>
          </a:p>
        </p:txBody>
      </p:sp>
      <p:sp>
        <p:nvSpPr>
          <p:cNvPr id="11" name="Pastille 3"/>
          <p:cNvSpPr/>
          <p:nvPr/>
        </p:nvSpPr>
        <p:spPr>
          <a:xfrm>
            <a:off x="548640" y="2941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2" name="Icône 3" descr="Les l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96768"/>
            <a:ext cx="356616" cy="356616"/>
          </a:xfrm>
          <a:prstGeom prst="rect">
            <a:avLst/>
          </a:prstGeom>
        </p:spPr>
      </p:pic>
      <p:sp>
        <p:nvSpPr>
          <p:cNvPr id="13" name="Partie 3"/>
          <p:cNvSpPr txBox="1"/>
          <p:nvPr/>
        </p:nvSpPr>
        <p:spPr>
          <a:xfrm>
            <a:off x="1554480" y="2959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Les logs</a:t>
            </a:r>
            <a:endParaRPr lang="en-US" sz="1800" dirty="0"/>
          </a:p>
        </p:txBody>
      </p:sp>
      <p:sp>
        <p:nvSpPr>
          <p:cNvPr id="14" name="Contenu 3"/>
          <p:cNvSpPr txBox="1"/>
          <p:nvPr/>
        </p:nvSpPr>
        <p:spPr>
          <a:xfrm>
            <a:off x="5852160" y="2959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catégories, niveaux, logs structurés</a:t>
            </a:r>
            <a:endParaRPr lang="en-US" sz="1500" dirty="0"/>
          </a:p>
        </p:txBody>
      </p:sp>
      <p:sp>
        <p:nvSpPr>
          <p:cNvPr id="15" name="Pastille 4"/>
          <p:cNvSpPr/>
          <p:nvPr/>
        </p:nvSpPr>
        <p:spPr>
          <a:xfrm>
            <a:off x="548640" y="3703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4" descr="L'observabilit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58768"/>
            <a:ext cx="356616" cy="356616"/>
          </a:xfrm>
          <a:prstGeom prst="rect">
            <a:avLst/>
          </a:prstGeom>
        </p:spPr>
      </p:pic>
      <p:sp>
        <p:nvSpPr>
          <p:cNvPr id="17" name="Partie 4"/>
          <p:cNvSpPr txBox="1"/>
          <p:nvPr/>
        </p:nvSpPr>
        <p:spPr>
          <a:xfrm>
            <a:off x="155448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L'observabilité</a:t>
            </a:r>
            <a:endParaRPr lang="en-US" sz="1800" dirty="0"/>
          </a:p>
        </p:txBody>
      </p:sp>
      <p:sp>
        <p:nvSpPr>
          <p:cNvPr id="18" name="Contenu 4"/>
          <p:cNvSpPr txBox="1"/>
          <p:nvPr/>
        </p:nvSpPr>
        <p:spPr>
          <a:xfrm>
            <a:off x="5852160" y="3721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OpenTelemetry, traces, Aspire</a:t>
            </a:r>
            <a:endParaRPr lang="en-US" sz="1500" dirty="0"/>
          </a:p>
        </p:txBody>
      </p:sp>
      <p:sp>
        <p:nvSpPr>
          <p:cNvPr id="19" name="Pastille 5"/>
          <p:cNvSpPr/>
          <p:nvPr/>
        </p:nvSpPr>
        <p:spPr>
          <a:xfrm>
            <a:off x="548640" y="4465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5" descr="Une méth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620768"/>
            <a:ext cx="356616" cy="356616"/>
          </a:xfrm>
          <a:prstGeom prst="rect">
            <a:avLst/>
          </a:prstGeom>
        </p:spPr>
      </p:pic>
      <p:sp>
        <p:nvSpPr>
          <p:cNvPr id="21" name="Partie 5"/>
          <p:cNvSpPr txBox="1"/>
          <p:nvPr/>
        </p:nvSpPr>
        <p:spPr>
          <a:xfrm>
            <a:off x="1554480" y="4483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5. Une méthode</a:t>
            </a:r>
            <a:endParaRPr lang="en-US" sz="1800" dirty="0"/>
          </a:p>
        </p:txBody>
      </p:sp>
      <p:sp>
        <p:nvSpPr>
          <p:cNvPr id="22" name="Contenu 5"/>
          <p:cNvSpPr txBox="1"/>
          <p:nvPr/>
        </p:nvSpPr>
        <p:spPr>
          <a:xfrm>
            <a:off x="5852160" y="4483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l'anomalie signalée à la correction</a:t>
            </a:r>
            <a:endParaRPr lang="en-US" sz="1500" dirty="0"/>
          </a:p>
        </p:txBody>
      </p:sp>
      <p:sp>
        <p:nvSpPr>
          <p:cNvPr id="23" name="Pastille 6"/>
          <p:cNvSpPr/>
          <p:nvPr/>
        </p:nvSpPr>
        <p:spPr>
          <a:xfrm>
            <a:off x="548640" y="522732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4" name="Icône 6" descr=".NET 11 et C# 1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82768"/>
            <a:ext cx="356616" cy="356616"/>
          </a:xfrm>
          <a:prstGeom prst="rect">
            <a:avLst/>
          </a:prstGeom>
        </p:spPr>
      </p:pic>
      <p:sp>
        <p:nvSpPr>
          <p:cNvPr id="25" name="Partie 6"/>
          <p:cNvSpPr txBox="1"/>
          <p:nvPr/>
        </p:nvSpPr>
        <p:spPr>
          <a:xfrm>
            <a:off x="1554480" y="5245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6. .NET 11 et C# 15</a:t>
            </a:r>
            <a:endParaRPr lang="en-US" sz="1800" dirty="0"/>
          </a:p>
        </p:txBody>
      </p:sp>
      <p:sp>
        <p:nvSpPr>
          <p:cNvPr id="26" name="Contenu 6"/>
          <p:cNvSpPr txBox="1"/>
          <p:nvPr/>
        </p:nvSpPr>
        <p:spPr>
          <a:xfrm>
            <a:off x="5852160" y="5245608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unions et les autres nouveautés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1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1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 débogueur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Arrêter le programme au bon moment, et regarder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DÉBOGUEUR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points d'arrêt, au-delà du simple arrêt</a:t>
            </a:r>
            <a:endParaRPr lang="en-US" sz="2800" dirty="0"/>
          </a:p>
        </p:txBody>
      </p:sp>
      <p:sp>
        <p:nvSpPr>
          <p:cNvPr id="4" name="Carte Point d'arrêt conditionnel"/>
          <p:cNvSpPr/>
          <p:nvPr/>
        </p:nvSpPr>
        <p:spPr>
          <a:xfrm>
            <a:off x="548640" y="1463040"/>
            <a:ext cx="546354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Point d'arrêt conditionnel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Point d'arrêt conditionnel" descr="Point d'arrêt conditio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Point d'arrêt conditionnel"/>
          <p:cNvSpPr txBox="1"/>
          <p:nvPr/>
        </p:nvSpPr>
        <p:spPr>
          <a:xfrm>
            <a:off x="182880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Point d'arrêt conditionnel</a:t>
            </a:r>
            <a:endParaRPr lang="en-US" sz="1700" dirty="0"/>
          </a:p>
        </p:txBody>
      </p:sp>
      <p:sp>
        <p:nvSpPr>
          <p:cNvPr id="8" name="Détail Point d'arrêt conditionnel"/>
          <p:cNvSpPr txBox="1"/>
          <p:nvPr/>
        </p:nvSpPr>
        <p:spPr>
          <a:xfrm>
            <a:off x="1828800" y="2176272"/>
            <a:ext cx="39547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S'arrête seulement si une expression C# est vraie 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fields.Length != 3</a:t>
            </a:r>
            <a:r>
              <a:rPr lang="en-US" sz="1400" dirty="0">
                <a:solidFill>
                  <a:schemeClr val="tx1"/>
                </a:solidFill>
              </a:rPr>
              <a:t>. Indispensable dans une boucle de 10 000 tours.</a:t>
            </a:r>
            <a:endParaRPr lang="en-US" sz="1400" dirty="0"/>
          </a:p>
        </p:txBody>
      </p:sp>
      <p:sp>
        <p:nvSpPr>
          <p:cNvPr id="9" name="Carte Nombre de passages"/>
          <p:cNvSpPr/>
          <p:nvPr/>
        </p:nvSpPr>
        <p:spPr>
          <a:xfrm>
            <a:off x="6195060" y="1463040"/>
            <a:ext cx="546354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Nombre de passages"/>
          <p:cNvSpPr/>
          <p:nvPr/>
        </p:nvSpPr>
        <p:spPr>
          <a:xfrm>
            <a:off x="646938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Nombre de passages" descr="Nombre de passag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91025"/>
            <a:ext cx="365760" cy="365760"/>
          </a:xfrm>
          <a:prstGeom prst="rect">
            <a:avLst/>
          </a:prstGeom>
        </p:spPr>
      </p:pic>
      <p:sp>
        <p:nvSpPr>
          <p:cNvPr id="12" name="Titre Nombre de passages"/>
          <p:cNvSpPr txBox="1"/>
          <p:nvPr/>
        </p:nvSpPr>
        <p:spPr>
          <a:xfrm>
            <a:off x="7475220" y="171907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Nombre de passages</a:t>
            </a:r>
            <a:endParaRPr lang="en-US" sz="1700" dirty="0"/>
          </a:p>
        </p:txBody>
      </p:sp>
      <p:sp>
        <p:nvSpPr>
          <p:cNvPr id="13" name="Détail Nombre de passages"/>
          <p:cNvSpPr txBox="1"/>
          <p:nvPr/>
        </p:nvSpPr>
        <p:spPr>
          <a:xfrm>
            <a:off x="7475220" y="2176272"/>
            <a:ext cx="39547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S'arrête au n-ième passage : utile quand l'erreur arrive au 237e élément.</a:t>
            </a:r>
            <a:endParaRPr lang="en-US" sz="1400" dirty="0"/>
          </a:p>
        </p:txBody>
      </p:sp>
      <p:sp>
        <p:nvSpPr>
          <p:cNvPr id="14" name="Carte Point de trace"/>
          <p:cNvSpPr/>
          <p:nvPr/>
        </p:nvSpPr>
        <p:spPr>
          <a:xfrm>
            <a:off x="548640" y="3451860"/>
            <a:ext cx="546354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Point de trace"/>
          <p:cNvSpPr/>
          <p:nvPr/>
        </p:nvSpPr>
        <p:spPr>
          <a:xfrm>
            <a:off x="822960" y="372618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Point de trace" descr="Point de tr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879845"/>
            <a:ext cx="365760" cy="365760"/>
          </a:xfrm>
          <a:prstGeom prst="rect">
            <a:avLst/>
          </a:prstGeom>
        </p:spPr>
      </p:pic>
      <p:sp>
        <p:nvSpPr>
          <p:cNvPr id="17" name="Titre Point de trace"/>
          <p:cNvSpPr txBox="1"/>
          <p:nvPr/>
        </p:nvSpPr>
        <p:spPr>
          <a:xfrm>
            <a:off x="1828800" y="370789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Point de trace</a:t>
            </a:r>
            <a:endParaRPr lang="en-US" sz="1700" dirty="0"/>
          </a:p>
        </p:txBody>
      </p:sp>
      <p:sp>
        <p:nvSpPr>
          <p:cNvPr id="18" name="Détail Point de trace"/>
          <p:cNvSpPr txBox="1"/>
          <p:nvPr/>
        </p:nvSpPr>
        <p:spPr>
          <a:xfrm>
            <a:off x="1828800" y="4165092"/>
            <a:ext cx="39547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N'arrête pas : écrit un message avec des valeurs,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{lineNumber}: {fields.Length}</a:t>
            </a:r>
            <a:r>
              <a:rPr lang="en-US" sz="1400" dirty="0">
                <a:solidFill>
                  <a:schemeClr val="tx1"/>
                </a:solidFill>
              </a:rPr>
              <a:t>. Un log sans recompiler.</a:t>
            </a:r>
            <a:endParaRPr lang="en-US" sz="1400" dirty="0"/>
          </a:p>
        </p:txBody>
      </p:sp>
      <p:sp>
        <p:nvSpPr>
          <p:cNvPr id="19" name="Carte Arrêt sur exception"/>
          <p:cNvSpPr/>
          <p:nvPr/>
        </p:nvSpPr>
        <p:spPr>
          <a:xfrm>
            <a:off x="6195060" y="3451860"/>
            <a:ext cx="546354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Arrêt sur exception"/>
          <p:cNvSpPr/>
          <p:nvPr/>
        </p:nvSpPr>
        <p:spPr>
          <a:xfrm>
            <a:off x="6469380" y="372618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Arrêt sur exception" descr="Arrêt sur excep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879845"/>
            <a:ext cx="365760" cy="365760"/>
          </a:xfrm>
          <a:prstGeom prst="rect">
            <a:avLst/>
          </a:prstGeom>
        </p:spPr>
      </p:pic>
      <p:sp>
        <p:nvSpPr>
          <p:cNvPr id="22" name="Titre Arrêt sur exception"/>
          <p:cNvSpPr txBox="1"/>
          <p:nvPr/>
        </p:nvSpPr>
        <p:spPr>
          <a:xfrm>
            <a:off x="7475220" y="3707892"/>
            <a:ext cx="39547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Arrêt sur exception</a:t>
            </a:r>
            <a:endParaRPr lang="en-US" sz="1700" dirty="0"/>
          </a:p>
        </p:txBody>
      </p:sp>
      <p:sp>
        <p:nvSpPr>
          <p:cNvPr id="23" name="Détail Arrêt sur exception"/>
          <p:cNvSpPr txBox="1"/>
          <p:nvPr/>
        </p:nvSpPr>
        <p:spPr>
          <a:xfrm>
            <a:off x="7475220" y="4165092"/>
            <a:ext cx="39547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S'arrête dès qu'une exception est levée, même interceptée plus loin : on voit l'état au moment exact.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5" name="Icône à retenir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26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Clic droit sur le point d'arrêt pour le rendre conditionnel. Les variables doivent exister à la ligne choisie.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DÉBOGUEUR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qu'on regarde une fois arrêté</a:t>
            </a:r>
            <a:endParaRPr lang="en-US" sz="2800" dirty="0"/>
          </a:p>
        </p:txBody>
      </p:sp>
      <p:sp>
        <p:nvSpPr>
          <p:cNvPr id="4" name="Carte Variables locales"/>
          <p:cNvSpPr/>
          <p:nvPr/>
        </p:nvSpPr>
        <p:spPr>
          <a:xfrm>
            <a:off x="54864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Variables locales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Variables locales" descr="Variables loc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Variables locales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Variables locales</a:t>
            </a:r>
            <a:endParaRPr lang="en-US" sz="1600" dirty="0"/>
          </a:p>
        </p:txBody>
      </p:sp>
      <p:sp>
        <p:nvSpPr>
          <p:cNvPr id="8" name="Détail Variables locales"/>
          <p:cNvSpPr txBox="1"/>
          <p:nvPr/>
        </p:nvSpPr>
        <p:spPr>
          <a:xfrm>
            <a:off x="82296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valeurs de la méthode courante, dépliables jusqu'au bout des objets.</a:t>
            </a:r>
            <a:endParaRPr lang="en-US" sz="1400" dirty="0"/>
          </a:p>
        </p:txBody>
      </p:sp>
      <p:sp>
        <p:nvSpPr>
          <p:cNvPr id="9" name="Carte Espions"/>
          <p:cNvSpPr/>
          <p:nvPr/>
        </p:nvSpPr>
        <p:spPr>
          <a:xfrm>
            <a:off x="431292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Espions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Espions" descr="Esp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Espions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Espions</a:t>
            </a:r>
            <a:endParaRPr lang="en-US" sz="1600" dirty="0"/>
          </a:p>
        </p:txBody>
      </p:sp>
      <p:sp>
        <p:nvSpPr>
          <p:cNvPr id="13" name="Détail Espions"/>
          <p:cNvSpPr txBox="1"/>
          <p:nvPr/>
        </p:nvSpPr>
        <p:spPr>
          <a:xfrm>
            <a:off x="458724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expressions qu'on garde à l'œil 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ticket.Comments.Count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cache.Count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te Pile d'appels"/>
          <p:cNvSpPr/>
          <p:nvPr/>
        </p:nvSpPr>
        <p:spPr>
          <a:xfrm>
            <a:off x="8077200" y="146304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Pile d'appels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Pile d'appels" descr="Pile d'appe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Pile d'appels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Pile d'appels</a:t>
            </a:r>
            <a:endParaRPr lang="en-US" sz="1600" dirty="0"/>
          </a:p>
        </p:txBody>
      </p:sp>
      <p:sp>
        <p:nvSpPr>
          <p:cNvPr id="18" name="Détail Pile d'appels"/>
          <p:cNvSpPr txBox="1"/>
          <p:nvPr/>
        </p:nvSpPr>
        <p:spPr>
          <a:xfrm>
            <a:off x="8351520" y="260604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 a appelé qui : remonter d'un cran montre les variables de l'appelant.</a:t>
            </a:r>
            <a:endParaRPr lang="en-US" sz="1400" dirty="0"/>
          </a:p>
        </p:txBody>
      </p:sp>
      <p:sp>
        <p:nvSpPr>
          <p:cNvPr id="19" name="Carte Évaluation"/>
          <p:cNvSpPr/>
          <p:nvPr/>
        </p:nvSpPr>
        <p:spPr>
          <a:xfrm>
            <a:off x="54864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Évaluation"/>
          <p:cNvSpPr/>
          <p:nvPr/>
        </p:nvSpPr>
        <p:spPr>
          <a:xfrm>
            <a:off x="82296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Évaluation" descr="Évalu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268465"/>
            <a:ext cx="365760" cy="365760"/>
          </a:xfrm>
          <a:prstGeom prst="rect">
            <a:avLst/>
          </a:prstGeom>
        </p:spPr>
      </p:pic>
      <p:sp>
        <p:nvSpPr>
          <p:cNvPr id="22" name="Titre Évaluation"/>
          <p:cNvSpPr txBox="1"/>
          <p:nvPr/>
        </p:nvSpPr>
        <p:spPr>
          <a:xfrm>
            <a:off x="173736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Évaluation</a:t>
            </a:r>
            <a:endParaRPr lang="en-US" sz="1600" dirty="0"/>
          </a:p>
        </p:txBody>
      </p:sp>
      <p:sp>
        <p:nvSpPr>
          <p:cNvPr id="23" name="Détail Évaluation"/>
          <p:cNvSpPr txBox="1"/>
          <p:nvPr/>
        </p:nvSpPr>
        <p:spPr>
          <a:xfrm>
            <a:off x="82296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Exécuter une expression dans le contexte arrêté, pour tester une hypothèse.</a:t>
            </a:r>
            <a:endParaRPr lang="en-US" sz="1400" dirty="0"/>
          </a:p>
        </p:txBody>
      </p:sp>
      <p:sp>
        <p:nvSpPr>
          <p:cNvPr id="24" name="Carte Pas à pas"/>
          <p:cNvSpPr/>
          <p:nvPr/>
        </p:nvSpPr>
        <p:spPr>
          <a:xfrm>
            <a:off x="431292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5" name="Pastille Pas à pas"/>
          <p:cNvSpPr/>
          <p:nvPr/>
        </p:nvSpPr>
        <p:spPr>
          <a:xfrm>
            <a:off x="458724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6" name="Icône Pas à pas" descr="Pas à pa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980" y="4268465"/>
            <a:ext cx="365760" cy="365760"/>
          </a:xfrm>
          <a:prstGeom prst="rect">
            <a:avLst/>
          </a:prstGeom>
        </p:spPr>
      </p:pic>
      <p:sp>
        <p:nvSpPr>
          <p:cNvPr id="27" name="Titre Pas à pas"/>
          <p:cNvSpPr txBox="1"/>
          <p:nvPr/>
        </p:nvSpPr>
        <p:spPr>
          <a:xfrm>
            <a:off x="550164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 à pas</a:t>
            </a:r>
            <a:endParaRPr lang="en-US" sz="1600" dirty="0"/>
          </a:p>
        </p:txBody>
      </p:sp>
      <p:sp>
        <p:nvSpPr>
          <p:cNvPr id="28" name="Détail Pas à pas"/>
          <p:cNvSpPr txBox="1"/>
          <p:nvPr/>
        </p:nvSpPr>
        <p:spPr>
          <a:xfrm>
            <a:off x="458724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 suivante, entrer dans l'appel, en sortir, continuer jusqu'au prochain arrêt.</a:t>
            </a:r>
            <a:endParaRPr lang="en-US" sz="1400" dirty="0"/>
          </a:p>
        </p:txBody>
      </p:sp>
      <p:sp>
        <p:nvSpPr>
          <p:cNvPr id="29" name="Carte Hot Reload"/>
          <p:cNvSpPr/>
          <p:nvPr/>
        </p:nvSpPr>
        <p:spPr>
          <a:xfrm>
            <a:off x="8077200" y="3840480"/>
            <a:ext cx="3581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30" name="Pastille Hot Reload"/>
          <p:cNvSpPr/>
          <p:nvPr/>
        </p:nvSpPr>
        <p:spPr>
          <a:xfrm>
            <a:off x="8351520" y="411480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31" name="Icône Hot Reload" descr="Hot Relo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260" y="4268465"/>
            <a:ext cx="365760" cy="365760"/>
          </a:xfrm>
          <a:prstGeom prst="rect">
            <a:avLst/>
          </a:prstGeom>
        </p:spPr>
      </p:pic>
      <p:sp>
        <p:nvSpPr>
          <p:cNvPr id="32" name="Titre Hot Reload"/>
          <p:cNvSpPr txBox="1"/>
          <p:nvPr/>
        </p:nvSpPr>
        <p:spPr>
          <a:xfrm>
            <a:off x="9265920" y="411480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Hot Reload</a:t>
            </a:r>
            <a:endParaRPr lang="en-US" sz="1600" dirty="0"/>
          </a:p>
        </p:txBody>
      </p:sp>
      <p:sp>
        <p:nvSpPr>
          <p:cNvPr id="33" name="Détail Hot Reload"/>
          <p:cNvSpPr txBox="1"/>
          <p:nvPr/>
        </p:nvSpPr>
        <p:spPr>
          <a:xfrm>
            <a:off x="8351520" y="498348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Modifier le code sans redémarrer 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watch</a:t>
            </a:r>
            <a:r>
              <a:rPr lang="en-US" sz="1400" dirty="0">
                <a:solidFill>
                  <a:schemeClr val="tx1"/>
                </a:solidFill>
              </a:rPr>
              <a:t>, ou pendant le débogage dans l'IDE.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2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2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Les exceptions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Lire une stack trace et ne pas perdre l'information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EXCEPTIONS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Lire une stack trace, dans l'ordre</a:t>
            </a:r>
            <a:endParaRPr lang="en-US" sz="2800" dirty="0"/>
          </a:p>
        </p:txBody>
      </p:sp>
      <p:sp>
        <p:nvSpPr>
          <p:cNvPr id="4" name="Accroche"/>
          <p:cNvSpPr txBox="1"/>
          <p:nvPr/>
        </p:nvSpPr>
        <p:spPr>
          <a:xfrm>
            <a:off x="548640" y="141732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1. Le type et le message. 2. La première frame de notre code. 3. Les frames au-dessus disent où, celles en dessous qui a appelé.</a:t>
            </a:r>
            <a:endParaRPr lang="en-US" sz="1600" dirty="0"/>
          </a:p>
        </p:txBody>
      </p:sp>
      <p:sp>
        <p:nvSpPr>
          <p:cNvPr id="5" name="Code Log"/>
          <p:cNvSpPr/>
          <p:nvPr/>
        </p:nvSpPr>
        <p:spPr>
          <a:xfrm>
            <a:off x="548640" y="2057400"/>
            <a:ext cx="1110996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6" name="Langage Log"/>
          <p:cNvSpPr txBox="1"/>
          <p:nvPr/>
        </p:nvSpPr>
        <p:spPr>
          <a:xfrm>
            <a:off x="777240" y="2176272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Console de l'API</a:t>
            </a:r>
            <a:endParaRPr lang="en-US" sz="1100" dirty="0"/>
          </a:p>
        </p:txBody>
      </p:sp>
      <p:sp>
        <p:nvSpPr>
          <p:cNvPr id="7" name="Contenu Log"/>
          <p:cNvSpPr txBox="1"/>
          <p:nvPr/>
        </p:nvSpPr>
        <p:spPr>
          <a:xfrm>
            <a:off x="777240" y="2496312"/>
            <a:ext cx="1074420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System.InvalidOperationException: The LINQ expression 'DbSet&lt;Ticket&gt;().Sum(t =&gt; t.CommentCount)'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could not be translated. [...] Either rewrite the query in a form that can be translated, or [...]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Microsoft.EntityFrameworkCore.Query.QueryableMethodTranslatingExpressionVisitor.Translate(...)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[...]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Microsoft.EntityFrameworkCore.EntityFrameworkQueryableExtensions.SumAsync[TSource](...)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Tickets.Api.Data.EfTicketRepository.GetStatsAsync(...) in .../Data/EfTicketRepository.cs:line 45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Tickets.Api.Endpoints.TicketEndpoints.StatsAsync(...) in .../Endpoints/TicketEndpoints.cs:line 63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Microsoft.AspNetCore.Http.RequestDelegateFactory.ExecuteTaskResult[T](...)</a:t>
            </a:r>
            <a:endParaRPr lang="en-US" sz="1300" dirty="0"/>
          </a:p>
        </p:txBody>
      </p:sp>
      <p:sp>
        <p:nvSpPr>
          <p:cNvPr id="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9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frame la plus profonde est en haut, comme en Java et en JavaScript ; Python affiche l'inverse.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---&gt;</a:t>
            </a:r>
            <a:r>
              <a:rPr lang="en-US" sz="1500" dirty="0">
                <a:solidFill>
                  <a:schemeClr val="tx2"/>
                </a:solidFill>
              </a:rPr>
              <a:t> introduit l'exception d'origine (InnerException).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EXCEPTIONS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Intercepter sans perdre la trace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à faire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await SaveAsync(ticket, ct);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(DbUpdateException 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(e.InnerException is SqlException)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logger.LogError(e, "Save failed for {Id}",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ticket.Id);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throw;          // garde la stack trace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439162"/>
          </a:xfrm>
          <a:prstGeom prst="roundRect">
            <a:avLst>
              <a:gd name="adj" fmla="val 374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à éviter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189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await SaveAsync(ticket, ct);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Console.WriteLine(e.Message);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e;        // repart d'ici : la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// trace d'origine est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// perdue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et catch vide : l'erreur disparaît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Interceptez précis (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chemeClr val="tx2"/>
                </a:solidFill>
              </a:rPr>
              <a:t> filtre sans dérouler la pile), journalisez l'exception entière, relancez avec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throw;</a:t>
            </a:r>
            <a:r>
              <a:rPr lang="en-US" sz="1500" dirty="0">
                <a:solidFill>
                  <a:schemeClr val="tx2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3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3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Les logs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 catégories, des niveaux, et des champs plutôt que du texte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LOGS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Six niveaux, réglés par catégorie</a:t>
            </a:r>
            <a:endParaRPr lang="en-US" sz="2800" dirty="0"/>
          </a:p>
        </p:txBody>
      </p:sp>
      <p:sp>
        <p:nvSpPr>
          <p:cNvPr id="4" name="Couche Critical"/>
          <p:cNvSpPr/>
          <p:nvPr/>
        </p:nvSpPr>
        <p:spPr>
          <a:xfrm>
            <a:off x="548640" y="1463040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000057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Nom Critical"/>
          <p:cNvSpPr txBox="1"/>
          <p:nvPr/>
        </p:nvSpPr>
        <p:spPr>
          <a:xfrm>
            <a:off x="777240" y="1463040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Critical</a:t>
            </a:r>
            <a:endParaRPr lang="en-US" sz="1500" dirty="0"/>
          </a:p>
        </p:txBody>
      </p:sp>
      <p:sp>
        <p:nvSpPr>
          <p:cNvPr id="6" name="Rôle Critical"/>
          <p:cNvSpPr txBox="1"/>
          <p:nvPr/>
        </p:nvSpPr>
        <p:spPr>
          <a:xfrm>
            <a:off x="3108960" y="1463040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l'application ne peut plus continuer</a:t>
            </a:r>
            <a:endParaRPr lang="en-US" sz="1300" dirty="0"/>
          </a:p>
        </p:txBody>
      </p:sp>
      <p:sp>
        <p:nvSpPr>
          <p:cNvPr id="7" name="Couche Error"/>
          <p:cNvSpPr/>
          <p:nvPr/>
        </p:nvSpPr>
        <p:spPr>
          <a:xfrm>
            <a:off x="548640" y="2113788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000D78"/>
          </a:solidFill>
          <a:ln w="12700">
            <a:solidFill>
              <a:srgbClr val="000D78"/>
            </a:solidFill>
            <a:prstDash val="solid"/>
          </a:ln>
        </p:spPr>
      </p:sp>
      <p:sp>
        <p:nvSpPr>
          <p:cNvPr id="8" name="Nom Error"/>
          <p:cNvSpPr txBox="1"/>
          <p:nvPr/>
        </p:nvSpPr>
        <p:spPr>
          <a:xfrm>
            <a:off x="777240" y="2113788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Error</a:t>
            </a:r>
            <a:endParaRPr lang="en-US" sz="1500" dirty="0"/>
          </a:p>
        </p:txBody>
      </p:sp>
      <p:sp>
        <p:nvSpPr>
          <p:cNvPr id="9" name="Rôle Error"/>
          <p:cNvSpPr txBox="1"/>
          <p:nvPr/>
        </p:nvSpPr>
        <p:spPr>
          <a:xfrm>
            <a:off x="3108960" y="2113788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une opération a échoué</a:t>
            </a:r>
            <a:endParaRPr lang="en-US" sz="1300" dirty="0"/>
          </a:p>
        </p:txBody>
      </p:sp>
      <p:sp>
        <p:nvSpPr>
          <p:cNvPr id="10" name="Couche Warning"/>
          <p:cNvSpPr/>
          <p:nvPr/>
        </p:nvSpPr>
        <p:spPr>
          <a:xfrm>
            <a:off x="548640" y="2764536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001793"/>
          </a:solidFill>
          <a:ln w="12700">
            <a:solidFill>
              <a:srgbClr val="001793"/>
            </a:solidFill>
            <a:prstDash val="solid"/>
          </a:ln>
        </p:spPr>
      </p:sp>
      <p:sp>
        <p:nvSpPr>
          <p:cNvPr id="11" name="Nom Warning"/>
          <p:cNvSpPr txBox="1"/>
          <p:nvPr/>
        </p:nvSpPr>
        <p:spPr>
          <a:xfrm>
            <a:off x="777240" y="2764536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Warning</a:t>
            </a:r>
            <a:endParaRPr lang="en-US" sz="1500" dirty="0"/>
          </a:p>
        </p:txBody>
      </p:sp>
      <p:sp>
        <p:nvSpPr>
          <p:cNvPr id="12" name="Rôle Warning"/>
          <p:cNvSpPr txBox="1"/>
          <p:nvPr/>
        </p:nvSpPr>
        <p:spPr>
          <a:xfrm>
            <a:off x="3108960" y="2764536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inattendu, mais on continue</a:t>
            </a:r>
            <a:endParaRPr lang="en-US" sz="1300" dirty="0"/>
          </a:p>
        </p:txBody>
      </p:sp>
      <p:sp>
        <p:nvSpPr>
          <p:cNvPr id="13" name="Couche Information"/>
          <p:cNvSpPr/>
          <p:nvPr/>
        </p:nvSpPr>
        <p:spPr>
          <a:xfrm>
            <a:off x="548640" y="3415284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0040FF"/>
          </a:solidFill>
          <a:ln w="12700">
            <a:solidFill>
              <a:srgbClr val="0040FF"/>
            </a:solidFill>
            <a:prstDash val="solid"/>
          </a:ln>
        </p:spPr>
      </p:sp>
      <p:sp>
        <p:nvSpPr>
          <p:cNvPr id="14" name="Nom Information"/>
          <p:cNvSpPr txBox="1"/>
          <p:nvPr/>
        </p:nvSpPr>
        <p:spPr>
          <a:xfrm>
            <a:off x="777240" y="3415284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Information</a:t>
            </a:r>
            <a:endParaRPr lang="en-US" sz="1500" dirty="0"/>
          </a:p>
        </p:txBody>
      </p:sp>
      <p:sp>
        <p:nvSpPr>
          <p:cNvPr id="15" name="Rôle Information"/>
          <p:cNvSpPr txBox="1"/>
          <p:nvPr/>
        </p:nvSpPr>
        <p:spPr>
          <a:xfrm>
            <a:off x="3108960" y="3415284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le déroulement normal : requêtes, SQL</a:t>
            </a:r>
            <a:endParaRPr lang="en-US" sz="1300" dirty="0"/>
          </a:p>
        </p:txBody>
      </p:sp>
      <p:sp>
        <p:nvSpPr>
          <p:cNvPr id="16" name="Couche Debug"/>
          <p:cNvSpPr/>
          <p:nvPr/>
        </p:nvSpPr>
        <p:spPr>
          <a:xfrm>
            <a:off x="548640" y="4066032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3366FF"/>
          </a:solidFill>
          <a:ln w="12700">
            <a:solidFill>
              <a:srgbClr val="3366FF"/>
            </a:solidFill>
            <a:prstDash val="solid"/>
          </a:ln>
        </p:spPr>
      </p:sp>
      <p:sp>
        <p:nvSpPr>
          <p:cNvPr id="17" name="Nom Debug"/>
          <p:cNvSpPr txBox="1"/>
          <p:nvPr/>
        </p:nvSpPr>
        <p:spPr>
          <a:xfrm>
            <a:off x="777240" y="4066032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Debug</a:t>
            </a:r>
            <a:endParaRPr lang="en-US" sz="1500" dirty="0"/>
          </a:p>
        </p:txBody>
      </p:sp>
      <p:sp>
        <p:nvSpPr>
          <p:cNvPr id="18" name="Rôle Debug"/>
          <p:cNvSpPr txBox="1"/>
          <p:nvPr/>
        </p:nvSpPr>
        <p:spPr>
          <a:xfrm>
            <a:off x="3108960" y="4066032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détails pour le développement</a:t>
            </a:r>
            <a:endParaRPr lang="en-US" sz="1300" dirty="0"/>
          </a:p>
        </p:txBody>
      </p:sp>
      <p:sp>
        <p:nvSpPr>
          <p:cNvPr id="19" name="Couche Trace"/>
          <p:cNvSpPr/>
          <p:nvPr/>
        </p:nvSpPr>
        <p:spPr>
          <a:xfrm>
            <a:off x="548640" y="4716780"/>
            <a:ext cx="5120640" cy="541020"/>
          </a:xfrm>
          <a:prstGeom prst="roundRect">
            <a:avLst>
              <a:gd name="adj" fmla="val 13521"/>
            </a:avLst>
          </a:prstGeom>
          <a:solidFill>
            <a:srgbClr val="5C85FF"/>
          </a:solidFill>
          <a:ln w="12700">
            <a:solidFill>
              <a:srgbClr val="5C85FF"/>
            </a:solidFill>
            <a:prstDash val="solid"/>
          </a:ln>
        </p:spPr>
      </p:sp>
      <p:sp>
        <p:nvSpPr>
          <p:cNvPr id="20" name="Nom Trace"/>
          <p:cNvSpPr txBox="1"/>
          <p:nvPr/>
        </p:nvSpPr>
        <p:spPr>
          <a:xfrm>
            <a:off x="777240" y="4716780"/>
            <a:ext cx="233172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Trace</a:t>
            </a:r>
            <a:endParaRPr lang="en-US" sz="1500" dirty="0"/>
          </a:p>
        </p:txBody>
      </p:sp>
      <p:sp>
        <p:nvSpPr>
          <p:cNvPr id="21" name="Rôle Trace"/>
          <p:cNvSpPr txBox="1"/>
          <p:nvPr/>
        </p:nvSpPr>
        <p:spPr>
          <a:xfrm>
            <a:off x="3108960" y="4716780"/>
            <a:ext cx="237744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tout, très verbeux</a:t>
            </a:r>
            <a:endParaRPr lang="en-US" sz="1300" dirty="0"/>
          </a:p>
        </p:txBody>
      </p:sp>
      <p:sp>
        <p:nvSpPr>
          <p:cNvPr id="22" name="Code JSON"/>
          <p:cNvSpPr/>
          <p:nvPr/>
        </p:nvSpPr>
        <p:spPr>
          <a:xfrm>
            <a:off x="6309360" y="1417320"/>
            <a:ext cx="5349240" cy="2244344"/>
          </a:xfrm>
          <a:prstGeom prst="roundRect">
            <a:avLst>
              <a:gd name="adj" fmla="val 4074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23" name="Langage JSON"/>
          <p:cNvSpPr txBox="1"/>
          <p:nvPr/>
        </p:nvSpPr>
        <p:spPr>
          <a:xfrm>
            <a:off x="6537960" y="15361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appsettings.json</a:t>
            </a:r>
            <a:endParaRPr lang="en-US" sz="1100" dirty="0"/>
          </a:p>
        </p:txBody>
      </p:sp>
      <p:sp>
        <p:nvSpPr>
          <p:cNvPr id="24" name="Contenu JSON"/>
          <p:cNvSpPr txBox="1"/>
          <p:nvPr/>
        </p:nvSpPr>
        <p:spPr>
          <a:xfrm>
            <a:off x="6537960" y="1856232"/>
            <a:ext cx="4983480" cy="1695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"Logging":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"LogLevel":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"Default": "Information",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"Microsoft.AspNetCore": "Warning",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"Microsoft.EntityFrameworkCore":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"Warning"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6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27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catégorie est le nom complet de la classe (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ILogger&lt;T&gt;</a:t>
            </a:r>
            <a:r>
              <a:rPr lang="en-US" sz="1500" dirty="0">
                <a:solidFill>
                  <a:schemeClr val="tx2"/>
                </a:solidFill>
              </a:rPr>
              <a:t>) ; la clé la plus précise gagne. Le SQL d'EF Core : en Development seulement.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LOGS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Logs structurés : des champs, pas du texte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2439162"/>
          </a:xfrm>
          <a:prstGeom prst="roundRect">
            <a:avLst>
              <a:gd name="adj" fmla="val 374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structuré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189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logger.LogInformation(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"Ticket {TicketId} closed after {Hours} h",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ticket.Id, hours);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encore mieux : généré à la compilation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[LoggerMessage(Level = LogLevel.Information,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 = "Ticket {TicketId} closed")]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partial void TicketClosed(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ILogger logger, int ticketId);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049526"/>
          </a:xfrm>
          <a:prstGeom prst="roundRect">
            <a:avLst>
              <a:gd name="adj" fmla="val 4462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à éviter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150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logger.LogInformation(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$"Ticket {ticket.Id} closed after {hours} h");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 texte est construit avant l'appel,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même si le niveau est désactivé 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ne peut plus filtrer sur TicketId :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il n'y a que du texte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Avec un modèle,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TicketId</a:t>
            </a:r>
            <a:r>
              <a:rPr lang="en-US" sz="1500" dirty="0">
                <a:solidFill>
                  <a:schemeClr val="tx2"/>
                </a:solidFill>
              </a:rPr>
              <a:t> devient un champ filtrable dans Aspire, Seq ou Elastic. ≈ les champs de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</a:t>
            </a:r>
            <a:r>
              <a:rPr lang="en-US" sz="1500" dirty="0">
                <a:solidFill>
                  <a:schemeClr val="tx2"/>
                </a:solidFill>
              </a:rPr>
              <a:t> en Rust, structlog, pino.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4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4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Observabilité et Aspire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Suivre une requête à travers toute l'application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OPENTELEMETRY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Trois signaux, un standard</a:t>
            </a:r>
            <a:endParaRPr lang="en-US" sz="2800" dirty="0"/>
          </a:p>
        </p:txBody>
      </p:sp>
      <p:sp>
        <p:nvSpPr>
          <p:cNvPr id="4" name="Carte Logs"/>
          <p:cNvSpPr/>
          <p:nvPr/>
        </p:nvSpPr>
        <p:spPr>
          <a:xfrm>
            <a:off x="54864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Logs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Logs" descr="L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Logs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Logs</a:t>
            </a:r>
            <a:endParaRPr lang="en-US" sz="1600" dirty="0"/>
          </a:p>
        </p:txBody>
      </p:sp>
      <p:sp>
        <p:nvSpPr>
          <p:cNvPr id="8" name="Détail Logs"/>
          <p:cNvSpPr txBox="1"/>
          <p:nvPr/>
        </p:nvSpPr>
        <p:spPr>
          <a:xfrm>
            <a:off x="82296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 qui s'est passé, avec des champs.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</a:t>
            </a:r>
            <a:r>
              <a:rPr lang="en-US" sz="1400" dirty="0">
                <a:solidFill>
                  <a:schemeClr val="tx1"/>
                </a:solidFill>
              </a:rPr>
              <a:t> en .NET.</a:t>
            </a:r>
            <a:endParaRPr lang="en-US" sz="1400" dirty="0"/>
          </a:p>
        </p:txBody>
      </p:sp>
      <p:sp>
        <p:nvSpPr>
          <p:cNvPr id="9" name="Carte Métriques"/>
          <p:cNvSpPr/>
          <p:nvPr/>
        </p:nvSpPr>
        <p:spPr>
          <a:xfrm>
            <a:off x="431292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Métriques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Métriques" descr="Métriq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Métriques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Métriques</a:t>
            </a:r>
            <a:endParaRPr lang="en-US" sz="1600" dirty="0"/>
          </a:p>
        </p:txBody>
      </p:sp>
      <p:sp>
        <p:nvSpPr>
          <p:cNvPr id="13" name="Détail Métriques"/>
          <p:cNvSpPr txBox="1"/>
          <p:nvPr/>
        </p:nvSpPr>
        <p:spPr>
          <a:xfrm>
            <a:off x="458724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compteurs et des durées : requêtes par seconde, mémoire, temps de réponse.</a:t>
            </a:r>
            <a:endParaRPr lang="en-US" sz="1400" dirty="0"/>
          </a:p>
        </p:txBody>
      </p:sp>
      <p:sp>
        <p:nvSpPr>
          <p:cNvPr id="14" name="Carte Traces"/>
          <p:cNvSpPr/>
          <p:nvPr/>
        </p:nvSpPr>
        <p:spPr>
          <a:xfrm>
            <a:off x="8077200" y="1463040"/>
            <a:ext cx="3581400" cy="3794760"/>
          </a:xfrm>
          <a:prstGeom prst="roundRect">
            <a:avLst>
              <a:gd name="adj" fmla="val 3064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Traces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Traces" descr="Tra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Traces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Traces</a:t>
            </a:r>
            <a:endParaRPr lang="en-US" sz="1600" dirty="0"/>
          </a:p>
        </p:txBody>
      </p:sp>
      <p:sp>
        <p:nvSpPr>
          <p:cNvPr id="18" name="Détail Traces"/>
          <p:cNvSpPr txBox="1"/>
          <p:nvPr/>
        </p:nvSpPr>
        <p:spPr>
          <a:xfrm>
            <a:off x="8351520" y="260604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trajet d'une requête : un span par étape (HTTP, SQL), imbriqués. En .NET, un span est une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0" name="Icône à retenir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21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OpenTelemetry est indépendant de l'outil : la même appli envoie ses signaux à Aspire, Jaeger, Grafana ou Azure Monitor.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ASPIRE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Aspire : décrire et lancer toute l'application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3413252"/>
          </a:xfrm>
          <a:prstGeom prst="roundRect">
            <a:avLst>
              <a:gd name="adj" fmla="val 267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AppHost.cs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86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builder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DistributedApplication.CreateBuilder(args);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api = builder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.AddProject&lt;Projects.Tickets_Api&gt;("api")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.WithHttpHealthCheck("/health");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.AddProject&lt;Projects.Tickets_Web&gt;("web")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.WithEnvironment("TicketsApi__BaseUrl",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api.GetEndpoint("http"))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.WaitFor(api);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builder.Build().Run();</a:t>
            </a:r>
            <a:endParaRPr lang="en-US" sz="1300" dirty="0"/>
          </a:p>
        </p:txBody>
      </p:sp>
      <p:sp>
        <p:nvSpPr>
          <p:cNvPr id="7" name="Code C#"/>
          <p:cNvSpPr/>
          <p:nvPr/>
        </p:nvSpPr>
        <p:spPr>
          <a:xfrm>
            <a:off x="6217920" y="1417320"/>
            <a:ext cx="5440680" cy="2439162"/>
          </a:xfrm>
          <a:prstGeom prst="roundRect">
            <a:avLst>
              <a:gd name="adj" fmla="val 3749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C#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· un span à soi</a:t>
            </a:r>
            <a:endParaRPr lang="en-US" sz="1100" dirty="0"/>
          </a:p>
        </p:txBody>
      </p:sp>
      <p:sp>
        <p:nvSpPr>
          <p:cNvPr id="9" name="Contenu C#"/>
          <p:cNvSpPr txBox="1"/>
          <p:nvPr/>
        </p:nvSpPr>
        <p:spPr>
          <a:xfrm>
            <a:off x="6446520" y="1856232"/>
            <a:ext cx="5074920" cy="189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readonly ActivitySource Source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new("Tickets.Api");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activity =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Source.StartActivity("ImportTickets");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activity?.SetTag("tickets.count",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tickets.Count);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db.SaveChangesAsync(ct);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les INSERT apparaissent sous ce span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</a:t>
            </a:r>
            <a:r>
              <a:rPr lang="en-US" sz="1500" dirty="0">
                <a:solidFill>
                  <a:schemeClr val="tx2"/>
                </a:solidFill>
              </a:rPr>
              <a:t> sur l'AppHost lance les projets et un tableau de bord : ressources, consoles, logs structurés, traces, métriques.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MÉTHODE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 l'anomalie signalée à la correction</a:t>
            </a:r>
            <a:endParaRPr lang="en-US" sz="2800" dirty="0"/>
          </a:p>
        </p:txBody>
      </p:sp>
      <p:sp>
        <p:nvSpPr>
          <p:cNvPr id="4" name="Étape Reproduire"/>
          <p:cNvSpPr/>
          <p:nvPr/>
        </p:nvSpPr>
        <p:spPr>
          <a:xfrm>
            <a:off x="1042416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5" name="Icône Reproduire" descr="Reprodu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1863136"/>
            <a:ext cx="543154" cy="543154"/>
          </a:xfrm>
          <a:prstGeom prst="rect">
            <a:avLst/>
          </a:prstGeom>
        </p:spPr>
      </p:pic>
      <p:sp>
        <p:nvSpPr>
          <p:cNvPr id="6" name="Titre Reproduire"/>
          <p:cNvSpPr txBox="1"/>
          <p:nvPr/>
        </p:nvSpPr>
        <p:spPr>
          <a:xfrm>
            <a:off x="594360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Reproduire</a:t>
            </a:r>
            <a:endParaRPr lang="en-US" sz="1600" dirty="0"/>
          </a:p>
        </p:txBody>
      </p:sp>
      <p:sp>
        <p:nvSpPr>
          <p:cNvPr id="7" name="Détail Reproduire"/>
          <p:cNvSpPr txBox="1"/>
          <p:nvPr/>
        </p:nvSpPr>
        <p:spPr>
          <a:xfrm>
            <a:off x="640080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test qui échoue, ou les étapes à la main</a:t>
            </a:r>
            <a:endParaRPr lang="en-US" sz="1300" dirty="0"/>
          </a:p>
        </p:txBody>
      </p:sp>
      <p:pic>
        <p:nvPicPr>
          <p:cNvPr id="8" name="Flèche 1" descr="pu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988409"/>
            <a:ext cx="292608" cy="292608"/>
          </a:xfrm>
          <a:prstGeom prst="rect">
            <a:avLst/>
          </a:prstGeom>
        </p:spPr>
      </p:pic>
      <p:sp>
        <p:nvSpPr>
          <p:cNvPr id="9" name="Étape Observer"/>
          <p:cNvSpPr/>
          <p:nvPr/>
        </p:nvSpPr>
        <p:spPr>
          <a:xfrm>
            <a:off x="3264408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10" name="Icône Observer" descr="Ob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051" y="1863136"/>
            <a:ext cx="543154" cy="543154"/>
          </a:xfrm>
          <a:prstGeom prst="rect">
            <a:avLst/>
          </a:prstGeom>
        </p:spPr>
      </p:pic>
      <p:sp>
        <p:nvSpPr>
          <p:cNvPr id="11" name="Titre Observer"/>
          <p:cNvSpPr txBox="1"/>
          <p:nvPr/>
        </p:nvSpPr>
        <p:spPr>
          <a:xfrm>
            <a:off x="2816352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Observer</a:t>
            </a:r>
            <a:endParaRPr lang="en-US" sz="1600" dirty="0"/>
          </a:p>
        </p:txBody>
      </p:sp>
      <p:sp>
        <p:nvSpPr>
          <p:cNvPr id="12" name="Détail Observer"/>
          <p:cNvSpPr txBox="1"/>
          <p:nvPr/>
        </p:nvSpPr>
        <p:spPr>
          <a:xfrm>
            <a:off x="2862072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logs SQL, trace, point d'arrêt, stack trace</a:t>
            </a:r>
            <a:endParaRPr lang="en-US" sz="1300" dirty="0"/>
          </a:p>
        </p:txBody>
      </p:sp>
      <p:pic>
        <p:nvPicPr>
          <p:cNvPr id="13" name="Flèche 2" descr="pui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88409"/>
            <a:ext cx="292608" cy="292608"/>
          </a:xfrm>
          <a:prstGeom prst="rect">
            <a:avLst/>
          </a:prstGeom>
        </p:spPr>
      </p:pic>
      <p:sp>
        <p:nvSpPr>
          <p:cNvPr id="14" name="Étape Formuler la cause"/>
          <p:cNvSpPr/>
          <p:nvPr/>
        </p:nvSpPr>
        <p:spPr>
          <a:xfrm>
            <a:off x="5486400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15" name="Icône Formuler la cause" descr="Formuler la ca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43" y="1863136"/>
            <a:ext cx="543154" cy="543154"/>
          </a:xfrm>
          <a:prstGeom prst="rect">
            <a:avLst/>
          </a:prstGeom>
        </p:spPr>
      </p:pic>
      <p:sp>
        <p:nvSpPr>
          <p:cNvPr id="16" name="Titre Formuler la cause"/>
          <p:cNvSpPr txBox="1"/>
          <p:nvPr/>
        </p:nvSpPr>
        <p:spPr>
          <a:xfrm>
            <a:off x="5038344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Formuler la cause</a:t>
            </a:r>
            <a:endParaRPr lang="en-US" sz="1600" dirty="0"/>
          </a:p>
        </p:txBody>
      </p:sp>
      <p:sp>
        <p:nvSpPr>
          <p:cNvPr id="17" name="Détail Formuler la cause"/>
          <p:cNvSpPr txBox="1"/>
          <p:nvPr/>
        </p:nvSpPr>
        <p:spPr>
          <a:xfrm>
            <a:off x="5084064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une phrase, avant de toucher au code</a:t>
            </a:r>
            <a:endParaRPr lang="en-US" sz="1300" dirty="0"/>
          </a:p>
        </p:txBody>
      </p:sp>
      <p:pic>
        <p:nvPicPr>
          <p:cNvPr id="18" name="Flèche 3" descr="pui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988409"/>
            <a:ext cx="292608" cy="292608"/>
          </a:xfrm>
          <a:prstGeom prst="rect">
            <a:avLst/>
          </a:prstGeom>
        </p:spPr>
      </p:pic>
      <p:sp>
        <p:nvSpPr>
          <p:cNvPr id="19" name="Étape Corriger"/>
          <p:cNvSpPr/>
          <p:nvPr/>
        </p:nvSpPr>
        <p:spPr>
          <a:xfrm>
            <a:off x="7708392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0" name="Icône Corriger" descr="Corrig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035" y="1863136"/>
            <a:ext cx="543154" cy="543154"/>
          </a:xfrm>
          <a:prstGeom prst="rect">
            <a:avLst/>
          </a:prstGeom>
        </p:spPr>
      </p:pic>
      <p:sp>
        <p:nvSpPr>
          <p:cNvPr id="21" name="Titre Corriger"/>
          <p:cNvSpPr txBox="1"/>
          <p:nvPr/>
        </p:nvSpPr>
        <p:spPr>
          <a:xfrm>
            <a:off x="7260336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Corriger</a:t>
            </a:r>
            <a:endParaRPr lang="en-US" sz="1600" dirty="0"/>
          </a:p>
        </p:txBody>
      </p:sp>
      <p:sp>
        <p:nvSpPr>
          <p:cNvPr id="22" name="Détail Corriger"/>
          <p:cNvSpPr txBox="1"/>
          <p:nvPr/>
        </p:nvSpPr>
        <p:spPr>
          <a:xfrm>
            <a:off x="7306056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 plus près de la cause, pas du symptôme</a:t>
            </a:r>
            <a:endParaRPr lang="en-US" sz="1300" dirty="0"/>
          </a:p>
        </p:txBody>
      </p:sp>
      <p:pic>
        <p:nvPicPr>
          <p:cNvPr id="23" name="Flèche 4" descr="pu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1988409"/>
            <a:ext cx="292608" cy="292608"/>
          </a:xfrm>
          <a:prstGeom prst="rect">
            <a:avLst/>
          </a:prstGeom>
        </p:spPr>
      </p:pic>
      <p:sp>
        <p:nvSpPr>
          <p:cNvPr id="24" name="Étape Verrouiller"/>
          <p:cNvSpPr/>
          <p:nvPr/>
        </p:nvSpPr>
        <p:spPr>
          <a:xfrm>
            <a:off x="9930384" y="1600200"/>
            <a:ext cx="1234440" cy="1069056"/>
          </a:xfrm>
          <a:custGeom>
            <a:avLst/>
            <a:gdLst/>
            <a:ahLst/>
            <a:cxnLst/>
            <a:rect l="l" t="t" r="r" b="b"/>
            <a:pathLst>
              <a:path w="1234440" h="1069056">
                <a:moveTo>
                  <a:pt x="0" y="534528"/>
                </a:moveTo>
                <a:lnTo>
                  <a:pt x="308610" y="0"/>
                </a:lnTo>
                <a:lnTo>
                  <a:pt x="925830" y="0"/>
                </a:lnTo>
                <a:lnTo>
                  <a:pt x="1234440" y="534528"/>
                </a:lnTo>
                <a:lnTo>
                  <a:pt x="925830" y="1069056"/>
                </a:lnTo>
                <a:lnTo>
                  <a:pt x="308610" y="1069056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pic>
        <p:nvPicPr>
          <p:cNvPr id="25" name="Icône Verrouiller" descr="Verrouill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6027" y="1863136"/>
            <a:ext cx="543154" cy="543154"/>
          </a:xfrm>
          <a:prstGeom prst="rect">
            <a:avLst/>
          </a:prstGeom>
        </p:spPr>
      </p:pic>
      <p:sp>
        <p:nvSpPr>
          <p:cNvPr id="26" name="Titre Verrouiller"/>
          <p:cNvSpPr txBox="1"/>
          <p:nvPr/>
        </p:nvSpPr>
        <p:spPr>
          <a:xfrm>
            <a:off x="9482328" y="2852105"/>
            <a:ext cx="2130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Verrouiller</a:t>
            </a:r>
            <a:endParaRPr lang="en-US" sz="1600" dirty="0"/>
          </a:p>
        </p:txBody>
      </p:sp>
      <p:sp>
        <p:nvSpPr>
          <p:cNvPr id="27" name="Détail Verrouiller"/>
          <p:cNvSpPr txBox="1"/>
          <p:nvPr/>
        </p:nvSpPr>
        <p:spPr>
          <a:xfrm>
            <a:off x="9528048" y="3263585"/>
            <a:ext cx="2039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test reste, et tous les tests passent</a:t>
            </a:r>
            <a:endParaRPr lang="en-US" sz="1300" dirty="0"/>
          </a:p>
        </p:txBody>
      </p:sp>
      <p:sp>
        <p:nvSpPr>
          <p:cNvPr id="28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29" name="Icône à retenir" descr="À reteni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30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 on n'arrive pas à formuler la cause en une phrase, on ne l'a pas encore trouvée.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MÉTHODE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Quel outil pour quel symptôme</a:t>
            </a:r>
            <a:endParaRPr lang="en-US" sz="2800" dirty="0"/>
          </a:p>
        </p:txBody>
      </p:sp>
      <p:graphicFrame>
        <p:nvGraphicFramePr>
          <p:cNvPr id="17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89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Symptôme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Premier réflexe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Une erreur 500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stack trace dans les logs du serveur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« OK » à l'écran, mais rien n'est enregistré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 logs SQL : l'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est-il parti ?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Une donnée qui n'est pas à jour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 débogueur sur la lecture : base, cache, ou état local ?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C'est lent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trace dans Aspire : quelle étape, combien de requêtes SQL ?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Ça marche chez moi, pas en recette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 données et la configuration de l'environnement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nd hexagone"/>
          <p:cNvSpPr/>
          <p:nvPr/>
        </p:nvSpPr>
        <p:spPr>
          <a:xfrm>
            <a:off x="822960" y="1965960"/>
            <a:ext cx="3108960" cy="2692438"/>
          </a:xfrm>
          <a:custGeom>
            <a:avLst/>
            <a:gdLst/>
            <a:ahLst/>
            <a:cxnLst/>
            <a:rect l="l" t="t" r="r" b="b"/>
            <a:pathLst>
              <a:path w="3108960" h="2692438">
                <a:moveTo>
                  <a:pt x="0" y="1346219"/>
                </a:moveTo>
                <a:lnTo>
                  <a:pt x="777240" y="0"/>
                </a:lnTo>
                <a:lnTo>
                  <a:pt x="2331720" y="0"/>
                </a:lnTo>
                <a:lnTo>
                  <a:pt x="3108960" y="1346219"/>
                </a:lnTo>
                <a:lnTo>
                  <a:pt x="2331720" y="2692438"/>
                </a:lnTo>
                <a:lnTo>
                  <a:pt x="777240" y="2692438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sp>
        <p:nvSpPr>
          <p:cNvPr id="3" name="Numéro de partie"/>
          <p:cNvSpPr txBox="1"/>
          <p:nvPr/>
        </p:nvSpPr>
        <p:spPr>
          <a:xfrm>
            <a:off x="822960" y="1965960"/>
            <a:ext cx="31089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2"/>
                </a:solidFill>
              </a:rPr>
              <a:t>6</a:t>
            </a:r>
            <a:endParaRPr lang="en-US" sz="7200" dirty="0"/>
          </a:p>
        </p:txBody>
      </p:sp>
      <p:sp>
        <p:nvSpPr>
          <p:cNvPr id="4" name="Hexagone décoratif"/>
          <p:cNvSpPr/>
          <p:nvPr/>
        </p:nvSpPr>
        <p:spPr>
          <a:xfrm>
            <a:off x="3429000" y="1234440"/>
            <a:ext cx="914400" cy="791894"/>
          </a:xfrm>
          <a:custGeom>
            <a:avLst/>
            <a:gdLst/>
            <a:ahLst/>
            <a:cxnLst/>
            <a:rect l="l" t="t" r="r" b="b"/>
            <a:pathLst>
              <a:path w="914400" h="791894">
                <a:moveTo>
                  <a:pt x="0" y="395947"/>
                </a:moveTo>
                <a:lnTo>
                  <a:pt x="228600" y="0"/>
                </a:lnTo>
                <a:lnTo>
                  <a:pt x="685800" y="0"/>
                </a:lnTo>
                <a:lnTo>
                  <a:pt x="914400" y="395947"/>
                </a:lnTo>
                <a:lnTo>
                  <a:pt x="685800" y="791894"/>
                </a:lnTo>
                <a:lnTo>
                  <a:pt x="228600" y="791894"/>
                </a:lnTo>
                <a:close/>
              </a:path>
            </a:pathLst>
          </a:custGeom>
          <a:solidFill>
            <a:srgbClr val="001793">
              <a:alpha val="7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5" name="Hexagone décoratif"/>
          <p:cNvSpPr/>
          <p:nvPr/>
        </p:nvSpPr>
        <p:spPr>
          <a:xfrm>
            <a:off x="320040" y="4526280"/>
            <a:ext cx="1097280" cy="950272"/>
          </a:xfrm>
          <a:custGeom>
            <a:avLst/>
            <a:gdLst/>
            <a:ahLst/>
            <a:cxnLst/>
            <a:rect l="l" t="t" r="r" b="b"/>
            <a:pathLst>
              <a:path w="1097280" h="950272">
                <a:moveTo>
                  <a:pt x="0" y="475136"/>
                </a:moveTo>
                <a:lnTo>
                  <a:pt x="274320" y="0"/>
                </a:lnTo>
                <a:lnTo>
                  <a:pt x="822960" y="0"/>
                </a:lnTo>
                <a:lnTo>
                  <a:pt x="1097280" y="475136"/>
                </a:lnTo>
                <a:lnTo>
                  <a:pt x="822960" y="950272"/>
                </a:lnTo>
                <a:lnTo>
                  <a:pt x="274320" y="950272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0607040" y="640080"/>
            <a:ext cx="1280160" cy="1108651"/>
          </a:xfrm>
          <a:custGeom>
            <a:avLst/>
            <a:gdLst/>
            <a:ahLst/>
            <a:cxnLst/>
            <a:rect l="l" t="t" r="r" b="b"/>
            <a:pathLst>
              <a:path w="1280160" h="1108651">
                <a:moveTo>
                  <a:pt x="0" y="554326"/>
                </a:moveTo>
                <a:lnTo>
                  <a:pt x="320040" y="0"/>
                </a:lnTo>
                <a:lnTo>
                  <a:pt x="960120" y="0"/>
                </a:lnTo>
                <a:lnTo>
                  <a:pt x="1280160" y="554326"/>
                </a:lnTo>
                <a:lnTo>
                  <a:pt x="960120" y="1108651"/>
                </a:lnTo>
                <a:lnTo>
                  <a:pt x="320040" y="1108651"/>
                </a:lnTo>
                <a:close/>
              </a:path>
            </a:pathLst>
          </a:custGeom>
          <a:solidFill>
            <a:srgbClr val="001793">
              <a:alpha val="5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Surtitre"/>
          <p:cNvSpPr txBox="1"/>
          <p:nvPr/>
        </p:nvSpPr>
        <p:spPr>
          <a:xfrm>
            <a:off x="4572000" y="2057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2"/>
                </a:solidFill>
              </a:rPr>
              <a:t>PARTIE 6</a:t>
            </a:r>
            <a:endParaRPr lang="en-US" sz="1600" dirty="0"/>
          </a:p>
        </p:txBody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4572000" y="251460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.NET 11 et C# 15</a:t>
            </a:r>
            <a:endParaRPr lang="en-US" sz="340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Ce qui arrive en novembre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41280" y="61722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C# 15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unions : un type parmi plusieurs</a:t>
            </a:r>
            <a:endParaRPr lang="en-US" sz="2800" dirty="0"/>
          </a:p>
        </p:txBody>
      </p:sp>
      <p:sp>
        <p:nvSpPr>
          <p:cNvPr id="4" name="Code C#"/>
          <p:cNvSpPr/>
          <p:nvPr/>
        </p:nvSpPr>
        <p:spPr>
          <a:xfrm>
            <a:off x="548640" y="1417320"/>
            <a:ext cx="5440680" cy="3218434"/>
          </a:xfrm>
          <a:prstGeom prst="roundRect">
            <a:avLst>
              <a:gd name="adj" fmla="val 2841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5" name="Langage C#"/>
          <p:cNvSpPr txBox="1"/>
          <p:nvPr/>
        </p:nvSpPr>
        <p:spPr>
          <a:xfrm>
            <a:off x="77724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C# 15</a:t>
            </a:r>
            <a:endParaRPr lang="en-US" sz="1100" dirty="0"/>
          </a:p>
        </p:txBody>
      </p:sp>
      <p:sp>
        <p:nvSpPr>
          <p:cNvPr id="6" name="Contenu C#"/>
          <p:cNvSpPr txBox="1"/>
          <p:nvPr/>
        </p:nvSpPr>
        <p:spPr>
          <a:xfrm>
            <a:off x="777240" y="1856232"/>
            <a:ext cx="5074920" cy="266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Closed(Ticket Ticket);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NotFound(int Id);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AlreadyClosed(Ticket Ticket);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union CloseResult(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Closed, NotFound, AlreadyClosed);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StatusCode(CloseResult r) =&gt; r switch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Closed =&gt; 200,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NotFound =&gt; 404,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AlreadyClosed =&gt; 409,  // oublié : erreur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Code Rust"/>
          <p:cNvSpPr/>
          <p:nvPr/>
        </p:nvSpPr>
        <p:spPr>
          <a:xfrm>
            <a:off x="6217920" y="1417320"/>
            <a:ext cx="5440680" cy="3218434"/>
          </a:xfrm>
          <a:prstGeom prst="roundRect">
            <a:avLst>
              <a:gd name="adj" fmla="val 2841"/>
            </a:avLst>
          </a:prstGeom>
          <a:solidFill>
            <a:schemeClr val="tx2"/>
          </a:solidFill>
          <a:ln w="12700">
            <a:solidFill>
              <a:srgbClr val="000057"/>
            </a:solidFill>
            <a:prstDash val="solid"/>
          </a:ln>
        </p:spPr>
      </p:sp>
      <p:sp>
        <p:nvSpPr>
          <p:cNvPr id="8" name="Langage Rust"/>
          <p:cNvSpPr txBox="1"/>
          <p:nvPr/>
        </p:nvSpPr>
        <p:spPr>
          <a:xfrm>
            <a:off x="6446520" y="153619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Rust</a:t>
            </a:r>
            <a:endParaRPr lang="en-US" sz="1100" dirty="0"/>
          </a:p>
        </p:txBody>
      </p:sp>
      <p:sp>
        <p:nvSpPr>
          <p:cNvPr id="9" name="Contenu Rust"/>
          <p:cNvSpPr txBox="1"/>
          <p:nvPr/>
        </p:nvSpPr>
        <p:spPr>
          <a:xfrm>
            <a:off x="6446520" y="1856232"/>
            <a:ext cx="5074920" cy="266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CloseResult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Closed(Ticket),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NotFound(u32),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AlreadyClosed(Ticket),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status_code(r: &amp;CloseResult) -&gt; u16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r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CloseResult::Closed(_) =&gt; 200,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CloseResult::NotFound(_) =&gt; 404,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CloseResult::AlreadyClosed(_) =&gt; 409,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11" name="Icône à retenir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12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Chaque cas porte exactement ses données, et le compilateur vérifie que chaque </a:t>
            </a: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500" dirty="0">
                <a:solidFill>
                  <a:schemeClr val="tx2"/>
                </a:solidFill>
              </a:rPr>
              <a:t> les traite tous (avertissement CS8509).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ie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.NET 11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autres nouveautés à suivre</a:t>
            </a:r>
            <a:endParaRPr lang="en-US" sz="2800" dirty="0"/>
          </a:p>
        </p:txBody>
      </p:sp>
      <p:sp>
        <p:nvSpPr>
          <p:cNvPr id="4" name="Carte Arguments de collection"/>
          <p:cNvSpPr/>
          <p:nvPr/>
        </p:nvSpPr>
        <p:spPr>
          <a:xfrm>
            <a:off x="548640" y="146304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5" name="Pastille Arguments de collection"/>
          <p:cNvSpPr/>
          <p:nvPr/>
        </p:nvSpPr>
        <p:spPr>
          <a:xfrm>
            <a:off x="82296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6" name="Icône Arguments de collection" descr="Arguments de coll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1025"/>
            <a:ext cx="365760" cy="365760"/>
          </a:xfrm>
          <a:prstGeom prst="rect">
            <a:avLst/>
          </a:prstGeom>
        </p:spPr>
      </p:pic>
      <p:sp>
        <p:nvSpPr>
          <p:cNvPr id="7" name="Titre Arguments de collection"/>
          <p:cNvSpPr txBox="1"/>
          <p:nvPr/>
        </p:nvSpPr>
        <p:spPr>
          <a:xfrm>
            <a:off x="173736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Arguments de collection</a:t>
            </a:r>
            <a:endParaRPr lang="en-US" sz="1600" dirty="0"/>
          </a:p>
        </p:txBody>
      </p:sp>
      <p:sp>
        <p:nvSpPr>
          <p:cNvPr id="8" name="Détail Arguments de collection"/>
          <p:cNvSpPr txBox="1"/>
          <p:nvPr/>
        </p:nvSpPr>
        <p:spPr>
          <a:xfrm>
            <a:off x="822960" y="260604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[with(StringComparer.OrdinalIgnoreCase), "a", "A"]</a:t>
            </a:r>
            <a:r>
              <a:rPr lang="en-US" sz="1300" dirty="0">
                <a:solidFill>
                  <a:schemeClr val="tx1"/>
                </a:solidFill>
              </a:rPr>
              <a:t> : passer un comparateur ou une capacité.</a:t>
            </a:r>
            <a:endParaRPr lang="en-US" sz="1300" dirty="0"/>
          </a:p>
        </p:txBody>
      </p:sp>
      <p:sp>
        <p:nvSpPr>
          <p:cNvPr id="9" name="Carte Hiérarchies fermées"/>
          <p:cNvSpPr/>
          <p:nvPr/>
        </p:nvSpPr>
        <p:spPr>
          <a:xfrm>
            <a:off x="4312920" y="146304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0" name="Pastille Hiérarchies fermées"/>
          <p:cNvSpPr/>
          <p:nvPr/>
        </p:nvSpPr>
        <p:spPr>
          <a:xfrm>
            <a:off x="458724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1" name="Icône Hiérarchies fermées" descr="Hiérarchies fermé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1891025"/>
            <a:ext cx="365760" cy="365760"/>
          </a:xfrm>
          <a:prstGeom prst="rect">
            <a:avLst/>
          </a:prstGeom>
        </p:spPr>
      </p:pic>
      <p:sp>
        <p:nvSpPr>
          <p:cNvPr id="12" name="Titre Hiérarchies fermées"/>
          <p:cNvSpPr txBox="1"/>
          <p:nvPr/>
        </p:nvSpPr>
        <p:spPr>
          <a:xfrm>
            <a:off x="550164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Hiérarchies fermées</a:t>
            </a:r>
            <a:endParaRPr lang="en-US" sz="1600" dirty="0"/>
          </a:p>
        </p:txBody>
      </p:sp>
      <p:sp>
        <p:nvSpPr>
          <p:cNvPr id="13" name="Détail Hiérarchies fermées"/>
          <p:cNvSpPr txBox="1"/>
          <p:nvPr/>
        </p:nvSpPr>
        <p:spPr>
          <a:xfrm>
            <a:off x="4587240" y="260604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record GateState</a:t>
            </a:r>
            <a:r>
              <a:rPr lang="en-US" sz="1300" dirty="0">
                <a:solidFill>
                  <a:schemeClr val="tx1"/>
                </a:solidFill>
              </a:rPr>
              <a:t> : les sous-classes sont connues, le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300" dirty="0">
                <a:solidFill>
                  <a:schemeClr val="tx1"/>
                </a:solidFill>
              </a:rPr>
              <a:t> est exhaustif.</a:t>
            </a:r>
            <a:endParaRPr lang="en-US" sz="1300" dirty="0"/>
          </a:p>
        </p:txBody>
      </p:sp>
      <p:sp>
        <p:nvSpPr>
          <p:cNvPr id="14" name="Carte Indexeurs d'extension"/>
          <p:cNvSpPr/>
          <p:nvPr/>
        </p:nvSpPr>
        <p:spPr>
          <a:xfrm>
            <a:off x="8077200" y="146304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15" name="Pastille Indexeurs d'extension"/>
          <p:cNvSpPr/>
          <p:nvPr/>
        </p:nvSpPr>
        <p:spPr>
          <a:xfrm>
            <a:off x="8351520" y="173736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16" name="Icône Indexeurs d'extension" descr="Indexeurs d'extens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891025"/>
            <a:ext cx="365760" cy="365760"/>
          </a:xfrm>
          <a:prstGeom prst="rect">
            <a:avLst/>
          </a:prstGeom>
        </p:spPr>
      </p:pic>
      <p:sp>
        <p:nvSpPr>
          <p:cNvPr id="17" name="Titre Indexeurs d'extension"/>
          <p:cNvSpPr txBox="1"/>
          <p:nvPr/>
        </p:nvSpPr>
        <p:spPr>
          <a:xfrm>
            <a:off x="9265920" y="173736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Indexeurs d'extension</a:t>
            </a:r>
            <a:endParaRPr lang="en-US" sz="1600" dirty="0"/>
          </a:p>
        </p:txBody>
      </p:sp>
      <p:sp>
        <p:nvSpPr>
          <p:cNvPr id="18" name="Détail Indexeurs d'extension"/>
          <p:cNvSpPr txBox="1"/>
          <p:nvPr/>
        </p:nvSpPr>
        <p:spPr>
          <a:xfrm>
            <a:off x="8351520" y="260604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Ajouter un indexeur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this[int]</a:t>
            </a:r>
            <a:r>
              <a:rPr lang="en-US" sz="1300" dirty="0">
                <a:solidFill>
                  <a:schemeClr val="tx1"/>
                </a:solidFill>
              </a:rPr>
              <a:t> à un type existant, dans un bloc </a:t>
            </a: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300" dirty="0"/>
          </a:p>
        </p:txBody>
      </p:sp>
      <p:sp>
        <p:nvSpPr>
          <p:cNvPr id="19" name="Carte break et continue étiquetés"/>
          <p:cNvSpPr/>
          <p:nvPr/>
        </p:nvSpPr>
        <p:spPr>
          <a:xfrm>
            <a:off x="548640" y="345186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0" name="Pastille break et continue étiquetés"/>
          <p:cNvSpPr/>
          <p:nvPr/>
        </p:nvSpPr>
        <p:spPr>
          <a:xfrm>
            <a:off x="822960" y="372618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1" name="Icône break et continue étiquetés" descr="break et continue étiqueté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879845"/>
            <a:ext cx="365760" cy="365760"/>
          </a:xfrm>
          <a:prstGeom prst="rect">
            <a:avLst/>
          </a:prstGeom>
        </p:spPr>
      </p:pic>
      <p:sp>
        <p:nvSpPr>
          <p:cNvPr id="22" name="Titre break et continue étiquetés"/>
          <p:cNvSpPr txBox="1"/>
          <p:nvPr/>
        </p:nvSpPr>
        <p:spPr>
          <a:xfrm>
            <a:off x="1737360" y="372618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break et continue étiquetés</a:t>
            </a:r>
            <a:endParaRPr lang="en-US" sz="1600" dirty="0"/>
          </a:p>
        </p:txBody>
      </p:sp>
      <p:sp>
        <p:nvSpPr>
          <p:cNvPr id="23" name="Détail break et continue étiquetés"/>
          <p:cNvSpPr txBox="1"/>
          <p:nvPr/>
        </p:nvSpPr>
        <p:spPr>
          <a:xfrm>
            <a:off x="822960" y="459486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outer;</a:t>
            </a:r>
            <a:r>
              <a:rPr lang="en-US" sz="1300" dirty="0">
                <a:solidFill>
                  <a:schemeClr val="tx1"/>
                </a:solidFill>
              </a:rPr>
              <a:t> pour sortir de boucles imbriquées sans booléen.</a:t>
            </a:r>
            <a:endParaRPr lang="en-US" sz="1300" dirty="0"/>
          </a:p>
        </p:txBody>
      </p:sp>
      <p:sp>
        <p:nvSpPr>
          <p:cNvPr id="24" name="Carte Runtime Async"/>
          <p:cNvSpPr/>
          <p:nvPr/>
        </p:nvSpPr>
        <p:spPr>
          <a:xfrm>
            <a:off x="4312920" y="345186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25" name="Pastille Runtime Async"/>
          <p:cNvSpPr/>
          <p:nvPr/>
        </p:nvSpPr>
        <p:spPr>
          <a:xfrm>
            <a:off x="4587240" y="372618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26" name="Icône Runtime Async" descr="Runtime Asyn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2980" y="3879845"/>
            <a:ext cx="365760" cy="365760"/>
          </a:xfrm>
          <a:prstGeom prst="rect">
            <a:avLst/>
          </a:prstGeom>
        </p:spPr>
      </p:pic>
      <p:sp>
        <p:nvSpPr>
          <p:cNvPr id="27" name="Titre Runtime Async"/>
          <p:cNvSpPr txBox="1"/>
          <p:nvPr/>
        </p:nvSpPr>
        <p:spPr>
          <a:xfrm>
            <a:off x="5501640" y="372618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Runtime Async</a:t>
            </a:r>
            <a:endParaRPr lang="en-US" sz="1600" dirty="0"/>
          </a:p>
        </p:txBody>
      </p:sp>
      <p:sp>
        <p:nvSpPr>
          <p:cNvPr id="28" name="Détail Runtime Async"/>
          <p:cNvSpPr txBox="1"/>
          <p:nvPr/>
        </p:nvSpPr>
        <p:spPr>
          <a:xfrm>
            <a:off x="4587240" y="459486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préversion : l'async géré par le runtime, une pile d'appels plus lisible en débogage.</a:t>
            </a:r>
            <a:endParaRPr lang="en-US" sz="1300" dirty="0"/>
          </a:p>
        </p:txBody>
      </p:sp>
      <p:sp>
        <p:nvSpPr>
          <p:cNvPr id="29" name="Carte Où suivre"/>
          <p:cNvSpPr/>
          <p:nvPr/>
        </p:nvSpPr>
        <p:spPr>
          <a:xfrm>
            <a:off x="8077200" y="3451860"/>
            <a:ext cx="3581400" cy="1805940"/>
          </a:xfrm>
          <a:prstGeom prst="roundRect">
            <a:avLst>
              <a:gd name="adj" fmla="val 6076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sp>
        <p:nvSpPr>
          <p:cNvPr id="30" name="Pastille Où suivre"/>
          <p:cNvSpPr/>
          <p:nvPr/>
        </p:nvSpPr>
        <p:spPr>
          <a:xfrm>
            <a:off x="8351520" y="3726180"/>
            <a:ext cx="777240" cy="673110"/>
          </a:xfrm>
          <a:custGeom>
            <a:avLst/>
            <a:gdLst/>
            <a:ahLst/>
            <a:cxnLst/>
            <a:rect l="l" t="t" r="r" b="b"/>
            <a:pathLst>
              <a:path w="777240" h="673110">
                <a:moveTo>
                  <a:pt x="0" y="336555"/>
                </a:moveTo>
                <a:lnTo>
                  <a:pt x="194310" y="0"/>
                </a:lnTo>
                <a:lnTo>
                  <a:pt x="582930" y="0"/>
                </a:lnTo>
                <a:lnTo>
                  <a:pt x="777240" y="336555"/>
                </a:lnTo>
                <a:lnTo>
                  <a:pt x="582930" y="673110"/>
                </a:lnTo>
                <a:lnTo>
                  <a:pt x="194310" y="673110"/>
                </a:lnTo>
                <a:close/>
              </a:path>
            </a:pathLst>
          </a:custGeom>
          <a:solidFill>
            <a:srgbClr val="0040FF"/>
          </a:solidFill>
          <a:ln w="12700">
            <a:solidFill>
              <a:srgbClr val="0040FF">
                <a:alpha val="0"/>
              </a:srgbClr>
            </a:solidFill>
            <a:prstDash val="solid"/>
          </a:ln>
        </p:spPr>
      </p:sp>
      <p:pic>
        <p:nvPicPr>
          <p:cNvPr id="31" name="Icône Où suivre" descr="Où suiv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260" y="3879845"/>
            <a:ext cx="365760" cy="365760"/>
          </a:xfrm>
          <a:prstGeom prst="rect">
            <a:avLst/>
          </a:prstGeom>
        </p:spPr>
      </p:pic>
      <p:sp>
        <p:nvSpPr>
          <p:cNvPr id="32" name="Titre Où suivre"/>
          <p:cNvSpPr txBox="1"/>
          <p:nvPr/>
        </p:nvSpPr>
        <p:spPr>
          <a:xfrm>
            <a:off x="9265920" y="3726180"/>
            <a:ext cx="2209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Où suivre</a:t>
            </a:r>
            <a:endParaRPr lang="en-US" sz="1600" dirty="0"/>
          </a:p>
        </p:txBody>
      </p:sp>
      <p:sp>
        <p:nvSpPr>
          <p:cNvPr id="33" name="Détail Où suivre"/>
          <p:cNvSpPr txBox="1"/>
          <p:nvPr/>
        </p:nvSpPr>
        <p:spPr>
          <a:xfrm>
            <a:off x="8351520" y="4594860"/>
            <a:ext cx="3078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What's new in C# 15 et .NET 11 sur Microsoft Learn, le blog .NET, la .NET Conf.</a:t>
            </a:r>
            <a:endParaRPr lang="en-US" sz="1300" dirty="0"/>
          </a:p>
        </p:txBody>
      </p:sp>
      <p:sp>
        <p:nvSpPr>
          <p:cNvPr id="34" name="À retenir"/>
          <p:cNvSpPr/>
          <p:nvPr/>
        </p:nvSpPr>
        <p:spPr>
          <a:xfrm>
            <a:off x="548640" y="5440680"/>
            <a:ext cx="1110996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rgbClr val="E1EAF1"/>
            </a:solidFill>
            <a:prstDash val="solid"/>
          </a:ln>
        </p:spPr>
      </p:sp>
      <p:pic>
        <p:nvPicPr>
          <p:cNvPr id="35" name="Icône à retenir" descr="À reteni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14416"/>
            <a:ext cx="338328" cy="338328"/>
          </a:xfrm>
          <a:prstGeom prst="rect">
            <a:avLst/>
          </a:prstGeom>
        </p:spPr>
      </p:pic>
      <p:sp>
        <p:nvSpPr>
          <p:cNvPr id="36" name="Texte à retenir"/>
          <p:cNvSpPr txBox="1"/>
          <p:nvPr/>
        </p:nvSpPr>
        <p:spPr>
          <a:xfrm>
            <a:off x="1325880" y="5440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.NET 11 est une version STS : on l'essaie, nos applis restent sur .NET 10 LTS.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À retenir</a:t>
            </a:r>
            <a:endParaRPr lang="en-US" sz="2800" dirty="0"/>
          </a:p>
        </p:txBody>
      </p:sp>
      <p:sp>
        <p:nvSpPr>
          <p:cNvPr id="3" name="Point 1"/>
          <p:cNvSpPr/>
          <p:nvPr/>
        </p:nvSpPr>
        <p:spPr>
          <a:xfrm>
            <a:off x="54864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4" name="Numéro 1"/>
          <p:cNvSpPr txBox="1"/>
          <p:nvPr/>
        </p:nvSpPr>
        <p:spPr>
          <a:xfrm>
            <a:off x="54864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Point 1 texte"/>
          <p:cNvSpPr txBox="1"/>
          <p:nvPr/>
        </p:nvSpPr>
        <p:spPr>
          <a:xfrm>
            <a:off x="146304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Point d'arrêt conditionnel, point de trace, arrêt sur exception : le débogueur fait plus que s'arrêter.</a:t>
            </a:r>
            <a:endParaRPr lang="en-US" sz="1500" dirty="0"/>
          </a:p>
        </p:txBody>
      </p:sp>
      <p:sp>
        <p:nvSpPr>
          <p:cNvPr id="6" name="Point 2"/>
          <p:cNvSpPr/>
          <p:nvPr/>
        </p:nvSpPr>
        <p:spPr>
          <a:xfrm>
            <a:off x="6172200" y="146304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7" name="Numéro 2"/>
          <p:cNvSpPr txBox="1"/>
          <p:nvPr/>
        </p:nvSpPr>
        <p:spPr>
          <a:xfrm>
            <a:off x="6172200" y="146304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Point 2 texte"/>
          <p:cNvSpPr txBox="1"/>
          <p:nvPr/>
        </p:nvSpPr>
        <p:spPr>
          <a:xfrm>
            <a:off x="7086600" y="141732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stack trace se lit dans l'ordre : type, message, première frame de notre code.</a:t>
            </a:r>
            <a:endParaRPr lang="en-US" sz="1500" dirty="0"/>
          </a:p>
        </p:txBody>
      </p:sp>
      <p:sp>
        <p:nvSpPr>
          <p:cNvPr id="9" name="Point 3"/>
          <p:cNvSpPr/>
          <p:nvPr/>
        </p:nvSpPr>
        <p:spPr>
          <a:xfrm>
            <a:off x="54864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0" name="Numéro 3"/>
          <p:cNvSpPr txBox="1"/>
          <p:nvPr/>
        </p:nvSpPr>
        <p:spPr>
          <a:xfrm>
            <a:off x="54864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Point 3 texte"/>
          <p:cNvSpPr txBox="1"/>
          <p:nvPr/>
        </p:nvSpPr>
        <p:spPr>
          <a:xfrm>
            <a:off x="146304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throw;</a:t>
            </a:r>
            <a:r>
              <a:rPr lang="en-US" sz="1500" dirty="0">
                <a:solidFill>
                  <a:schemeClr val="tx1"/>
                </a:solidFill>
              </a:rPr>
              <a:t> garde la trace ; un 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500" dirty="0">
                <a:solidFill>
                  <a:schemeClr val="tx1"/>
                </a:solidFill>
              </a:rPr>
              <a:t> vide fait disparaître l'erreur.</a:t>
            </a:r>
            <a:endParaRPr lang="en-US" sz="1500" dirty="0"/>
          </a:p>
        </p:txBody>
      </p:sp>
      <p:sp>
        <p:nvSpPr>
          <p:cNvPr id="12" name="Point 4"/>
          <p:cNvSpPr/>
          <p:nvPr/>
        </p:nvSpPr>
        <p:spPr>
          <a:xfrm>
            <a:off x="6172200" y="269748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3" name="Numéro 4"/>
          <p:cNvSpPr txBox="1"/>
          <p:nvPr/>
        </p:nvSpPr>
        <p:spPr>
          <a:xfrm>
            <a:off x="6172200" y="269748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Point 4 texte"/>
          <p:cNvSpPr txBox="1"/>
          <p:nvPr/>
        </p:nvSpPr>
        <p:spPr>
          <a:xfrm>
            <a:off x="7086600" y="265176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Logs par catégorie et par environnement ; des modèles de message, pas des chaînes interpolées.</a:t>
            </a:r>
            <a:endParaRPr lang="en-US" sz="1500" dirty="0"/>
          </a:p>
        </p:txBody>
      </p:sp>
      <p:sp>
        <p:nvSpPr>
          <p:cNvPr id="15" name="Point 5"/>
          <p:cNvSpPr/>
          <p:nvPr/>
        </p:nvSpPr>
        <p:spPr>
          <a:xfrm>
            <a:off x="54864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6" name="Numéro 5"/>
          <p:cNvSpPr txBox="1"/>
          <p:nvPr/>
        </p:nvSpPr>
        <p:spPr>
          <a:xfrm>
            <a:off x="54864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Point 5 texte"/>
          <p:cNvSpPr txBox="1"/>
          <p:nvPr/>
        </p:nvSpPr>
        <p:spPr>
          <a:xfrm>
            <a:off x="146304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OpenTelemetry pour les logs, métriques et traces ; Aspire pour tout voir en local.</a:t>
            </a:r>
            <a:endParaRPr lang="en-US" sz="1500" dirty="0"/>
          </a:p>
        </p:txBody>
      </p:sp>
      <p:sp>
        <p:nvSpPr>
          <p:cNvPr id="18" name="Point 6"/>
          <p:cNvSpPr/>
          <p:nvPr/>
        </p:nvSpPr>
        <p:spPr>
          <a:xfrm>
            <a:off x="6172200" y="3931920"/>
            <a:ext cx="731520" cy="633515"/>
          </a:xfrm>
          <a:custGeom>
            <a:avLst/>
            <a:gdLst/>
            <a:ahLst/>
            <a:cxnLst/>
            <a:rect l="l" t="t" r="r" b="b"/>
            <a:pathLst>
              <a:path w="731520" h="633515">
                <a:moveTo>
                  <a:pt x="0" y="316757"/>
                </a:moveTo>
                <a:lnTo>
                  <a:pt x="182880" y="0"/>
                </a:lnTo>
                <a:lnTo>
                  <a:pt x="548640" y="0"/>
                </a:lnTo>
                <a:lnTo>
                  <a:pt x="731520" y="316757"/>
                </a:lnTo>
                <a:lnTo>
                  <a:pt x="548640" y="633515"/>
                </a:lnTo>
                <a:lnTo>
                  <a:pt x="182880" y="633515"/>
                </a:lnTo>
                <a:close/>
              </a:path>
            </a:pathLst>
          </a:custGeom>
          <a:solidFill>
            <a:srgbClr val="000057"/>
          </a:solidFill>
          <a:ln w="12700">
            <a:solidFill>
              <a:srgbClr val="000057">
                <a:alpha val="0"/>
              </a:srgbClr>
            </a:solidFill>
            <a:prstDash val="solid"/>
          </a:ln>
        </p:spPr>
      </p:sp>
      <p:sp>
        <p:nvSpPr>
          <p:cNvPr id="19" name="Numéro 6"/>
          <p:cNvSpPr txBox="1"/>
          <p:nvPr/>
        </p:nvSpPr>
        <p:spPr>
          <a:xfrm>
            <a:off x="6172200" y="3931920"/>
            <a:ext cx="731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Point 6 texte"/>
          <p:cNvSpPr txBox="1"/>
          <p:nvPr/>
        </p:nvSpPr>
        <p:spPr>
          <a:xfrm>
            <a:off x="7086600" y="3886200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Reproduire, observer, formuler la cause, corriger, verrouiller par un test.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Place au TP-05</a:t>
            </a:r>
            <a:endParaRPr lang="en-US" sz="4400" dirty="0"/>
          </a:p>
        </p:txBody>
      </p:sp>
      <p:pic>
        <p:nvPicPr>
          <p:cNvPr id="3" name="Accroche" descr="À vous de jou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54680"/>
            <a:ext cx="3840480" cy="118241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3434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tp-05-bonus-debogage/enonce.html : l'appli de tickets, retouchée par un collègue. Trois anomalies vous attendent à la fin ; notez leur cause dans ANOMALIES.md.</a:t>
            </a:r>
            <a:endParaRPr lang="en-US" sz="1600" dirty="0"/>
          </a:p>
        </p:txBody>
      </p:sp>
      <p:sp>
        <p:nvSpPr>
          <p:cNvPr id="5" name="Hexagone décoratif"/>
          <p:cNvSpPr/>
          <p:nvPr/>
        </p:nvSpPr>
        <p:spPr>
          <a:xfrm>
            <a:off x="10058400" y="274320"/>
            <a:ext cx="2011680" cy="1742166"/>
          </a:xfrm>
          <a:custGeom>
            <a:avLst/>
            <a:gdLst/>
            <a:ahLst/>
            <a:cxnLst/>
            <a:rect l="l" t="t" r="r" b="b"/>
            <a:pathLst>
              <a:path w="2011680" h="1742166">
                <a:moveTo>
                  <a:pt x="0" y="871083"/>
                </a:moveTo>
                <a:lnTo>
                  <a:pt x="502920" y="0"/>
                </a:lnTo>
                <a:lnTo>
                  <a:pt x="1508760" y="0"/>
                </a:lnTo>
                <a:lnTo>
                  <a:pt x="2011680" y="871083"/>
                </a:lnTo>
                <a:lnTo>
                  <a:pt x="1508760" y="1742166"/>
                </a:lnTo>
                <a:lnTo>
                  <a:pt x="502920" y="1742166"/>
                </a:lnTo>
                <a:close/>
              </a:path>
            </a:pathLst>
          </a:custGeom>
          <a:solidFill>
            <a:srgbClr val="000D78">
              <a:alpha val="90000"/>
            </a:srgbClr>
          </a:solidFill>
          <a:ln w="12700">
            <a:solidFill>
              <a:srgbClr val="000D78">
                <a:alpha val="0"/>
              </a:srgbClr>
            </a:solidFill>
            <a:prstDash val="solid"/>
          </a:ln>
        </p:spPr>
      </p:sp>
      <p:sp>
        <p:nvSpPr>
          <p:cNvPr id="6" name="Hexagone décoratif"/>
          <p:cNvSpPr/>
          <p:nvPr/>
        </p:nvSpPr>
        <p:spPr>
          <a:xfrm>
            <a:off x="11155680" y="2103120"/>
            <a:ext cx="1463040" cy="1267030"/>
          </a:xfrm>
          <a:custGeom>
            <a:avLst/>
            <a:gdLst/>
            <a:ahLst/>
            <a:cxnLst/>
            <a:rect l="l" t="t" r="r" b="b"/>
            <a:pathLst>
              <a:path w="1463040" h="1267030">
                <a:moveTo>
                  <a:pt x="0" y="633515"/>
                </a:moveTo>
                <a:lnTo>
                  <a:pt x="365760" y="0"/>
                </a:lnTo>
                <a:lnTo>
                  <a:pt x="1097280" y="0"/>
                </a:lnTo>
                <a:lnTo>
                  <a:pt x="1463040" y="633515"/>
                </a:lnTo>
                <a:lnTo>
                  <a:pt x="1097280" y="1267030"/>
                </a:lnTo>
                <a:lnTo>
                  <a:pt x="365760" y="1267030"/>
                </a:lnTo>
                <a:close/>
              </a:path>
            </a:pathLst>
          </a:custGeom>
          <a:solidFill>
            <a:srgbClr val="001793">
              <a:alpha val="65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7" name="Hexagone décoratif"/>
          <p:cNvSpPr/>
          <p:nvPr/>
        </p:nvSpPr>
        <p:spPr>
          <a:xfrm>
            <a:off x="9509760" y="4754880"/>
            <a:ext cx="1188720" cy="1029462"/>
          </a:xfrm>
          <a:custGeom>
            <a:avLst/>
            <a:gdLst/>
            <a:ahLst/>
            <a:cxnLst/>
            <a:rect l="l" t="t" r="r" b="b"/>
            <a:pathLst>
              <a:path w="1188720" h="1029462">
                <a:moveTo>
                  <a:pt x="0" y="514731"/>
                </a:moveTo>
                <a:lnTo>
                  <a:pt x="297180" y="0"/>
                </a:lnTo>
                <a:lnTo>
                  <a:pt x="891540" y="0"/>
                </a:lnTo>
                <a:lnTo>
                  <a:pt x="1188720" y="514731"/>
                </a:lnTo>
                <a:lnTo>
                  <a:pt x="891540" y="1029462"/>
                </a:lnTo>
                <a:lnTo>
                  <a:pt x="297180" y="1029462"/>
                </a:lnTo>
                <a:close/>
              </a:path>
            </a:pathLst>
          </a:custGeom>
          <a:solidFill>
            <a:srgbClr val="001793">
              <a:alpha val="50000"/>
            </a:srgbClr>
          </a:solidFill>
          <a:ln w="12700">
            <a:solidFill>
              <a:srgbClr val="001793">
                <a:alpha val="0"/>
              </a:srgbClr>
            </a:solidFill>
            <a:prstDash val="solid"/>
          </a:ln>
        </p:spPr>
      </p:sp>
      <p:sp>
        <p:nvSpPr>
          <p:cNvPr id="8" name="Hexagone jaune"/>
          <p:cNvSpPr/>
          <p:nvPr/>
        </p:nvSpPr>
        <p:spPr>
          <a:xfrm>
            <a:off x="10881360" y="5257800"/>
            <a:ext cx="685800" cy="593920"/>
          </a:xfrm>
          <a:custGeom>
            <a:avLst/>
            <a:gdLst/>
            <a:ahLst/>
            <a:cxnLst/>
            <a:rect l="l" t="t" r="r" b="b"/>
            <a:pathLst>
              <a:path w="685800" h="593920">
                <a:moveTo>
                  <a:pt x="0" y="296960"/>
                </a:moveTo>
                <a:lnTo>
                  <a:pt x="171450" y="0"/>
                </a:lnTo>
                <a:lnTo>
                  <a:pt x="514350" y="0"/>
                </a:lnTo>
                <a:lnTo>
                  <a:pt x="685800" y="296960"/>
                </a:lnTo>
                <a:lnTo>
                  <a:pt x="514350" y="593920"/>
                </a:lnTo>
                <a:lnTo>
                  <a:pt x="171450" y="593920"/>
                </a:lnTo>
                <a:close/>
              </a:path>
            </a:pathLst>
          </a:custGeom>
          <a:solidFill>
            <a:srgbClr val="FFFF00"/>
          </a:solidFill>
          <a:ln w="12700">
            <a:solidFill>
              <a:srgbClr val="FFFF00">
                <a:alpha val="0"/>
              </a:srgbClr>
            </a:solidFill>
            <a:prstDash val="solid"/>
          </a:ln>
        </p:spPr>
      </p:sp>
      <p:pic>
        <p:nvPicPr>
          <p:cNvPr id="9" name="Logo" descr="Logo 3B Stud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48840"/>
            <a:ext cx="2560320" cy="2007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B Studio">
  <a:themeElements>
    <a:clrScheme name="3B Studio">
      <a:dk1>
        <a:srgbClr val="110E2D"/>
      </a:dk1>
      <a:lt1>
        <a:srgbClr val="FFFFFF"/>
      </a:lt1>
      <a:dk2>
        <a:srgbClr val="000057"/>
      </a:dk2>
      <a:lt2>
        <a:srgbClr val="E1EAF1"/>
      </a:lt2>
      <a:accent1>
        <a:srgbClr val="0040FF"/>
      </a:accent1>
      <a:accent2>
        <a:srgbClr val="FFFF00"/>
      </a:accent2>
      <a:accent3>
        <a:srgbClr val="001793"/>
      </a:accent3>
      <a:accent4>
        <a:srgbClr val="000D78"/>
      </a:accent4>
      <a:accent5>
        <a:srgbClr val="00D66B"/>
      </a:accent5>
      <a:accent6>
        <a:srgbClr val="FF3749"/>
      </a:accent6>
      <a:hlink>
        <a:srgbClr val="0040FF"/>
      </a:hlink>
      <a:folHlink>
        <a:srgbClr val="000092"/>
      </a:folHlink>
    </a:clrScheme>
    <a:fontScheme name="3B Studio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Black Blue Bees - 3B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5 · Diagnostiquer une appli .NET, et .NET 11</dc:title>
  <dc:subject>Cours 5 · Diagnostiquer une appli .NET, et .NET 11</dc:subject>
  <dc:creator>3B Studio</dc:creator>
  <cp:lastModifiedBy>3B Studio</cp:lastModifiedBy>
  <cp:revision>1</cp:revision>
  <dcterms:created xsi:type="dcterms:W3CDTF">2026-10-19T08:12:43Z</dcterms:created>
  <dcterms:modified xsi:type="dcterms:W3CDTF">2026-10-19T08:12:43Z</dcterms:modified>
</cp:coreProperties>
</file>