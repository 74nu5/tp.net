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8b6f688d-e385-1b2f-9d7d-986d16c2f73b}">
          <p14:sldIdLst>
            <p14:sldId id="256"/>
            <p14:sldId id="257"/>
          </p14:sldIdLst>
        </p14:section>
        <p14:section name="1. Authentification" id="{9ed31833-4e7d-d9fc-de29-8d8975b9baae}">
          <p14:sldIdLst>
            <p14:sldId id="258"/>
            <p14:sldId id="259"/>
            <p14:sldId id="260"/>
            <p14:sldId id="261"/>
          </p14:sldIdLst>
        </p14:section>
        <p14:section name="2. Dans Blazor" id="{d2f6c704-19ef-52ec-f934-248187860b92}">
          <p14:sldIdLst>
            <p14:sldId id="262"/>
            <p14:sldId id="263"/>
            <p14:sldId id="264"/>
            <p14:sldId id="265"/>
            <p14:sldId id="266"/>
          </p14:sldIdLst>
        </p14:section>
        <p14:section name="3. Partager de l'état" id="{77f7548d-9e3d-c014-a93f-8819da3966d5}">
          <p14:sldIdLst>
            <p14:sldId id="267"/>
            <p14:sldId id="268"/>
            <p14:sldId id="269"/>
            <p14:sldId id="270"/>
          </p14:sldIdLst>
        </p14:section>
        <p14:section name="4. Réutiliser et tester" id="{5f818fcd-eb03-aa0b-030f-e4d31f6caa45}">
          <p14:sldIdLst>
            <p14:sldId id="271"/>
            <p14:sldId id="272"/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cours le plus dense de la semaine : prendre le temps sur authentification contre autorisation, c'est la base de tout le reste.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deux premières parties concernent l'API, les suivantes le front.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401 : je ne sais pas qui tu es. 403 : je sais, et c'est non. Les tests du TP-04 vérifient les deux. ≈ Authentication et GrantedAuthority de Spring Security.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Faire décoder un jeton de user-jwts en direct sur jwt.io : c'est le meilleur moyen de comprendre qu'il n'est pas chiffré.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WebApplication ajoute UseAuthentication et UseAuthorization tout seul quand les services sont enregistrés. dotnet user-jwts create --name alice --role admin, puis curl -H "Authorization: Bearer &lt;jeton&gt;".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Deux mécanismes, deux usages : le cookie convient au navigateur, le jeton aux appels de service à service. Nos applis s'appuient sur un fournisseur d'identité ; le principe ne change pas.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page de connexion est fournie dans le TP. Elle ne redirige que vers une adresse locale après la connexion, pour éviter les redirections ouvertes.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Deux AuthorizeView imbriqués ont tous deux un paramètre context : on renomme l'intérieur avec Context="admin". ≈ Auth.js et useSession en React.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jeton vit dans les user-secrets du front. ≈ un intercepteur Axios ou un ClientHttpRequestInterceptor de Spring.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un store Zustand ou Pinia pour le service, ≈ Context.Provider de React pour la cascade. La cascade convient à un réglage d'affichage (le mode compact), le service à un état métier (les favoris).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InvokeAsync remet l'appel sur le contexte de rendu du composant : l'événement peut venir d'un autre composant. Enregistrer FavoritesState en scoped dans les deux Program.cs, serveur et client.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Avant .NET 10, il fallait manipuler PersistentComponentState à la main. La propriété doit être publique.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Avec la gestion centralisée des versions, retirer l'attribut Version que le modèle met sur le PackageReference : sinon erreur NU1008.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tests du front du TP-03 et du TP-04 sont écrits avec bUnit et WebApplicationFactory. L'exercice 7 demande d'en écrire au moins trois pour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Ces trois points ont été vérifiés par des tests dans le TP-04 : la page de connexion fournie et la déconnexion.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TP-04 est le plus long en code : rappeler que les exercices 4 à 7 ne dépendent pas de l'exercice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Créer les jetons de développement ensemble au début : dotnet user-jwts create --name alice, puis --name admin --role admin.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COUVERTURE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SECTION-image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CLOTURE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UVERTUR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48840"/>
            <a:ext cx="667512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Titre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977640"/>
            <a:ext cx="62179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Sous-titre</a:t>
            </a: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0" y="2514600"/>
            <a:ext cx="6949440" cy="1691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Titre de partie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0" y="4297680"/>
            <a:ext cx="69494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Détail</a:t>
            </a:r>
            <a:endParaRPr lang="en-US" sz="1800" dirty="0"/>
          </a:p>
        </p:txBody>
      </p:sp>
      <p:pic>
        <p:nvPicPr>
          <p:cNvPr id="4" name="Image 0" descr="/tmp/claude-0/-home-user-Tp-Net/172d164e-f28f-581b-a794-ba1e7ff38c50/scratchpad/deck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5989320"/>
            <a:ext cx="685800" cy="53766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241280" y="61722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02920"/>
            <a:ext cx="100584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Titre</a:t>
            </a:r>
            <a:endParaRPr lang="en-US" sz="2800" dirty="0"/>
          </a:p>
        </p:txBody>
      </p:sp>
      <p:pic>
        <p:nvPicPr>
          <p:cNvPr id="3" name="Image 0" descr="/tmp/claude-0/-home-user-Tp-Net/172d164e-f28f-581b-a794-ba1e7ff38c50/scratchpad/deck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320040"/>
            <a:ext cx="777240" cy="60899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Parcours .NET · 3B Studio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TUR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67665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Titre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343400"/>
            <a:ext cx="64008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Détail</a:t>
            </a: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241280" y="61722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slideLayout" Target="../slideLayouts/slideLayout4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rtitre"/>
          <p:cNvSpPr txBox="1"/>
          <p:nvPr/>
        </p:nvSpPr>
        <p:spPr>
          <a:xfrm>
            <a:off x="731520" y="1600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2"/>
                </a:solidFill>
              </a:rPr>
              <a:t>COURS 4 · JEUDI 22 OCTOBRE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148840"/>
            <a:ext cx="6675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Sécurité, état et réutilisation</a:t>
            </a:r>
            <a:endParaRPr lang="en-US" sz="48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977640"/>
            <a:ext cx="6217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Qui est l'utilisateur, ce qu'il a le droit de faire, et comment des composants partagent ce qu'ils savent.</a:t>
            </a:r>
            <a:endParaRPr lang="en-US" sz="1800" dirty="0"/>
          </a:p>
        </p:txBody>
      </p:sp>
      <p:sp>
        <p:nvSpPr>
          <p:cNvPr id="5" name="Hexagone décoratif"/>
          <p:cNvSpPr/>
          <p:nvPr/>
        </p:nvSpPr>
        <p:spPr>
          <a:xfrm>
            <a:off x="7863840" y="914400"/>
            <a:ext cx="1828800" cy="1583787"/>
          </a:xfrm>
          <a:custGeom>
            <a:avLst/>
            <a:gdLst/>
            <a:ahLst/>
            <a:cxnLst/>
            <a:rect l="l" t="t" r="r" b="b"/>
            <a:pathLst>
              <a:path w="1828800" h="1583787">
                <a:moveTo>
                  <a:pt x="0" y="791894"/>
                </a:moveTo>
                <a:lnTo>
                  <a:pt x="457200" y="0"/>
                </a:lnTo>
                <a:lnTo>
                  <a:pt x="1371600" y="0"/>
                </a:lnTo>
                <a:lnTo>
                  <a:pt x="1828800" y="791894"/>
                </a:lnTo>
                <a:lnTo>
                  <a:pt x="1371600" y="1583787"/>
                </a:lnTo>
                <a:lnTo>
                  <a:pt x="457200" y="1583787"/>
                </a:lnTo>
                <a:close/>
              </a:path>
            </a:pathLst>
          </a:custGeom>
          <a:solidFill>
            <a:srgbClr val="000D78">
              <a:alpha val="85000"/>
            </a:srgbClr>
          </a:solidFill>
          <a:ln w="12700">
            <a:solidFill>
              <a:srgbClr val="000D78">
                <a:alpha val="0"/>
              </a:srgbClr>
            </a:solidFill>
            <a:prstDash val="solid"/>
          </a:ln>
        </p:spPr>
      </p:sp>
      <p:sp>
        <p:nvSpPr>
          <p:cNvPr id="6" name="Hexagone décoratif"/>
          <p:cNvSpPr/>
          <p:nvPr/>
        </p:nvSpPr>
        <p:spPr>
          <a:xfrm>
            <a:off x="10424160" y="4526280"/>
            <a:ext cx="1371600" cy="1187840"/>
          </a:xfrm>
          <a:custGeom>
            <a:avLst/>
            <a:gdLst/>
            <a:ahLst/>
            <a:cxnLst/>
            <a:rect l="l" t="t" r="r" b="b"/>
            <a:pathLst>
              <a:path w="1371600" h="1187840">
                <a:moveTo>
                  <a:pt x="0" y="593920"/>
                </a:moveTo>
                <a:lnTo>
                  <a:pt x="342900" y="0"/>
                </a:lnTo>
                <a:lnTo>
                  <a:pt x="1028700" y="0"/>
                </a:lnTo>
                <a:lnTo>
                  <a:pt x="1371600" y="593920"/>
                </a:lnTo>
                <a:lnTo>
                  <a:pt x="1028700" y="1187840"/>
                </a:lnTo>
                <a:lnTo>
                  <a:pt x="342900" y="1187840"/>
                </a:lnTo>
                <a:close/>
              </a:path>
            </a:pathLst>
          </a:custGeom>
          <a:solidFill>
            <a:srgbClr val="001793">
              <a:alpha val="60000"/>
            </a:srgbClr>
          </a:solidFill>
          <a:ln w="12700">
            <a:solidFill>
              <a:srgbClr val="001793">
                <a:alpha val="0"/>
              </a:srgbClr>
            </a:solidFill>
            <a:prstDash val="solid"/>
          </a:ln>
        </p:spPr>
      </p:sp>
      <p:sp>
        <p:nvSpPr>
          <p:cNvPr id="7" name="Hexagone jaune"/>
          <p:cNvSpPr/>
          <p:nvPr/>
        </p:nvSpPr>
        <p:spPr>
          <a:xfrm>
            <a:off x="7635240" y="5029200"/>
            <a:ext cx="731520" cy="633515"/>
          </a:xfrm>
          <a:custGeom>
            <a:avLst/>
            <a:gdLst/>
            <a:ahLst/>
            <a:cxnLst/>
            <a:rect l="l" t="t" r="r" b="b"/>
            <a:pathLst>
              <a:path w="731520" h="633515">
                <a:moveTo>
                  <a:pt x="0" y="316757"/>
                </a:moveTo>
                <a:lnTo>
                  <a:pt x="182880" y="0"/>
                </a:lnTo>
                <a:lnTo>
                  <a:pt x="548640" y="0"/>
                </a:lnTo>
                <a:lnTo>
                  <a:pt x="731520" y="316757"/>
                </a:lnTo>
                <a:lnTo>
                  <a:pt x="548640" y="633515"/>
                </a:lnTo>
                <a:lnTo>
                  <a:pt x="182880" y="633515"/>
                </a:lnTo>
                <a:close/>
              </a:path>
            </a:pathLst>
          </a:custGeom>
          <a:solidFill>
            <a:srgbClr val="FFFF00"/>
          </a:solidFill>
          <a:ln w="12700">
            <a:solidFill>
              <a:srgbClr val="FFFF00">
                <a:alpha val="0"/>
              </a:srgbClr>
            </a:solidFill>
            <a:prstDash val="solid"/>
          </a:ln>
        </p:spPr>
      </p:sp>
      <p:sp>
        <p:nvSpPr>
          <p:cNvPr id="8" name="Grand hexagone"/>
          <p:cNvSpPr/>
          <p:nvPr/>
        </p:nvSpPr>
        <p:spPr>
          <a:xfrm>
            <a:off x="8275320" y="1965960"/>
            <a:ext cx="3108960" cy="2692438"/>
          </a:xfrm>
          <a:custGeom>
            <a:avLst/>
            <a:gdLst/>
            <a:ahLst/>
            <a:cxnLst/>
            <a:rect l="l" t="t" r="r" b="b"/>
            <a:pathLst>
              <a:path w="3108960" h="2692438">
                <a:moveTo>
                  <a:pt x="0" y="1346219"/>
                </a:moveTo>
                <a:lnTo>
                  <a:pt x="777240" y="0"/>
                </a:lnTo>
                <a:lnTo>
                  <a:pt x="2331720" y="0"/>
                </a:lnTo>
                <a:lnTo>
                  <a:pt x="3108960" y="1346219"/>
                </a:lnTo>
                <a:lnTo>
                  <a:pt x="2331720" y="2692438"/>
                </a:lnTo>
                <a:lnTo>
                  <a:pt x="777240" y="2692438"/>
                </a:lnTo>
                <a:close/>
              </a:path>
            </a:pathLst>
          </a:custGeom>
          <a:solidFill>
            <a:srgbClr val="FFFF00"/>
          </a:solidFill>
          <a:ln w="12700">
            <a:solidFill>
              <a:srgbClr val="FFFF00">
                <a:alpha val="0"/>
              </a:srgbClr>
            </a:solidFill>
            <a:prstDash val="solid"/>
          </a:ln>
        </p:spPr>
      </p:sp>
      <p:sp>
        <p:nvSpPr>
          <p:cNvPr id="9" name="Numéro du cours"/>
          <p:cNvSpPr txBox="1"/>
          <p:nvPr/>
        </p:nvSpPr>
        <p:spPr>
          <a:xfrm>
            <a:off x="8275320" y="1965960"/>
            <a:ext cx="3108960" cy="2688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chemeClr val="tx2"/>
                </a:solidFill>
              </a:rPr>
              <a:t>4</a:t>
            </a:r>
            <a:endParaRPr lang="en-US" sz="8000" dirty="0"/>
          </a:p>
        </p:txBody>
      </p:sp>
      <p:pic>
        <p:nvPicPr>
          <p:cNvPr id="10" name="Logo" descr="Logo 3B Studi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349240"/>
            <a:ext cx="822960" cy="64520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029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Au programme</a:t>
            </a:r>
            <a:endParaRPr lang="en-US" sz="2800" dirty="0"/>
          </a:p>
        </p:txBody>
      </p:sp>
      <p:sp>
        <p:nvSpPr>
          <p:cNvPr id="3" name="Pastille 1"/>
          <p:cNvSpPr/>
          <p:nvPr/>
        </p:nvSpPr>
        <p:spPr>
          <a:xfrm>
            <a:off x="548640" y="1417320"/>
            <a:ext cx="777240" cy="673110"/>
          </a:xfrm>
          <a:custGeom>
            <a:avLst/>
            <a:gdLst/>
            <a:ahLst/>
            <a:cxnLst/>
            <a:rect l="l" t="t" r="r" b="b"/>
            <a:pathLst>
              <a:path w="777240" h="673110">
                <a:moveTo>
                  <a:pt x="0" y="336555"/>
                </a:moveTo>
                <a:lnTo>
                  <a:pt x="194310" y="0"/>
                </a:lnTo>
                <a:lnTo>
                  <a:pt x="582930" y="0"/>
                </a:lnTo>
                <a:lnTo>
                  <a:pt x="777240" y="336555"/>
                </a:lnTo>
                <a:lnTo>
                  <a:pt x="582930" y="673110"/>
                </a:lnTo>
                <a:lnTo>
                  <a:pt x="194310" y="673110"/>
                </a:lnTo>
                <a:close/>
              </a:path>
            </a:pathLst>
          </a:custGeom>
          <a:solidFill>
            <a:srgbClr val="000057"/>
          </a:solidFill>
          <a:ln w="12700">
            <a:solidFill>
              <a:srgbClr val="000057">
                <a:alpha val="0"/>
              </a:srgbClr>
            </a:solidFill>
            <a:prstDash val="solid"/>
          </a:ln>
        </p:spPr>
      </p:sp>
      <p:pic>
        <p:nvPicPr>
          <p:cNvPr id="4" name="Icône 1" descr="Authentif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572768"/>
            <a:ext cx="356616" cy="356616"/>
          </a:xfrm>
          <a:prstGeom prst="rect">
            <a:avLst/>
          </a:prstGeom>
        </p:spPr>
      </p:pic>
      <p:sp>
        <p:nvSpPr>
          <p:cNvPr id="5" name="Partie 1"/>
          <p:cNvSpPr txBox="1"/>
          <p:nvPr/>
        </p:nvSpPr>
        <p:spPr>
          <a:xfrm>
            <a:off x="1554480" y="143560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1. Authentification</a:t>
            </a:r>
            <a:endParaRPr lang="en-US" sz="1800" dirty="0"/>
          </a:p>
        </p:txBody>
      </p:sp>
      <p:sp>
        <p:nvSpPr>
          <p:cNvPr id="6" name="Contenu 1"/>
          <p:cNvSpPr txBox="1"/>
          <p:nvPr/>
        </p:nvSpPr>
        <p:spPr>
          <a:xfrm>
            <a:off x="5852160" y="1435608"/>
            <a:ext cx="5806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claims, schémas, jetons JWT</a:t>
            </a:r>
            <a:endParaRPr lang="en-US" sz="1500" dirty="0"/>
          </a:p>
        </p:txBody>
      </p:sp>
      <p:sp>
        <p:nvSpPr>
          <p:cNvPr id="7" name="Pastille 2"/>
          <p:cNvSpPr/>
          <p:nvPr/>
        </p:nvSpPr>
        <p:spPr>
          <a:xfrm>
            <a:off x="548640" y="2179320"/>
            <a:ext cx="777240" cy="673110"/>
          </a:xfrm>
          <a:custGeom>
            <a:avLst/>
            <a:gdLst/>
            <a:ahLst/>
            <a:cxnLst/>
            <a:rect l="l" t="t" r="r" b="b"/>
            <a:pathLst>
              <a:path w="777240" h="673110">
                <a:moveTo>
                  <a:pt x="0" y="336555"/>
                </a:moveTo>
                <a:lnTo>
                  <a:pt x="194310" y="0"/>
                </a:lnTo>
                <a:lnTo>
                  <a:pt x="582930" y="0"/>
                </a:lnTo>
                <a:lnTo>
                  <a:pt x="777240" y="336555"/>
                </a:lnTo>
                <a:lnTo>
                  <a:pt x="582930" y="673110"/>
                </a:lnTo>
                <a:lnTo>
                  <a:pt x="194310" y="673110"/>
                </a:lnTo>
                <a:close/>
              </a:path>
            </a:pathLst>
          </a:custGeom>
          <a:solidFill>
            <a:srgbClr val="0040FF"/>
          </a:solidFill>
          <a:ln w="12700">
            <a:solidFill>
              <a:srgbClr val="0040FF">
                <a:alpha val="0"/>
              </a:srgbClr>
            </a:solidFill>
            <a:prstDash val="solid"/>
          </a:ln>
        </p:spPr>
      </p:sp>
      <p:pic>
        <p:nvPicPr>
          <p:cNvPr id="8" name="Icône 2" descr="Autorisa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334768"/>
            <a:ext cx="356616" cy="356616"/>
          </a:xfrm>
          <a:prstGeom prst="rect">
            <a:avLst/>
          </a:prstGeom>
        </p:spPr>
      </p:pic>
      <p:sp>
        <p:nvSpPr>
          <p:cNvPr id="9" name="Partie 2"/>
          <p:cNvSpPr txBox="1"/>
          <p:nvPr/>
        </p:nvSpPr>
        <p:spPr>
          <a:xfrm>
            <a:off x="1554480" y="219760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2. Autorisation</a:t>
            </a:r>
            <a:endParaRPr lang="en-US" sz="1800" dirty="0"/>
          </a:p>
        </p:txBody>
      </p:sp>
      <p:sp>
        <p:nvSpPr>
          <p:cNvPr id="10" name="Contenu 2"/>
          <p:cNvSpPr txBox="1"/>
          <p:nvPr/>
        </p:nvSpPr>
        <p:spPr>
          <a:xfrm>
            <a:off x="5852160" y="2197608"/>
            <a:ext cx="5806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routes protégées, rôles, policies, 401 et 403</a:t>
            </a:r>
            <a:endParaRPr lang="en-US" sz="1500" dirty="0"/>
          </a:p>
        </p:txBody>
      </p:sp>
      <p:sp>
        <p:nvSpPr>
          <p:cNvPr id="11" name="Pastille 3"/>
          <p:cNvSpPr/>
          <p:nvPr/>
        </p:nvSpPr>
        <p:spPr>
          <a:xfrm>
            <a:off x="548640" y="2941320"/>
            <a:ext cx="777240" cy="673110"/>
          </a:xfrm>
          <a:custGeom>
            <a:avLst/>
            <a:gdLst/>
            <a:ahLst/>
            <a:cxnLst/>
            <a:rect l="l" t="t" r="r" b="b"/>
            <a:pathLst>
              <a:path w="777240" h="673110">
                <a:moveTo>
                  <a:pt x="0" y="336555"/>
                </a:moveTo>
                <a:lnTo>
                  <a:pt x="194310" y="0"/>
                </a:lnTo>
                <a:lnTo>
                  <a:pt x="582930" y="0"/>
                </a:lnTo>
                <a:lnTo>
                  <a:pt x="777240" y="336555"/>
                </a:lnTo>
                <a:lnTo>
                  <a:pt x="582930" y="673110"/>
                </a:lnTo>
                <a:lnTo>
                  <a:pt x="194310" y="673110"/>
                </a:lnTo>
                <a:close/>
              </a:path>
            </a:pathLst>
          </a:custGeom>
          <a:solidFill>
            <a:srgbClr val="000057"/>
          </a:solidFill>
          <a:ln w="12700">
            <a:solidFill>
              <a:srgbClr val="000057">
                <a:alpha val="0"/>
              </a:srgbClr>
            </a:solidFill>
            <a:prstDash val="solid"/>
          </a:ln>
        </p:spPr>
      </p:sp>
      <p:pic>
        <p:nvPicPr>
          <p:cNvPr id="12" name="Icône 3" descr="Dans Blazo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3096768"/>
            <a:ext cx="356616" cy="356616"/>
          </a:xfrm>
          <a:prstGeom prst="rect">
            <a:avLst/>
          </a:prstGeom>
        </p:spPr>
      </p:pic>
      <p:sp>
        <p:nvSpPr>
          <p:cNvPr id="13" name="Partie 3"/>
          <p:cNvSpPr txBox="1"/>
          <p:nvPr/>
        </p:nvSpPr>
        <p:spPr>
          <a:xfrm>
            <a:off x="1554480" y="295960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3. Dans Blazor</a:t>
            </a:r>
            <a:endParaRPr lang="en-US" sz="1800" dirty="0"/>
          </a:p>
        </p:txBody>
      </p:sp>
      <p:sp>
        <p:nvSpPr>
          <p:cNvPr id="14" name="Contenu 3"/>
          <p:cNvSpPr txBox="1"/>
          <p:nvPr/>
        </p:nvSpPr>
        <p:spPr>
          <a:xfrm>
            <a:off x="5852160" y="2959608"/>
            <a:ext cx="5806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cookie, </a:t>
            </a: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AuthorizeView</a:t>
            </a:r>
            <a:r>
              <a:rPr lang="en-US" sz="1500" dirty="0">
                <a:solidFill>
                  <a:schemeClr val="tx1"/>
                </a:solidFill>
              </a:rPr>
              <a:t>, </a:t>
            </a: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[Authorize]</a:t>
            </a:r>
            <a:r>
              <a:rPr lang="en-US" sz="1500" dirty="0">
                <a:solidFill>
                  <a:schemeClr val="tx1"/>
                </a:solidFill>
              </a:rPr>
              <a:t>, appel de l'API</a:t>
            </a:r>
            <a:endParaRPr lang="en-US" sz="1500" dirty="0"/>
          </a:p>
        </p:txBody>
      </p:sp>
      <p:sp>
        <p:nvSpPr>
          <p:cNvPr id="15" name="Pastille 4"/>
          <p:cNvSpPr/>
          <p:nvPr/>
        </p:nvSpPr>
        <p:spPr>
          <a:xfrm>
            <a:off x="548640" y="3703320"/>
            <a:ext cx="777240" cy="673110"/>
          </a:xfrm>
          <a:custGeom>
            <a:avLst/>
            <a:gdLst/>
            <a:ahLst/>
            <a:cxnLst/>
            <a:rect l="l" t="t" r="r" b="b"/>
            <a:pathLst>
              <a:path w="777240" h="673110">
                <a:moveTo>
                  <a:pt x="0" y="336555"/>
                </a:moveTo>
                <a:lnTo>
                  <a:pt x="194310" y="0"/>
                </a:lnTo>
                <a:lnTo>
                  <a:pt x="582930" y="0"/>
                </a:lnTo>
                <a:lnTo>
                  <a:pt x="777240" y="336555"/>
                </a:lnTo>
                <a:lnTo>
                  <a:pt x="582930" y="673110"/>
                </a:lnTo>
                <a:lnTo>
                  <a:pt x="194310" y="673110"/>
                </a:lnTo>
                <a:close/>
              </a:path>
            </a:pathLst>
          </a:custGeom>
          <a:solidFill>
            <a:srgbClr val="0040FF"/>
          </a:solidFill>
          <a:ln w="12700">
            <a:solidFill>
              <a:srgbClr val="0040FF">
                <a:alpha val="0"/>
              </a:srgbClr>
            </a:solidFill>
            <a:prstDash val="solid"/>
          </a:ln>
        </p:spPr>
      </p:sp>
      <p:pic>
        <p:nvPicPr>
          <p:cNvPr id="16" name="Icône 4" descr="Partager de l'éta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3858768"/>
            <a:ext cx="356616" cy="356616"/>
          </a:xfrm>
          <a:prstGeom prst="rect">
            <a:avLst/>
          </a:prstGeom>
        </p:spPr>
      </p:pic>
      <p:sp>
        <p:nvSpPr>
          <p:cNvPr id="17" name="Partie 4"/>
          <p:cNvSpPr txBox="1"/>
          <p:nvPr/>
        </p:nvSpPr>
        <p:spPr>
          <a:xfrm>
            <a:off x="1554480" y="372160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4. Partager de l'état</a:t>
            </a:r>
            <a:endParaRPr lang="en-US" sz="1800" dirty="0"/>
          </a:p>
        </p:txBody>
      </p:sp>
      <p:sp>
        <p:nvSpPr>
          <p:cNvPr id="18" name="Contenu 4"/>
          <p:cNvSpPr txBox="1"/>
          <p:nvPr/>
        </p:nvSpPr>
        <p:spPr>
          <a:xfrm>
            <a:off x="5852160" y="3721608"/>
            <a:ext cx="5806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service scoped, valeur en cascade, notifications</a:t>
            </a:r>
            <a:endParaRPr lang="en-US" sz="1500" dirty="0"/>
          </a:p>
        </p:txBody>
      </p:sp>
      <p:sp>
        <p:nvSpPr>
          <p:cNvPr id="19" name="Pastille 5"/>
          <p:cNvSpPr/>
          <p:nvPr/>
        </p:nvSpPr>
        <p:spPr>
          <a:xfrm>
            <a:off x="548640" y="4465320"/>
            <a:ext cx="777240" cy="673110"/>
          </a:xfrm>
          <a:custGeom>
            <a:avLst/>
            <a:gdLst/>
            <a:ahLst/>
            <a:cxnLst/>
            <a:rect l="l" t="t" r="r" b="b"/>
            <a:pathLst>
              <a:path w="777240" h="673110">
                <a:moveTo>
                  <a:pt x="0" y="336555"/>
                </a:moveTo>
                <a:lnTo>
                  <a:pt x="194310" y="0"/>
                </a:lnTo>
                <a:lnTo>
                  <a:pt x="582930" y="0"/>
                </a:lnTo>
                <a:lnTo>
                  <a:pt x="777240" y="336555"/>
                </a:lnTo>
                <a:lnTo>
                  <a:pt x="582930" y="673110"/>
                </a:lnTo>
                <a:lnTo>
                  <a:pt x="194310" y="673110"/>
                </a:lnTo>
                <a:close/>
              </a:path>
            </a:pathLst>
          </a:custGeom>
          <a:solidFill>
            <a:srgbClr val="000057"/>
          </a:solidFill>
          <a:ln w="12700">
            <a:solidFill>
              <a:srgbClr val="000057">
                <a:alpha val="0"/>
              </a:srgbClr>
            </a:solidFill>
            <a:prstDash val="solid"/>
          </a:ln>
        </p:spPr>
      </p:sp>
      <p:pic>
        <p:nvPicPr>
          <p:cNvPr id="20" name="Icône 5" descr="Le prérendu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" y="4620768"/>
            <a:ext cx="356616" cy="356616"/>
          </a:xfrm>
          <a:prstGeom prst="rect">
            <a:avLst/>
          </a:prstGeom>
        </p:spPr>
      </p:pic>
      <p:sp>
        <p:nvSpPr>
          <p:cNvPr id="21" name="Partie 5"/>
          <p:cNvSpPr txBox="1"/>
          <p:nvPr/>
        </p:nvSpPr>
        <p:spPr>
          <a:xfrm>
            <a:off x="1554480" y="448360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5. Le prérendu</a:t>
            </a:r>
            <a:endParaRPr lang="en-US" sz="1800" dirty="0"/>
          </a:p>
        </p:txBody>
      </p:sp>
      <p:sp>
        <p:nvSpPr>
          <p:cNvPr id="22" name="Contenu 5"/>
          <p:cNvSpPr txBox="1"/>
          <p:nvPr/>
        </p:nvSpPr>
        <p:spPr>
          <a:xfrm>
            <a:off x="5852160" y="4483608"/>
            <a:ext cx="5806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[PersistentState]</a:t>
            </a:r>
            <a:endParaRPr lang="en-US" sz="1500" dirty="0"/>
          </a:p>
        </p:txBody>
      </p:sp>
      <p:sp>
        <p:nvSpPr>
          <p:cNvPr id="23" name="Pastille 6"/>
          <p:cNvSpPr/>
          <p:nvPr/>
        </p:nvSpPr>
        <p:spPr>
          <a:xfrm>
            <a:off x="548640" y="5227320"/>
            <a:ext cx="777240" cy="673110"/>
          </a:xfrm>
          <a:custGeom>
            <a:avLst/>
            <a:gdLst/>
            <a:ahLst/>
            <a:cxnLst/>
            <a:rect l="l" t="t" r="r" b="b"/>
            <a:pathLst>
              <a:path w="777240" h="673110">
                <a:moveTo>
                  <a:pt x="0" y="336555"/>
                </a:moveTo>
                <a:lnTo>
                  <a:pt x="194310" y="0"/>
                </a:lnTo>
                <a:lnTo>
                  <a:pt x="582930" y="0"/>
                </a:lnTo>
                <a:lnTo>
                  <a:pt x="777240" y="336555"/>
                </a:lnTo>
                <a:lnTo>
                  <a:pt x="582930" y="673110"/>
                </a:lnTo>
                <a:lnTo>
                  <a:pt x="194310" y="673110"/>
                </a:lnTo>
                <a:close/>
              </a:path>
            </a:pathLst>
          </a:custGeom>
          <a:solidFill>
            <a:srgbClr val="0040FF"/>
          </a:solidFill>
          <a:ln w="12700">
            <a:solidFill>
              <a:srgbClr val="0040FF">
                <a:alpha val="0"/>
              </a:srgbClr>
            </a:solidFill>
            <a:prstDash val="solid"/>
          </a:ln>
        </p:spPr>
      </p:sp>
      <p:pic>
        <p:nvPicPr>
          <p:cNvPr id="24" name="Icône 6" descr="Réutiliser et teste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952" y="5382768"/>
            <a:ext cx="356616" cy="356616"/>
          </a:xfrm>
          <a:prstGeom prst="rect">
            <a:avLst/>
          </a:prstGeom>
        </p:spPr>
      </p:pic>
      <p:sp>
        <p:nvSpPr>
          <p:cNvPr id="25" name="Partie 6"/>
          <p:cNvSpPr txBox="1"/>
          <p:nvPr/>
        </p:nvSpPr>
        <p:spPr>
          <a:xfrm>
            <a:off x="1554480" y="524560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6. Réutiliser et tester</a:t>
            </a:r>
            <a:endParaRPr lang="en-US" sz="1800" dirty="0"/>
          </a:p>
        </p:txBody>
      </p:sp>
      <p:sp>
        <p:nvSpPr>
          <p:cNvPr id="26" name="Contenu 6"/>
          <p:cNvSpPr txBox="1"/>
          <p:nvPr/>
        </p:nvSpPr>
        <p:spPr>
          <a:xfrm>
            <a:off x="5852160" y="5245608"/>
            <a:ext cx="5806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Razor Class Library, bUnit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nd hexagone"/>
          <p:cNvSpPr/>
          <p:nvPr/>
        </p:nvSpPr>
        <p:spPr>
          <a:xfrm>
            <a:off x="822960" y="1965960"/>
            <a:ext cx="3108960" cy="2692438"/>
          </a:xfrm>
          <a:custGeom>
            <a:avLst/>
            <a:gdLst/>
            <a:ahLst/>
            <a:cxnLst/>
            <a:rect l="l" t="t" r="r" b="b"/>
            <a:pathLst>
              <a:path w="3108960" h="2692438">
                <a:moveTo>
                  <a:pt x="0" y="1346219"/>
                </a:moveTo>
                <a:lnTo>
                  <a:pt x="777240" y="0"/>
                </a:lnTo>
                <a:lnTo>
                  <a:pt x="2331720" y="0"/>
                </a:lnTo>
                <a:lnTo>
                  <a:pt x="3108960" y="1346219"/>
                </a:lnTo>
                <a:lnTo>
                  <a:pt x="2331720" y="2692438"/>
                </a:lnTo>
                <a:lnTo>
                  <a:pt x="777240" y="2692438"/>
                </a:lnTo>
                <a:close/>
              </a:path>
            </a:pathLst>
          </a:custGeom>
          <a:solidFill>
            <a:srgbClr val="FFFF00"/>
          </a:solidFill>
          <a:ln w="12700">
            <a:solidFill>
              <a:srgbClr val="FFFF00">
                <a:alpha val="0"/>
              </a:srgbClr>
            </a:solidFill>
            <a:prstDash val="solid"/>
          </a:ln>
        </p:spPr>
      </p:sp>
      <p:sp>
        <p:nvSpPr>
          <p:cNvPr id="3" name="Numéro de partie"/>
          <p:cNvSpPr txBox="1"/>
          <p:nvPr/>
        </p:nvSpPr>
        <p:spPr>
          <a:xfrm>
            <a:off x="822960" y="1965960"/>
            <a:ext cx="3108960" cy="2688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chemeClr val="tx2"/>
                </a:solidFill>
              </a:rPr>
              <a:t>1</a:t>
            </a:r>
            <a:endParaRPr lang="en-US" sz="7200" dirty="0"/>
          </a:p>
        </p:txBody>
      </p:sp>
      <p:sp>
        <p:nvSpPr>
          <p:cNvPr id="4" name="Hexagone décoratif"/>
          <p:cNvSpPr/>
          <p:nvPr/>
        </p:nvSpPr>
        <p:spPr>
          <a:xfrm>
            <a:off x="3429000" y="1234440"/>
            <a:ext cx="914400" cy="791894"/>
          </a:xfrm>
          <a:custGeom>
            <a:avLst/>
            <a:gdLst/>
            <a:ahLst/>
            <a:cxnLst/>
            <a:rect l="l" t="t" r="r" b="b"/>
            <a:pathLst>
              <a:path w="914400" h="791894">
                <a:moveTo>
                  <a:pt x="0" y="395947"/>
                </a:moveTo>
                <a:lnTo>
                  <a:pt x="228600" y="0"/>
                </a:lnTo>
                <a:lnTo>
                  <a:pt x="685800" y="0"/>
                </a:lnTo>
                <a:lnTo>
                  <a:pt x="914400" y="395947"/>
                </a:lnTo>
                <a:lnTo>
                  <a:pt x="685800" y="791894"/>
                </a:lnTo>
                <a:lnTo>
                  <a:pt x="228600" y="791894"/>
                </a:lnTo>
                <a:close/>
              </a:path>
            </a:pathLst>
          </a:custGeom>
          <a:solidFill>
            <a:srgbClr val="001793">
              <a:alpha val="70000"/>
            </a:srgbClr>
          </a:solidFill>
          <a:ln w="12700">
            <a:solidFill>
              <a:srgbClr val="001793">
                <a:alpha val="0"/>
              </a:srgbClr>
            </a:solidFill>
            <a:prstDash val="solid"/>
          </a:ln>
        </p:spPr>
      </p:sp>
      <p:sp>
        <p:nvSpPr>
          <p:cNvPr id="5" name="Hexagone décoratif"/>
          <p:cNvSpPr/>
          <p:nvPr/>
        </p:nvSpPr>
        <p:spPr>
          <a:xfrm>
            <a:off x="320040" y="4526280"/>
            <a:ext cx="1097280" cy="950272"/>
          </a:xfrm>
          <a:custGeom>
            <a:avLst/>
            <a:gdLst/>
            <a:ahLst/>
            <a:cxnLst/>
            <a:rect l="l" t="t" r="r" b="b"/>
            <a:pathLst>
              <a:path w="1097280" h="950272">
                <a:moveTo>
                  <a:pt x="0" y="475136"/>
                </a:moveTo>
                <a:lnTo>
                  <a:pt x="274320" y="0"/>
                </a:lnTo>
                <a:lnTo>
                  <a:pt x="822960" y="0"/>
                </a:lnTo>
                <a:lnTo>
                  <a:pt x="1097280" y="475136"/>
                </a:lnTo>
                <a:lnTo>
                  <a:pt x="822960" y="950272"/>
                </a:lnTo>
                <a:lnTo>
                  <a:pt x="274320" y="950272"/>
                </a:lnTo>
                <a:close/>
              </a:path>
            </a:pathLst>
          </a:custGeom>
          <a:solidFill>
            <a:srgbClr val="000D78">
              <a:alpha val="90000"/>
            </a:srgbClr>
          </a:solidFill>
          <a:ln w="12700">
            <a:solidFill>
              <a:srgbClr val="000D78">
                <a:alpha val="0"/>
              </a:srgbClr>
            </a:solidFill>
            <a:prstDash val="solid"/>
          </a:ln>
        </p:spPr>
      </p:sp>
      <p:sp>
        <p:nvSpPr>
          <p:cNvPr id="6" name="Hexagone décoratif"/>
          <p:cNvSpPr/>
          <p:nvPr/>
        </p:nvSpPr>
        <p:spPr>
          <a:xfrm>
            <a:off x="10607040" y="640080"/>
            <a:ext cx="1280160" cy="1108651"/>
          </a:xfrm>
          <a:custGeom>
            <a:avLst/>
            <a:gdLst/>
            <a:ahLst/>
            <a:cxnLst/>
            <a:rect l="l" t="t" r="r" b="b"/>
            <a:pathLst>
              <a:path w="1280160" h="1108651">
                <a:moveTo>
                  <a:pt x="0" y="554326"/>
                </a:moveTo>
                <a:lnTo>
                  <a:pt x="320040" y="0"/>
                </a:lnTo>
                <a:lnTo>
                  <a:pt x="960120" y="0"/>
                </a:lnTo>
                <a:lnTo>
                  <a:pt x="1280160" y="554326"/>
                </a:lnTo>
                <a:lnTo>
                  <a:pt x="960120" y="1108651"/>
                </a:lnTo>
                <a:lnTo>
                  <a:pt x="320040" y="1108651"/>
                </a:lnTo>
                <a:close/>
              </a:path>
            </a:pathLst>
          </a:custGeom>
          <a:solidFill>
            <a:srgbClr val="001793">
              <a:alpha val="55000"/>
            </a:srgbClr>
          </a:solidFill>
          <a:ln w="12700">
            <a:solidFill>
              <a:srgbClr val="001793">
                <a:alpha val="0"/>
              </a:srgbClr>
            </a:solidFill>
            <a:prstDash val="solid"/>
          </a:ln>
        </p:spPr>
      </p:sp>
      <p:sp>
        <p:nvSpPr>
          <p:cNvPr id="7" name="Surtitre"/>
          <p:cNvSpPr txBox="1"/>
          <p:nvPr/>
        </p:nvSpPr>
        <p:spPr>
          <a:xfrm>
            <a:off x="4572000" y="20574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chemeClr val="accent2"/>
                </a:solidFill>
              </a:rPr>
              <a:t>PARTIE 1</a:t>
            </a:r>
            <a:endParaRPr lang="en-US" sz="1600" dirty="0"/>
          </a:p>
        </p:txBody>
      </p:sp>
      <p:sp>
        <p:nvSpPr>
          <p:cNvPr id="8" name="Text 0"/>
          <p:cNvSpPr/>
          <p:nvPr>
            <p:ph idx="100" type="title" hasCustomPrompt="1"/>
          </p:nvPr>
        </p:nvSpPr>
        <p:spPr>
          <a:xfrm>
            <a:off x="4572000" y="2514600"/>
            <a:ext cx="6949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Authentification et autorisation</a:t>
            </a:r>
            <a:endParaRPr lang="en-US" sz="3400" dirty="0"/>
          </a:p>
        </p:txBody>
      </p:sp>
      <p:sp>
        <p:nvSpPr>
          <p:cNvPr id="9" name="Text 0"/>
          <p:cNvSpPr/>
          <p:nvPr>
            <p:ph idx="101" type="body" hasCustomPrompt="1"/>
          </p:nvPr>
        </p:nvSpPr>
        <p:spPr>
          <a:xfrm>
            <a:off x="4572000" y="429768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Qui êtes-vous, et qu'avez-vous le droit de faire 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241280" y="61722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ie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VOCABULAIRE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029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Deux questions différentes</a:t>
            </a:r>
            <a:endParaRPr lang="en-US" sz="2800" dirty="0"/>
          </a:p>
        </p:txBody>
      </p:sp>
      <p:sp>
        <p:nvSpPr>
          <p:cNvPr id="4" name="Carte Authentification : qui êtes-vous ?"/>
          <p:cNvSpPr/>
          <p:nvPr/>
        </p:nvSpPr>
        <p:spPr>
          <a:xfrm>
            <a:off x="548640" y="1463040"/>
            <a:ext cx="546354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rgbClr val="E1EAF1"/>
            </a:solidFill>
            <a:prstDash val="solid"/>
          </a:ln>
        </p:spPr>
      </p:sp>
      <p:sp>
        <p:nvSpPr>
          <p:cNvPr id="5" name="Pastille Authentification : qui êtes-vous ?"/>
          <p:cNvSpPr/>
          <p:nvPr/>
        </p:nvSpPr>
        <p:spPr>
          <a:xfrm>
            <a:off x="822960" y="1737360"/>
            <a:ext cx="777240" cy="673110"/>
          </a:xfrm>
          <a:custGeom>
            <a:avLst/>
            <a:gdLst/>
            <a:ahLst/>
            <a:cxnLst/>
            <a:rect l="l" t="t" r="r" b="b"/>
            <a:pathLst>
              <a:path w="777240" h="673110">
                <a:moveTo>
                  <a:pt x="0" y="336555"/>
                </a:moveTo>
                <a:lnTo>
                  <a:pt x="194310" y="0"/>
                </a:lnTo>
                <a:lnTo>
                  <a:pt x="582930" y="0"/>
                </a:lnTo>
                <a:lnTo>
                  <a:pt x="777240" y="336555"/>
                </a:lnTo>
                <a:lnTo>
                  <a:pt x="582930" y="673110"/>
                </a:lnTo>
                <a:lnTo>
                  <a:pt x="194310" y="673110"/>
                </a:lnTo>
                <a:close/>
              </a:path>
            </a:pathLst>
          </a:custGeom>
          <a:solidFill>
            <a:srgbClr val="0040FF"/>
          </a:solidFill>
          <a:ln w="12700">
            <a:solidFill>
              <a:srgbClr val="0040FF">
                <a:alpha val="0"/>
              </a:srgbClr>
            </a:solidFill>
            <a:prstDash val="solid"/>
          </a:ln>
        </p:spPr>
      </p:sp>
      <p:pic>
        <p:nvPicPr>
          <p:cNvPr id="6" name="Icône Authentification : qui êtes-vous ?" descr="Authentification : qui êtes-vous ?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1891025"/>
            <a:ext cx="365760" cy="365760"/>
          </a:xfrm>
          <a:prstGeom prst="rect">
            <a:avLst/>
          </a:prstGeom>
        </p:spPr>
      </p:pic>
      <p:sp>
        <p:nvSpPr>
          <p:cNvPr id="7" name="Titre Authentification : qui êtes-vous ?"/>
          <p:cNvSpPr txBox="1"/>
          <p:nvPr/>
        </p:nvSpPr>
        <p:spPr>
          <a:xfrm>
            <a:off x="1828800" y="1719072"/>
            <a:ext cx="39547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Authentification : qui êtes-vous ?</a:t>
            </a:r>
            <a:endParaRPr lang="en-US" sz="1700" dirty="0"/>
          </a:p>
        </p:txBody>
      </p:sp>
      <p:sp>
        <p:nvSpPr>
          <p:cNvPr id="8" name="Détail Authentification : qui êtes-vous ?"/>
          <p:cNvSpPr txBox="1"/>
          <p:nvPr/>
        </p:nvSpPr>
        <p:spPr>
          <a:xfrm>
            <a:off x="1828800" y="2176272"/>
            <a:ext cx="39547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 schéma (jeton JWT, cookie, OpenID Connect) vérifie une preuve et construit l'utilisateur. Échec : 401 Unauthorized.</a:t>
            </a:r>
            <a:endParaRPr lang="en-US" sz="1400" dirty="0"/>
          </a:p>
        </p:txBody>
      </p:sp>
      <p:sp>
        <p:nvSpPr>
          <p:cNvPr id="9" name="Carte Autorisation : avez-vous le droit ?"/>
          <p:cNvSpPr/>
          <p:nvPr/>
        </p:nvSpPr>
        <p:spPr>
          <a:xfrm>
            <a:off x="6195060" y="1463040"/>
            <a:ext cx="546354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rgbClr val="E1EAF1"/>
            </a:solidFill>
            <a:prstDash val="solid"/>
          </a:ln>
        </p:spPr>
      </p:sp>
      <p:sp>
        <p:nvSpPr>
          <p:cNvPr id="10" name="Pastille Autorisation : avez-vous le droit ?"/>
          <p:cNvSpPr/>
          <p:nvPr/>
        </p:nvSpPr>
        <p:spPr>
          <a:xfrm>
            <a:off x="6469380" y="1737360"/>
            <a:ext cx="777240" cy="673110"/>
          </a:xfrm>
          <a:custGeom>
            <a:avLst/>
            <a:gdLst/>
            <a:ahLst/>
            <a:cxnLst/>
            <a:rect l="l" t="t" r="r" b="b"/>
            <a:pathLst>
              <a:path w="777240" h="673110">
                <a:moveTo>
                  <a:pt x="0" y="336555"/>
                </a:moveTo>
                <a:lnTo>
                  <a:pt x="194310" y="0"/>
                </a:lnTo>
                <a:lnTo>
                  <a:pt x="582930" y="0"/>
                </a:lnTo>
                <a:lnTo>
                  <a:pt x="777240" y="336555"/>
                </a:lnTo>
                <a:lnTo>
                  <a:pt x="582930" y="673110"/>
                </a:lnTo>
                <a:lnTo>
                  <a:pt x="194310" y="673110"/>
                </a:lnTo>
                <a:close/>
              </a:path>
            </a:pathLst>
          </a:custGeom>
          <a:solidFill>
            <a:srgbClr val="0040FF"/>
          </a:solidFill>
          <a:ln w="12700">
            <a:solidFill>
              <a:srgbClr val="0040FF">
                <a:alpha val="0"/>
              </a:srgbClr>
            </a:solidFill>
            <a:prstDash val="solid"/>
          </a:ln>
        </p:spPr>
      </p:sp>
      <p:pic>
        <p:nvPicPr>
          <p:cNvPr id="11" name="Icône Autorisation : avez-vous le droit ?" descr="Autorisation : avez-vous le droit ?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891025"/>
            <a:ext cx="365760" cy="365760"/>
          </a:xfrm>
          <a:prstGeom prst="rect">
            <a:avLst/>
          </a:prstGeom>
        </p:spPr>
      </p:pic>
      <p:sp>
        <p:nvSpPr>
          <p:cNvPr id="12" name="Titre Autorisation : avez-vous le droit ?"/>
          <p:cNvSpPr txBox="1"/>
          <p:nvPr/>
        </p:nvSpPr>
        <p:spPr>
          <a:xfrm>
            <a:off x="7475220" y="1719072"/>
            <a:ext cx="39547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Autorisation : avez-vous le droit ?</a:t>
            </a:r>
            <a:endParaRPr lang="en-US" sz="1700" dirty="0"/>
          </a:p>
        </p:txBody>
      </p:sp>
      <p:sp>
        <p:nvSpPr>
          <p:cNvPr id="13" name="Détail Autorisation : avez-vous le droit ?"/>
          <p:cNvSpPr txBox="1"/>
          <p:nvPr/>
        </p:nvSpPr>
        <p:spPr>
          <a:xfrm>
            <a:off x="7475220" y="2176272"/>
            <a:ext cx="39547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Une règle (être connecté, avoir un rôle, une policy) décide pour cette route. Échec : 403 Forbidden.</a:t>
            </a:r>
            <a:endParaRPr lang="en-US" sz="1400" dirty="0"/>
          </a:p>
        </p:txBody>
      </p:sp>
      <p:sp>
        <p:nvSpPr>
          <p:cNvPr id="14" name="Carte ClaimsPrincipal"/>
          <p:cNvSpPr/>
          <p:nvPr/>
        </p:nvSpPr>
        <p:spPr>
          <a:xfrm>
            <a:off x="548640" y="3840480"/>
            <a:ext cx="546354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rgbClr val="E1EAF1"/>
            </a:solidFill>
            <a:prstDash val="solid"/>
          </a:ln>
        </p:spPr>
      </p:sp>
      <p:sp>
        <p:nvSpPr>
          <p:cNvPr id="15" name="Pastille ClaimsPrincipal"/>
          <p:cNvSpPr/>
          <p:nvPr/>
        </p:nvSpPr>
        <p:spPr>
          <a:xfrm>
            <a:off x="822960" y="4114800"/>
            <a:ext cx="777240" cy="673110"/>
          </a:xfrm>
          <a:custGeom>
            <a:avLst/>
            <a:gdLst/>
            <a:ahLst/>
            <a:cxnLst/>
            <a:rect l="l" t="t" r="r" b="b"/>
            <a:pathLst>
              <a:path w="777240" h="673110">
                <a:moveTo>
                  <a:pt x="0" y="336555"/>
                </a:moveTo>
                <a:lnTo>
                  <a:pt x="194310" y="0"/>
                </a:lnTo>
                <a:lnTo>
                  <a:pt x="582930" y="0"/>
                </a:lnTo>
                <a:lnTo>
                  <a:pt x="777240" y="336555"/>
                </a:lnTo>
                <a:lnTo>
                  <a:pt x="582930" y="673110"/>
                </a:lnTo>
                <a:lnTo>
                  <a:pt x="194310" y="673110"/>
                </a:lnTo>
                <a:close/>
              </a:path>
            </a:pathLst>
          </a:custGeom>
          <a:solidFill>
            <a:srgbClr val="0040FF"/>
          </a:solidFill>
          <a:ln w="12700">
            <a:solidFill>
              <a:srgbClr val="0040FF">
                <a:alpha val="0"/>
              </a:srgbClr>
            </a:solidFill>
            <a:prstDash val="solid"/>
          </a:ln>
        </p:spPr>
      </p:sp>
      <p:pic>
        <p:nvPicPr>
          <p:cNvPr id="16" name="Icône ClaimsPrincipal" descr="ClaimsPrincipa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4268465"/>
            <a:ext cx="365760" cy="365760"/>
          </a:xfrm>
          <a:prstGeom prst="rect">
            <a:avLst/>
          </a:prstGeom>
        </p:spPr>
      </p:pic>
      <p:sp>
        <p:nvSpPr>
          <p:cNvPr id="17" name="Titre ClaimsPrincipal"/>
          <p:cNvSpPr txBox="1"/>
          <p:nvPr/>
        </p:nvSpPr>
        <p:spPr>
          <a:xfrm>
            <a:off x="1828800" y="4096512"/>
            <a:ext cx="39547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ClaimsPrincipal</a:t>
            </a:r>
            <a:endParaRPr lang="en-US" sz="1700" dirty="0"/>
          </a:p>
        </p:txBody>
      </p:sp>
      <p:sp>
        <p:nvSpPr>
          <p:cNvPr id="18" name="Détail ClaimsPrincipal"/>
          <p:cNvSpPr txBox="1"/>
          <p:nvPr/>
        </p:nvSpPr>
        <p:spPr>
          <a:xfrm>
            <a:off x="1828800" y="4553712"/>
            <a:ext cx="39547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L'utilisateur en .NET : un ensemble de claims (nom, rôles, e-mail…) émis par le schéma. </a:t>
            </a: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HttpContext.User</a:t>
            </a:r>
            <a:r>
              <a:rPr lang="en-US" sz="1400" dirty="0">
                <a:solidFill>
                  <a:schemeClr val="tx1"/>
                </a:solidFill>
              </a:rPr>
              <a:t>.</a:t>
            </a:r>
            <a:endParaRPr lang="en-US" sz="1400" dirty="0"/>
          </a:p>
        </p:txBody>
      </p:sp>
      <p:sp>
        <p:nvSpPr>
          <p:cNvPr id="19" name="Carte Policy"/>
          <p:cNvSpPr/>
          <p:nvPr/>
        </p:nvSpPr>
        <p:spPr>
          <a:xfrm>
            <a:off x="6195060" y="3840480"/>
            <a:ext cx="546354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rgbClr val="E1EAF1"/>
            </a:solidFill>
            <a:prstDash val="solid"/>
          </a:ln>
        </p:spPr>
      </p:sp>
      <p:sp>
        <p:nvSpPr>
          <p:cNvPr id="20" name="Pastille Policy"/>
          <p:cNvSpPr/>
          <p:nvPr/>
        </p:nvSpPr>
        <p:spPr>
          <a:xfrm>
            <a:off x="6469380" y="4114800"/>
            <a:ext cx="777240" cy="673110"/>
          </a:xfrm>
          <a:custGeom>
            <a:avLst/>
            <a:gdLst/>
            <a:ahLst/>
            <a:cxnLst/>
            <a:rect l="l" t="t" r="r" b="b"/>
            <a:pathLst>
              <a:path w="777240" h="673110">
                <a:moveTo>
                  <a:pt x="0" y="336555"/>
                </a:moveTo>
                <a:lnTo>
                  <a:pt x="194310" y="0"/>
                </a:lnTo>
                <a:lnTo>
                  <a:pt x="582930" y="0"/>
                </a:lnTo>
                <a:lnTo>
                  <a:pt x="777240" y="336555"/>
                </a:lnTo>
                <a:lnTo>
                  <a:pt x="582930" y="673110"/>
                </a:lnTo>
                <a:lnTo>
                  <a:pt x="194310" y="673110"/>
                </a:lnTo>
                <a:close/>
              </a:path>
            </a:pathLst>
          </a:custGeom>
          <a:solidFill>
            <a:srgbClr val="0040FF"/>
          </a:solidFill>
          <a:ln w="12700">
            <a:solidFill>
              <a:srgbClr val="0040FF">
                <a:alpha val="0"/>
              </a:srgbClr>
            </a:solidFill>
            <a:prstDash val="solid"/>
          </a:ln>
        </p:spPr>
      </p:sp>
      <p:pic>
        <p:nvPicPr>
          <p:cNvPr id="21" name="Icône Policy" descr="Policy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4268465"/>
            <a:ext cx="365760" cy="365760"/>
          </a:xfrm>
          <a:prstGeom prst="rect">
            <a:avLst/>
          </a:prstGeom>
        </p:spPr>
      </p:pic>
      <p:sp>
        <p:nvSpPr>
          <p:cNvPr id="22" name="Titre Policy"/>
          <p:cNvSpPr txBox="1"/>
          <p:nvPr/>
        </p:nvSpPr>
        <p:spPr>
          <a:xfrm>
            <a:off x="7475220" y="4096512"/>
            <a:ext cx="39547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Policy</a:t>
            </a:r>
            <a:endParaRPr lang="en-US" sz="1700" dirty="0"/>
          </a:p>
        </p:txBody>
      </p:sp>
      <p:sp>
        <p:nvSpPr>
          <p:cNvPr id="23" name="Détail Policy"/>
          <p:cNvSpPr txBox="1"/>
          <p:nvPr/>
        </p:nvSpPr>
        <p:spPr>
          <a:xfrm>
            <a:off x="7475220" y="4553712"/>
            <a:ext cx="39547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Une règle nommée (« admin » = rôle admin). On change la règle sans toucher aux routes.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ie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JWT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029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Un jeton JWT, trois parties</a:t>
            </a:r>
            <a:endParaRPr lang="en-US" sz="2800" dirty="0"/>
          </a:p>
        </p:txBody>
      </p:sp>
      <p:sp>
        <p:nvSpPr>
          <p:cNvPr id="4" name="Couche En-tête"/>
          <p:cNvSpPr/>
          <p:nvPr/>
        </p:nvSpPr>
        <p:spPr>
          <a:xfrm>
            <a:off x="548640" y="1463040"/>
            <a:ext cx="5669280" cy="777240"/>
          </a:xfrm>
          <a:prstGeom prst="roundRect">
            <a:avLst>
              <a:gd name="adj" fmla="val 9412"/>
            </a:avLst>
          </a:prstGeom>
          <a:solidFill>
            <a:srgbClr val="000057"/>
          </a:solidFill>
          <a:ln w="12700">
            <a:solidFill>
              <a:srgbClr val="000057"/>
            </a:solidFill>
            <a:prstDash val="solid"/>
          </a:ln>
        </p:spPr>
      </p:sp>
      <p:sp>
        <p:nvSpPr>
          <p:cNvPr id="5" name="Nom En-tête"/>
          <p:cNvSpPr txBox="1"/>
          <p:nvPr/>
        </p:nvSpPr>
        <p:spPr>
          <a:xfrm>
            <a:off x="777240" y="14630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En-tête</a:t>
            </a:r>
            <a:endParaRPr lang="en-US" sz="1500" dirty="0"/>
          </a:p>
        </p:txBody>
      </p:sp>
      <p:sp>
        <p:nvSpPr>
          <p:cNvPr id="6" name="Rôle En-tête"/>
          <p:cNvSpPr txBox="1"/>
          <p:nvPr/>
        </p:nvSpPr>
        <p:spPr>
          <a:xfrm>
            <a:off x="3108960" y="14630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"alg": "HS256", "typ": "JWT" }</a:t>
            </a:r>
            <a:endParaRPr lang="en-US" sz="1300" dirty="0"/>
          </a:p>
        </p:txBody>
      </p:sp>
      <p:sp>
        <p:nvSpPr>
          <p:cNvPr id="7" name="Couche Contenu (claims)"/>
          <p:cNvSpPr/>
          <p:nvPr/>
        </p:nvSpPr>
        <p:spPr>
          <a:xfrm>
            <a:off x="548640" y="2350008"/>
            <a:ext cx="5669280" cy="777240"/>
          </a:xfrm>
          <a:prstGeom prst="roundRect">
            <a:avLst>
              <a:gd name="adj" fmla="val 9412"/>
            </a:avLst>
          </a:prstGeom>
          <a:solidFill>
            <a:srgbClr val="000D78"/>
          </a:solidFill>
          <a:ln w="12700">
            <a:solidFill>
              <a:srgbClr val="000D78"/>
            </a:solidFill>
            <a:prstDash val="solid"/>
          </a:ln>
        </p:spPr>
      </p:sp>
      <p:sp>
        <p:nvSpPr>
          <p:cNvPr id="8" name="Nom Contenu (claims)"/>
          <p:cNvSpPr txBox="1"/>
          <p:nvPr/>
        </p:nvSpPr>
        <p:spPr>
          <a:xfrm>
            <a:off x="777240" y="2350008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Contenu (claims)</a:t>
            </a:r>
            <a:endParaRPr lang="en-US" sz="1500" dirty="0"/>
          </a:p>
        </p:txBody>
      </p:sp>
      <p:sp>
        <p:nvSpPr>
          <p:cNvPr id="9" name="Rôle Contenu (claims)"/>
          <p:cNvSpPr txBox="1"/>
          <p:nvPr/>
        </p:nvSpPr>
        <p:spPr>
          <a:xfrm>
            <a:off x="3108960" y="2350008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"sub": "alice", "role": "admin", "aud": "…", "exp": … }</a:t>
            </a:r>
            <a:endParaRPr lang="en-US" sz="1300" dirty="0"/>
          </a:p>
        </p:txBody>
      </p:sp>
      <p:sp>
        <p:nvSpPr>
          <p:cNvPr id="10" name="Couche Signature"/>
          <p:cNvSpPr/>
          <p:nvPr/>
        </p:nvSpPr>
        <p:spPr>
          <a:xfrm>
            <a:off x="548640" y="3236976"/>
            <a:ext cx="5669280" cy="777240"/>
          </a:xfrm>
          <a:prstGeom prst="roundRect">
            <a:avLst>
              <a:gd name="adj" fmla="val 9412"/>
            </a:avLst>
          </a:prstGeom>
          <a:solidFill>
            <a:srgbClr val="001793"/>
          </a:solidFill>
          <a:ln w="12700">
            <a:solidFill>
              <a:srgbClr val="001793"/>
            </a:solidFill>
            <a:prstDash val="solid"/>
          </a:ln>
        </p:spPr>
      </p:sp>
      <p:sp>
        <p:nvSpPr>
          <p:cNvPr id="11" name="Nom Signature"/>
          <p:cNvSpPr txBox="1"/>
          <p:nvPr/>
        </p:nvSpPr>
        <p:spPr>
          <a:xfrm>
            <a:off x="777240" y="3236976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Signature</a:t>
            </a:r>
            <a:endParaRPr lang="en-US" sz="1500" dirty="0"/>
          </a:p>
        </p:txBody>
      </p:sp>
      <p:sp>
        <p:nvSpPr>
          <p:cNvPr id="12" name="Rôle Signature"/>
          <p:cNvSpPr txBox="1"/>
          <p:nvPr/>
        </p:nvSpPr>
        <p:spPr>
          <a:xfrm>
            <a:off x="3108960" y="3236976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HMAC de l'en-tête et du contenu, avec la clé secrète</a:t>
            </a:r>
            <a:endParaRPr lang="en-US" sz="1300" dirty="0"/>
          </a:p>
        </p:txBody>
      </p:sp>
      <p:sp>
        <p:nvSpPr>
          <p:cNvPr id="13" name="Points"/>
          <p:cNvSpPr txBox="1"/>
          <p:nvPr/>
        </p:nvSpPr>
        <p:spPr>
          <a:xfrm>
            <a:off x="6858000" y="1463040"/>
            <a:ext cx="480060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Chaque partie est encodée en base64url, puis jointe par des points.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Le contenu est lisible par tous : il est signé, pas chiffré. Pas de secret dedans.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Le serveur vérifie la signature, l'émetteur, l'audience et l'expiration.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En développement, </a:t>
            </a: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dotnet user-jwts</a:t>
            </a:r>
            <a:r>
              <a:rPr lang="en-US" sz="1500" dirty="0">
                <a:solidFill>
                  <a:schemeClr val="tx1"/>
                </a:solidFill>
              </a:rPr>
              <a:t> crée des jetons et la clé de signature.</a:t>
            </a:r>
            <a:endParaRPr lang="en-US" sz="1500" dirty="0"/>
          </a:p>
        </p:txBody>
      </p:sp>
      <p:sp>
        <p:nvSpPr>
          <p:cNvPr id="14" name="À retenir"/>
          <p:cNvSpPr/>
          <p:nvPr/>
        </p:nvSpPr>
        <p:spPr>
          <a:xfrm>
            <a:off x="548640" y="5440680"/>
            <a:ext cx="11109960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rgbClr val="E1EAF1"/>
            </a:solidFill>
            <a:prstDash val="solid"/>
          </a:ln>
        </p:spPr>
      </p:sp>
      <p:pic>
        <p:nvPicPr>
          <p:cNvPr id="15" name="Icône à retenir" descr="À reteni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614416"/>
            <a:ext cx="338328" cy="338328"/>
          </a:xfrm>
          <a:prstGeom prst="rect">
            <a:avLst/>
          </a:prstGeom>
        </p:spPr>
      </p:pic>
      <p:sp>
        <p:nvSpPr>
          <p:cNvPr id="16" name="Texte à retenir"/>
          <p:cNvSpPr txBox="1"/>
          <p:nvPr/>
        </p:nvSpPr>
        <p:spPr>
          <a:xfrm>
            <a:off x="1325880" y="544068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Collez un jeton sur jwt.io pour voir ses claims. Si la clé fuit, n'importe qui peut fabriquer des jetons valides.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ie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API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029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Protéger l'API</a:t>
            </a:r>
            <a:endParaRPr lang="en-US" sz="2800" dirty="0"/>
          </a:p>
        </p:txBody>
      </p:sp>
      <p:sp>
        <p:nvSpPr>
          <p:cNvPr id="4" name="Code C#"/>
          <p:cNvSpPr/>
          <p:nvPr/>
        </p:nvSpPr>
        <p:spPr>
          <a:xfrm>
            <a:off x="548640" y="1417320"/>
            <a:ext cx="5440680" cy="2828798"/>
          </a:xfrm>
          <a:prstGeom prst="roundRect">
            <a:avLst>
              <a:gd name="adj" fmla="val 3232"/>
            </a:avLst>
          </a:prstGeom>
          <a:solidFill>
            <a:schemeClr val="tx2"/>
          </a:solidFill>
          <a:ln w="12700">
            <a:solidFill>
              <a:srgbClr val="000057"/>
            </a:solidFill>
            <a:prstDash val="solid"/>
          </a:ln>
        </p:spPr>
      </p:sp>
      <p:sp>
        <p:nvSpPr>
          <p:cNvPr id="5" name="Langage C#"/>
          <p:cNvSpPr txBox="1"/>
          <p:nvPr/>
        </p:nvSpPr>
        <p:spPr>
          <a:xfrm>
            <a:off x="777240" y="1536192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C# · Program.cs</a:t>
            </a:r>
            <a:endParaRPr lang="en-US" sz="1100" dirty="0"/>
          </a:p>
        </p:txBody>
      </p:sp>
      <p:sp>
        <p:nvSpPr>
          <p:cNvPr id="6" name="Contenu C#"/>
          <p:cNvSpPr txBox="1"/>
          <p:nvPr/>
        </p:nvSpPr>
        <p:spPr>
          <a:xfrm>
            <a:off x="777240" y="1856232"/>
            <a:ext cx="5074920" cy="2280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9DB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lit Authentication:Schemes:Bearer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builder.Services.AddAuthentication()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.AddJwtBearer();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builder.Services.AddAuthorizationBuilder()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.AddPolicy("admin",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 =&gt; p.RequireRole("admin"));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app.MapGet("/me", (ClaimsPrincipal user) =&gt;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user.Identity?.Name)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.RequireAuthorization();</a:t>
            </a:r>
            <a:endParaRPr lang="en-US" sz="1300" dirty="0"/>
          </a:p>
        </p:txBody>
      </p:sp>
      <p:sp>
        <p:nvSpPr>
          <p:cNvPr id="7" name="Code C#"/>
          <p:cNvSpPr/>
          <p:nvPr/>
        </p:nvSpPr>
        <p:spPr>
          <a:xfrm>
            <a:off x="6217920" y="1417320"/>
            <a:ext cx="5440680" cy="2633980"/>
          </a:xfrm>
          <a:prstGeom prst="roundRect">
            <a:avLst>
              <a:gd name="adj" fmla="val 3472"/>
            </a:avLst>
          </a:prstGeom>
          <a:solidFill>
            <a:schemeClr val="tx2"/>
          </a:solidFill>
          <a:ln w="12700">
            <a:solidFill>
              <a:srgbClr val="000057"/>
            </a:solidFill>
            <a:prstDash val="solid"/>
          </a:ln>
        </p:spPr>
      </p:sp>
      <p:sp>
        <p:nvSpPr>
          <p:cNvPr id="8" name="Langage C#"/>
          <p:cNvSpPr txBox="1"/>
          <p:nvPr/>
        </p:nvSpPr>
        <p:spPr>
          <a:xfrm>
            <a:off x="6446520" y="1536192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C# · les routes</a:t>
            </a:r>
            <a:endParaRPr lang="en-US" sz="1100" dirty="0"/>
          </a:p>
        </p:txBody>
      </p:sp>
      <p:sp>
        <p:nvSpPr>
          <p:cNvPr id="9" name="Contenu C#"/>
          <p:cNvSpPr txBox="1"/>
          <p:nvPr/>
        </p:nvSpPr>
        <p:spPr>
          <a:xfrm>
            <a:off x="6446520" y="1856232"/>
            <a:ext cx="5074920" cy="2085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tickets = app.MapGroup("/tickets");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tickets.MapGet("/", ListAsync);  // ouvert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writes = tickets.MapGroup("")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.RequireAuthorization();     // connecté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writes.MapPost("/", CreateAsync);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writes.MapPut("/{id:int}", UpdateAsync);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tickets.MapDelete("/{id:int}", DeleteAsync)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.RequireAuthorization("admin");</a:t>
            </a:r>
            <a:endParaRPr lang="en-US" sz="1300" dirty="0"/>
          </a:p>
        </p:txBody>
      </p:sp>
      <p:sp>
        <p:nvSpPr>
          <p:cNvPr id="10" name="À retenir"/>
          <p:cNvSpPr/>
          <p:nvPr/>
        </p:nvSpPr>
        <p:spPr>
          <a:xfrm>
            <a:off x="548640" y="5440680"/>
            <a:ext cx="11109960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rgbClr val="E1EAF1"/>
            </a:solidFill>
            <a:prstDash val="solid"/>
          </a:ln>
        </p:spPr>
      </p:sp>
      <p:pic>
        <p:nvPicPr>
          <p:cNvPr id="11" name="Icône à retenir" descr="À reteni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614416"/>
            <a:ext cx="338328" cy="338328"/>
          </a:xfrm>
          <a:prstGeom prst="rect">
            <a:avLst/>
          </a:prstGeom>
        </p:spPr>
      </p:pic>
      <p:sp>
        <p:nvSpPr>
          <p:cNvPr id="12" name="Texte à retenir"/>
          <p:cNvSpPr txBox="1"/>
          <p:nvPr/>
        </p:nvSpPr>
        <p:spPr>
          <a:xfrm>
            <a:off x="1325880" y="544068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Un sous-groupe de routes porte l'exigence pour toutes les écritures. ≈ </a:t>
            </a:r>
            <a:r>
              <a:rPr lang="en-US" sz="15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authorizeHttpRequests</a:t>
            </a:r>
            <a:r>
              <a:rPr lang="en-US" sz="1500" dirty="0">
                <a:solidFill>
                  <a:schemeClr val="tx2"/>
                </a:solidFill>
              </a:rPr>
              <a:t> et </a:t>
            </a:r>
            <a:r>
              <a:rPr lang="en-US" sz="15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@PreAuthorize</a:t>
            </a:r>
            <a:r>
              <a:rPr lang="en-US" sz="1500" dirty="0">
                <a:solidFill>
                  <a:schemeClr val="tx2"/>
                </a:solidFill>
              </a:rPr>
              <a:t> en Spring.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nd hexagone"/>
          <p:cNvSpPr/>
          <p:nvPr/>
        </p:nvSpPr>
        <p:spPr>
          <a:xfrm>
            <a:off x="822960" y="1965960"/>
            <a:ext cx="3108960" cy="2692438"/>
          </a:xfrm>
          <a:custGeom>
            <a:avLst/>
            <a:gdLst/>
            <a:ahLst/>
            <a:cxnLst/>
            <a:rect l="l" t="t" r="r" b="b"/>
            <a:pathLst>
              <a:path w="3108960" h="2692438">
                <a:moveTo>
                  <a:pt x="0" y="1346219"/>
                </a:moveTo>
                <a:lnTo>
                  <a:pt x="777240" y="0"/>
                </a:lnTo>
                <a:lnTo>
                  <a:pt x="2331720" y="0"/>
                </a:lnTo>
                <a:lnTo>
                  <a:pt x="3108960" y="1346219"/>
                </a:lnTo>
                <a:lnTo>
                  <a:pt x="2331720" y="2692438"/>
                </a:lnTo>
                <a:lnTo>
                  <a:pt x="777240" y="2692438"/>
                </a:lnTo>
                <a:close/>
              </a:path>
            </a:pathLst>
          </a:custGeom>
          <a:solidFill>
            <a:srgbClr val="FFFF00"/>
          </a:solidFill>
          <a:ln w="12700">
            <a:solidFill>
              <a:srgbClr val="FFFF00">
                <a:alpha val="0"/>
              </a:srgbClr>
            </a:solidFill>
            <a:prstDash val="solid"/>
          </a:ln>
        </p:spPr>
      </p:sp>
      <p:sp>
        <p:nvSpPr>
          <p:cNvPr id="3" name="Numéro de partie"/>
          <p:cNvSpPr txBox="1"/>
          <p:nvPr/>
        </p:nvSpPr>
        <p:spPr>
          <a:xfrm>
            <a:off x="822960" y="1965960"/>
            <a:ext cx="3108960" cy="2688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chemeClr val="tx2"/>
                </a:solidFill>
              </a:rPr>
              <a:t>2</a:t>
            </a:r>
            <a:endParaRPr lang="en-US" sz="7200" dirty="0"/>
          </a:p>
        </p:txBody>
      </p:sp>
      <p:sp>
        <p:nvSpPr>
          <p:cNvPr id="4" name="Hexagone décoratif"/>
          <p:cNvSpPr/>
          <p:nvPr/>
        </p:nvSpPr>
        <p:spPr>
          <a:xfrm>
            <a:off x="3429000" y="1234440"/>
            <a:ext cx="914400" cy="791894"/>
          </a:xfrm>
          <a:custGeom>
            <a:avLst/>
            <a:gdLst/>
            <a:ahLst/>
            <a:cxnLst/>
            <a:rect l="l" t="t" r="r" b="b"/>
            <a:pathLst>
              <a:path w="914400" h="791894">
                <a:moveTo>
                  <a:pt x="0" y="395947"/>
                </a:moveTo>
                <a:lnTo>
                  <a:pt x="228600" y="0"/>
                </a:lnTo>
                <a:lnTo>
                  <a:pt x="685800" y="0"/>
                </a:lnTo>
                <a:lnTo>
                  <a:pt x="914400" y="395947"/>
                </a:lnTo>
                <a:lnTo>
                  <a:pt x="685800" y="791894"/>
                </a:lnTo>
                <a:lnTo>
                  <a:pt x="228600" y="791894"/>
                </a:lnTo>
                <a:close/>
              </a:path>
            </a:pathLst>
          </a:custGeom>
          <a:solidFill>
            <a:srgbClr val="001793">
              <a:alpha val="70000"/>
            </a:srgbClr>
          </a:solidFill>
          <a:ln w="12700">
            <a:solidFill>
              <a:srgbClr val="001793">
                <a:alpha val="0"/>
              </a:srgbClr>
            </a:solidFill>
            <a:prstDash val="solid"/>
          </a:ln>
        </p:spPr>
      </p:sp>
      <p:sp>
        <p:nvSpPr>
          <p:cNvPr id="5" name="Hexagone décoratif"/>
          <p:cNvSpPr/>
          <p:nvPr/>
        </p:nvSpPr>
        <p:spPr>
          <a:xfrm>
            <a:off x="320040" y="4526280"/>
            <a:ext cx="1097280" cy="950272"/>
          </a:xfrm>
          <a:custGeom>
            <a:avLst/>
            <a:gdLst/>
            <a:ahLst/>
            <a:cxnLst/>
            <a:rect l="l" t="t" r="r" b="b"/>
            <a:pathLst>
              <a:path w="1097280" h="950272">
                <a:moveTo>
                  <a:pt x="0" y="475136"/>
                </a:moveTo>
                <a:lnTo>
                  <a:pt x="274320" y="0"/>
                </a:lnTo>
                <a:lnTo>
                  <a:pt x="822960" y="0"/>
                </a:lnTo>
                <a:lnTo>
                  <a:pt x="1097280" y="475136"/>
                </a:lnTo>
                <a:lnTo>
                  <a:pt x="822960" y="950272"/>
                </a:lnTo>
                <a:lnTo>
                  <a:pt x="274320" y="950272"/>
                </a:lnTo>
                <a:close/>
              </a:path>
            </a:pathLst>
          </a:custGeom>
          <a:solidFill>
            <a:srgbClr val="000D78">
              <a:alpha val="90000"/>
            </a:srgbClr>
          </a:solidFill>
          <a:ln w="12700">
            <a:solidFill>
              <a:srgbClr val="000D78">
                <a:alpha val="0"/>
              </a:srgbClr>
            </a:solidFill>
            <a:prstDash val="solid"/>
          </a:ln>
        </p:spPr>
      </p:sp>
      <p:sp>
        <p:nvSpPr>
          <p:cNvPr id="6" name="Hexagone décoratif"/>
          <p:cNvSpPr/>
          <p:nvPr/>
        </p:nvSpPr>
        <p:spPr>
          <a:xfrm>
            <a:off x="10607040" y="640080"/>
            <a:ext cx="1280160" cy="1108651"/>
          </a:xfrm>
          <a:custGeom>
            <a:avLst/>
            <a:gdLst/>
            <a:ahLst/>
            <a:cxnLst/>
            <a:rect l="l" t="t" r="r" b="b"/>
            <a:pathLst>
              <a:path w="1280160" h="1108651">
                <a:moveTo>
                  <a:pt x="0" y="554326"/>
                </a:moveTo>
                <a:lnTo>
                  <a:pt x="320040" y="0"/>
                </a:lnTo>
                <a:lnTo>
                  <a:pt x="960120" y="0"/>
                </a:lnTo>
                <a:lnTo>
                  <a:pt x="1280160" y="554326"/>
                </a:lnTo>
                <a:lnTo>
                  <a:pt x="960120" y="1108651"/>
                </a:lnTo>
                <a:lnTo>
                  <a:pt x="320040" y="1108651"/>
                </a:lnTo>
                <a:close/>
              </a:path>
            </a:pathLst>
          </a:custGeom>
          <a:solidFill>
            <a:srgbClr val="001793">
              <a:alpha val="55000"/>
            </a:srgbClr>
          </a:solidFill>
          <a:ln w="12700">
            <a:solidFill>
              <a:srgbClr val="001793">
                <a:alpha val="0"/>
              </a:srgbClr>
            </a:solidFill>
            <a:prstDash val="solid"/>
          </a:ln>
        </p:spPr>
      </p:sp>
      <p:sp>
        <p:nvSpPr>
          <p:cNvPr id="7" name="Surtitre"/>
          <p:cNvSpPr txBox="1"/>
          <p:nvPr/>
        </p:nvSpPr>
        <p:spPr>
          <a:xfrm>
            <a:off x="4572000" y="20574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chemeClr val="accent2"/>
                </a:solidFill>
              </a:rPr>
              <a:t>PARTIE 2</a:t>
            </a:r>
            <a:endParaRPr lang="en-US" sz="1600" dirty="0"/>
          </a:p>
        </p:txBody>
      </p:sp>
      <p:sp>
        <p:nvSpPr>
          <p:cNvPr id="8" name="Text 0"/>
          <p:cNvSpPr/>
          <p:nvPr>
            <p:ph idx="100" type="title" hasCustomPrompt="1"/>
          </p:nvPr>
        </p:nvSpPr>
        <p:spPr>
          <a:xfrm>
            <a:off x="4572000" y="2514600"/>
            <a:ext cx="6949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L'utilisateur dans Blazor</a:t>
            </a:r>
            <a:endParaRPr lang="en-US" sz="3400" dirty="0"/>
          </a:p>
        </p:txBody>
      </p:sp>
      <p:sp>
        <p:nvSpPr>
          <p:cNvPr id="9" name="Text 0"/>
          <p:cNvSpPr/>
          <p:nvPr>
            <p:ph idx="101" type="body" hasCustomPrompt="1"/>
          </p:nvPr>
        </p:nvSpPr>
        <p:spPr>
          <a:xfrm>
            <a:off x="4572000" y="429768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Un cookie pour le front, un jeton pour l'API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241280" y="61722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ie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ARCHITECTURE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029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Qui parle à qui, avec quelle preuve</a:t>
            </a:r>
            <a:endParaRPr lang="en-US" sz="2800" dirty="0"/>
          </a:p>
        </p:txBody>
      </p:sp>
      <p:sp>
        <p:nvSpPr>
          <p:cNvPr id="4" name="Étape Navigateur"/>
          <p:cNvSpPr/>
          <p:nvPr/>
        </p:nvSpPr>
        <p:spPr>
          <a:xfrm>
            <a:off x="1042416" y="1600200"/>
            <a:ext cx="1234440" cy="1069056"/>
          </a:xfrm>
          <a:custGeom>
            <a:avLst/>
            <a:gdLst/>
            <a:ahLst/>
            <a:cxnLst/>
            <a:rect l="l" t="t" r="r" b="b"/>
            <a:pathLst>
              <a:path w="1234440" h="1069056">
                <a:moveTo>
                  <a:pt x="0" y="534528"/>
                </a:moveTo>
                <a:lnTo>
                  <a:pt x="308610" y="0"/>
                </a:lnTo>
                <a:lnTo>
                  <a:pt x="925830" y="0"/>
                </a:lnTo>
                <a:lnTo>
                  <a:pt x="1234440" y="534528"/>
                </a:lnTo>
                <a:lnTo>
                  <a:pt x="925830" y="1069056"/>
                </a:lnTo>
                <a:lnTo>
                  <a:pt x="308610" y="1069056"/>
                </a:lnTo>
                <a:close/>
              </a:path>
            </a:pathLst>
          </a:custGeom>
          <a:solidFill>
            <a:srgbClr val="000057"/>
          </a:solidFill>
          <a:ln w="12700">
            <a:solidFill>
              <a:srgbClr val="000057">
                <a:alpha val="0"/>
              </a:srgbClr>
            </a:solidFill>
            <a:prstDash val="solid"/>
          </a:ln>
        </p:spPr>
      </p:sp>
      <p:pic>
        <p:nvPicPr>
          <p:cNvPr id="5" name="Icône Navigateur" descr="Navigateu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8059" y="1863136"/>
            <a:ext cx="543154" cy="543154"/>
          </a:xfrm>
          <a:prstGeom prst="rect">
            <a:avLst/>
          </a:prstGeom>
        </p:spPr>
      </p:pic>
      <p:sp>
        <p:nvSpPr>
          <p:cNvPr id="6" name="Titre Navigateur"/>
          <p:cNvSpPr txBox="1"/>
          <p:nvPr/>
        </p:nvSpPr>
        <p:spPr>
          <a:xfrm>
            <a:off x="594360" y="2852105"/>
            <a:ext cx="2130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Navigateur</a:t>
            </a:r>
            <a:endParaRPr lang="en-US" sz="1600" dirty="0"/>
          </a:p>
        </p:txBody>
      </p:sp>
      <p:sp>
        <p:nvSpPr>
          <p:cNvPr id="7" name="Détail Navigateur"/>
          <p:cNvSpPr txBox="1"/>
          <p:nvPr/>
        </p:nvSpPr>
        <p:spPr>
          <a:xfrm>
            <a:off x="640080" y="3263585"/>
            <a:ext cx="20391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alice se connecte sur la page de login</a:t>
            </a:r>
            <a:endParaRPr lang="en-US" sz="1300" dirty="0"/>
          </a:p>
        </p:txBody>
      </p:sp>
      <p:pic>
        <p:nvPicPr>
          <p:cNvPr id="8" name="Flèche 1" descr="pui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4328" y="1988409"/>
            <a:ext cx="292608" cy="292608"/>
          </a:xfrm>
          <a:prstGeom prst="rect">
            <a:avLst/>
          </a:prstGeom>
        </p:spPr>
      </p:pic>
      <p:sp>
        <p:nvSpPr>
          <p:cNvPr id="9" name="Étape Cookie"/>
          <p:cNvSpPr/>
          <p:nvPr/>
        </p:nvSpPr>
        <p:spPr>
          <a:xfrm>
            <a:off x="3264408" y="1600200"/>
            <a:ext cx="1234440" cy="1069056"/>
          </a:xfrm>
          <a:custGeom>
            <a:avLst/>
            <a:gdLst/>
            <a:ahLst/>
            <a:cxnLst/>
            <a:rect l="l" t="t" r="r" b="b"/>
            <a:pathLst>
              <a:path w="1234440" h="1069056">
                <a:moveTo>
                  <a:pt x="0" y="534528"/>
                </a:moveTo>
                <a:lnTo>
                  <a:pt x="308610" y="0"/>
                </a:lnTo>
                <a:lnTo>
                  <a:pt x="925830" y="0"/>
                </a:lnTo>
                <a:lnTo>
                  <a:pt x="1234440" y="534528"/>
                </a:lnTo>
                <a:lnTo>
                  <a:pt x="925830" y="1069056"/>
                </a:lnTo>
                <a:lnTo>
                  <a:pt x="308610" y="1069056"/>
                </a:lnTo>
                <a:close/>
              </a:path>
            </a:pathLst>
          </a:custGeom>
          <a:solidFill>
            <a:srgbClr val="000057"/>
          </a:solidFill>
          <a:ln w="12700">
            <a:solidFill>
              <a:srgbClr val="000057">
                <a:alpha val="0"/>
              </a:srgbClr>
            </a:solidFill>
            <a:prstDash val="solid"/>
          </a:ln>
        </p:spPr>
      </p:sp>
      <p:pic>
        <p:nvPicPr>
          <p:cNvPr id="10" name="Icône Cookie" descr="Cooki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0051" y="1863136"/>
            <a:ext cx="543154" cy="543154"/>
          </a:xfrm>
          <a:prstGeom prst="rect">
            <a:avLst/>
          </a:prstGeom>
        </p:spPr>
      </p:pic>
      <p:sp>
        <p:nvSpPr>
          <p:cNvPr id="11" name="Titre Cookie"/>
          <p:cNvSpPr txBox="1"/>
          <p:nvPr/>
        </p:nvSpPr>
        <p:spPr>
          <a:xfrm>
            <a:off x="2816352" y="2852105"/>
            <a:ext cx="2130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Cookie</a:t>
            </a:r>
            <a:endParaRPr lang="en-US" sz="1600" dirty="0"/>
          </a:p>
        </p:txBody>
      </p:sp>
      <p:sp>
        <p:nvSpPr>
          <p:cNvPr id="12" name="Détail Cookie"/>
          <p:cNvSpPr txBox="1"/>
          <p:nvPr/>
        </p:nvSpPr>
        <p:spPr>
          <a:xfrm>
            <a:off x="2862072" y="3263585"/>
            <a:ext cx="20391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écrit par le front après le mot de passe</a:t>
            </a:r>
            <a:endParaRPr lang="en-US" sz="1300" dirty="0"/>
          </a:p>
        </p:txBody>
      </p:sp>
      <p:pic>
        <p:nvPicPr>
          <p:cNvPr id="13" name="Flèche 2" descr="pui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988409"/>
            <a:ext cx="292608" cy="292608"/>
          </a:xfrm>
          <a:prstGeom prst="rect">
            <a:avLst/>
          </a:prstGeom>
        </p:spPr>
      </p:pic>
      <p:sp>
        <p:nvSpPr>
          <p:cNvPr id="14" name="Étape Tickets.Web"/>
          <p:cNvSpPr/>
          <p:nvPr/>
        </p:nvSpPr>
        <p:spPr>
          <a:xfrm>
            <a:off x="5486400" y="1600200"/>
            <a:ext cx="1234440" cy="1069056"/>
          </a:xfrm>
          <a:custGeom>
            <a:avLst/>
            <a:gdLst/>
            <a:ahLst/>
            <a:cxnLst/>
            <a:rect l="l" t="t" r="r" b="b"/>
            <a:pathLst>
              <a:path w="1234440" h="1069056">
                <a:moveTo>
                  <a:pt x="0" y="534528"/>
                </a:moveTo>
                <a:lnTo>
                  <a:pt x="308610" y="0"/>
                </a:lnTo>
                <a:lnTo>
                  <a:pt x="925830" y="0"/>
                </a:lnTo>
                <a:lnTo>
                  <a:pt x="1234440" y="534528"/>
                </a:lnTo>
                <a:lnTo>
                  <a:pt x="925830" y="1069056"/>
                </a:lnTo>
                <a:lnTo>
                  <a:pt x="308610" y="1069056"/>
                </a:lnTo>
                <a:close/>
              </a:path>
            </a:pathLst>
          </a:custGeom>
          <a:solidFill>
            <a:srgbClr val="000057"/>
          </a:solidFill>
          <a:ln w="12700">
            <a:solidFill>
              <a:srgbClr val="000057">
                <a:alpha val="0"/>
              </a:srgbClr>
            </a:solidFill>
            <a:prstDash val="solid"/>
          </a:ln>
        </p:spPr>
      </p:sp>
      <p:pic>
        <p:nvPicPr>
          <p:cNvPr id="15" name="Icône Tickets.Web" descr="Tickets.Web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2043" y="1863136"/>
            <a:ext cx="543154" cy="543154"/>
          </a:xfrm>
          <a:prstGeom prst="rect">
            <a:avLst/>
          </a:prstGeom>
        </p:spPr>
      </p:pic>
      <p:sp>
        <p:nvSpPr>
          <p:cNvPr id="16" name="Titre Tickets.Web"/>
          <p:cNvSpPr txBox="1"/>
          <p:nvPr/>
        </p:nvSpPr>
        <p:spPr>
          <a:xfrm>
            <a:off x="5038344" y="2852105"/>
            <a:ext cx="2130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Tickets.Web</a:t>
            </a:r>
            <a:endParaRPr lang="en-US" sz="1600" dirty="0"/>
          </a:p>
        </p:txBody>
      </p:sp>
      <p:sp>
        <p:nvSpPr>
          <p:cNvPr id="17" name="Détail Tickets.Web"/>
          <p:cNvSpPr txBox="1"/>
          <p:nvPr/>
        </p:nvSpPr>
        <p:spPr>
          <a:xfrm>
            <a:off x="5084064" y="3263585"/>
            <a:ext cx="20391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connaît l'utilisateur, filtre l'affichage</a:t>
            </a:r>
            <a:endParaRPr lang="en-US" sz="1300" dirty="0"/>
          </a:p>
        </p:txBody>
      </p:sp>
      <p:pic>
        <p:nvPicPr>
          <p:cNvPr id="18" name="Flèche 3" descr="pui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68312" y="1988409"/>
            <a:ext cx="292608" cy="292608"/>
          </a:xfrm>
          <a:prstGeom prst="rect">
            <a:avLst/>
          </a:prstGeom>
        </p:spPr>
      </p:pic>
      <p:sp>
        <p:nvSpPr>
          <p:cNvPr id="19" name="Étape Jeton JWT"/>
          <p:cNvSpPr/>
          <p:nvPr/>
        </p:nvSpPr>
        <p:spPr>
          <a:xfrm>
            <a:off x="7708392" y="1600200"/>
            <a:ext cx="1234440" cy="1069056"/>
          </a:xfrm>
          <a:custGeom>
            <a:avLst/>
            <a:gdLst/>
            <a:ahLst/>
            <a:cxnLst/>
            <a:rect l="l" t="t" r="r" b="b"/>
            <a:pathLst>
              <a:path w="1234440" h="1069056">
                <a:moveTo>
                  <a:pt x="0" y="534528"/>
                </a:moveTo>
                <a:lnTo>
                  <a:pt x="308610" y="0"/>
                </a:lnTo>
                <a:lnTo>
                  <a:pt x="925830" y="0"/>
                </a:lnTo>
                <a:lnTo>
                  <a:pt x="1234440" y="534528"/>
                </a:lnTo>
                <a:lnTo>
                  <a:pt x="925830" y="1069056"/>
                </a:lnTo>
                <a:lnTo>
                  <a:pt x="308610" y="1069056"/>
                </a:lnTo>
                <a:close/>
              </a:path>
            </a:pathLst>
          </a:custGeom>
          <a:solidFill>
            <a:srgbClr val="FFFF00"/>
          </a:solidFill>
          <a:ln w="12700">
            <a:solidFill>
              <a:srgbClr val="FFFF00">
                <a:alpha val="0"/>
              </a:srgbClr>
            </a:solidFill>
            <a:prstDash val="solid"/>
          </a:ln>
        </p:spPr>
      </p:sp>
      <p:pic>
        <p:nvPicPr>
          <p:cNvPr id="20" name="Icône Jeton JWT" descr="Jeton JWT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54035" y="1863136"/>
            <a:ext cx="543154" cy="543154"/>
          </a:xfrm>
          <a:prstGeom prst="rect">
            <a:avLst/>
          </a:prstGeom>
        </p:spPr>
      </p:pic>
      <p:sp>
        <p:nvSpPr>
          <p:cNvPr id="21" name="Titre Jeton JWT"/>
          <p:cNvSpPr txBox="1"/>
          <p:nvPr/>
        </p:nvSpPr>
        <p:spPr>
          <a:xfrm>
            <a:off x="7260336" y="2852105"/>
            <a:ext cx="2130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Jeton JWT</a:t>
            </a:r>
            <a:endParaRPr lang="en-US" sz="1600" dirty="0"/>
          </a:p>
        </p:txBody>
      </p:sp>
      <p:sp>
        <p:nvSpPr>
          <p:cNvPr id="22" name="Détail Jeton JWT"/>
          <p:cNvSpPr txBox="1"/>
          <p:nvPr/>
        </p:nvSpPr>
        <p:spPr>
          <a:xfrm>
            <a:off x="7306056" y="3263585"/>
            <a:ext cx="20391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ajouté à chaque appel de l'API</a:t>
            </a:r>
            <a:endParaRPr lang="en-US" sz="1300" dirty="0"/>
          </a:p>
        </p:txBody>
      </p:sp>
      <p:pic>
        <p:nvPicPr>
          <p:cNvPr id="23" name="Flèche 4" descr="puis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90304" y="1988409"/>
            <a:ext cx="292608" cy="292608"/>
          </a:xfrm>
          <a:prstGeom prst="rect">
            <a:avLst/>
          </a:prstGeom>
        </p:spPr>
      </p:pic>
      <p:sp>
        <p:nvSpPr>
          <p:cNvPr id="24" name="Étape Tickets.Api"/>
          <p:cNvSpPr/>
          <p:nvPr/>
        </p:nvSpPr>
        <p:spPr>
          <a:xfrm>
            <a:off x="9930384" y="1600200"/>
            <a:ext cx="1234440" cy="1069056"/>
          </a:xfrm>
          <a:custGeom>
            <a:avLst/>
            <a:gdLst/>
            <a:ahLst/>
            <a:cxnLst/>
            <a:rect l="l" t="t" r="r" b="b"/>
            <a:pathLst>
              <a:path w="1234440" h="1069056">
                <a:moveTo>
                  <a:pt x="0" y="534528"/>
                </a:moveTo>
                <a:lnTo>
                  <a:pt x="308610" y="0"/>
                </a:lnTo>
                <a:lnTo>
                  <a:pt x="925830" y="0"/>
                </a:lnTo>
                <a:lnTo>
                  <a:pt x="1234440" y="534528"/>
                </a:lnTo>
                <a:lnTo>
                  <a:pt x="925830" y="1069056"/>
                </a:lnTo>
                <a:lnTo>
                  <a:pt x="308610" y="1069056"/>
                </a:lnTo>
                <a:close/>
              </a:path>
            </a:pathLst>
          </a:custGeom>
          <a:solidFill>
            <a:srgbClr val="000057"/>
          </a:solidFill>
          <a:ln w="12700">
            <a:solidFill>
              <a:srgbClr val="000057">
                <a:alpha val="0"/>
              </a:srgbClr>
            </a:solidFill>
            <a:prstDash val="solid"/>
          </a:ln>
        </p:spPr>
      </p:sp>
      <p:pic>
        <p:nvPicPr>
          <p:cNvPr id="25" name="Icône Tickets.Api" descr="Tickets.Api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76027" y="1863136"/>
            <a:ext cx="543154" cy="543154"/>
          </a:xfrm>
          <a:prstGeom prst="rect">
            <a:avLst/>
          </a:prstGeom>
        </p:spPr>
      </p:pic>
      <p:sp>
        <p:nvSpPr>
          <p:cNvPr id="26" name="Titre Tickets.Api"/>
          <p:cNvSpPr txBox="1"/>
          <p:nvPr/>
        </p:nvSpPr>
        <p:spPr>
          <a:xfrm>
            <a:off x="9482328" y="2852105"/>
            <a:ext cx="2130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Tickets.Api</a:t>
            </a:r>
            <a:endParaRPr lang="en-US" sz="1600" dirty="0"/>
          </a:p>
        </p:txBody>
      </p:sp>
      <p:sp>
        <p:nvSpPr>
          <p:cNvPr id="27" name="Détail Tickets.Api"/>
          <p:cNvSpPr txBox="1"/>
          <p:nvPr/>
        </p:nvSpPr>
        <p:spPr>
          <a:xfrm>
            <a:off x="9528048" y="3263585"/>
            <a:ext cx="20391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vérifie le jeton et les policies</a:t>
            </a:r>
            <a:endParaRPr lang="en-US" sz="1300" dirty="0"/>
          </a:p>
        </p:txBody>
      </p:sp>
      <p:sp>
        <p:nvSpPr>
          <p:cNvPr id="28" name="À retenir"/>
          <p:cNvSpPr/>
          <p:nvPr/>
        </p:nvSpPr>
        <p:spPr>
          <a:xfrm>
            <a:off x="548640" y="5440680"/>
            <a:ext cx="11109960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rgbClr val="E1EAF1"/>
            </a:solidFill>
            <a:prstDash val="solid"/>
          </a:ln>
        </p:spPr>
      </p:sp>
      <p:pic>
        <p:nvPicPr>
          <p:cNvPr id="29" name="Icône à retenir" descr="À retenir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7240" y="5614416"/>
            <a:ext cx="338328" cy="338328"/>
          </a:xfrm>
          <a:prstGeom prst="rect">
            <a:avLst/>
          </a:prstGeom>
        </p:spPr>
      </p:pic>
      <p:sp>
        <p:nvSpPr>
          <p:cNvPr id="30" name="Texte à retenir"/>
          <p:cNvSpPr txBox="1"/>
          <p:nvPr/>
        </p:nvSpPr>
        <p:spPr>
          <a:xfrm>
            <a:off x="1325880" y="544068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Dans le TP, le front utilise un jeton de service. En production, on propagerait l'identité de l'utilisateur, avec OpenID Connect.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ie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BLAZOR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029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Brancher l'authentification par cookie</a:t>
            </a:r>
            <a:endParaRPr lang="en-US" sz="2800" dirty="0"/>
          </a:p>
        </p:txBody>
      </p:sp>
      <p:sp>
        <p:nvSpPr>
          <p:cNvPr id="4" name="Code C#"/>
          <p:cNvSpPr/>
          <p:nvPr/>
        </p:nvSpPr>
        <p:spPr>
          <a:xfrm>
            <a:off x="548640" y="1417320"/>
            <a:ext cx="5440680" cy="3023616"/>
          </a:xfrm>
          <a:prstGeom prst="roundRect">
            <a:avLst>
              <a:gd name="adj" fmla="val 3024"/>
            </a:avLst>
          </a:prstGeom>
          <a:solidFill>
            <a:schemeClr val="tx2"/>
          </a:solidFill>
          <a:ln w="12700">
            <a:solidFill>
              <a:srgbClr val="000057"/>
            </a:solidFill>
            <a:prstDash val="solid"/>
          </a:ln>
        </p:spPr>
      </p:sp>
      <p:sp>
        <p:nvSpPr>
          <p:cNvPr id="5" name="Langage C#"/>
          <p:cNvSpPr txBox="1"/>
          <p:nvPr/>
        </p:nvSpPr>
        <p:spPr>
          <a:xfrm>
            <a:off x="777240" y="1536192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C# · Program.cs du front</a:t>
            </a:r>
            <a:endParaRPr lang="en-US" sz="1100" dirty="0"/>
          </a:p>
        </p:txBody>
      </p:sp>
      <p:sp>
        <p:nvSpPr>
          <p:cNvPr id="6" name="Contenu C#"/>
          <p:cNvSpPr txBox="1"/>
          <p:nvPr/>
        </p:nvSpPr>
        <p:spPr>
          <a:xfrm>
            <a:off x="777240" y="1856232"/>
            <a:ext cx="5074920" cy="2474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builder.Services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.AddAuthentication(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CookieAuthenticationDefaults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.AuthenticationScheme)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.AddCookie(o =&gt;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o.LoginPath = "/account/login");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builder.Services.AddAuthorization();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9DB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l'utilisateur, pour tous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9DB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les composants, en cascade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builder.Services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.AddCascadingAuthenticationState();</a:t>
            </a:r>
            <a:endParaRPr lang="en-US" sz="1300" dirty="0"/>
          </a:p>
        </p:txBody>
      </p:sp>
      <p:sp>
        <p:nvSpPr>
          <p:cNvPr id="7" name="Code C#"/>
          <p:cNvSpPr/>
          <p:nvPr/>
        </p:nvSpPr>
        <p:spPr>
          <a:xfrm>
            <a:off x="6217920" y="1417320"/>
            <a:ext cx="5440680" cy="2633980"/>
          </a:xfrm>
          <a:prstGeom prst="roundRect">
            <a:avLst>
              <a:gd name="adj" fmla="val 3472"/>
            </a:avLst>
          </a:prstGeom>
          <a:solidFill>
            <a:schemeClr val="tx2"/>
          </a:solidFill>
          <a:ln w="12700">
            <a:solidFill>
              <a:srgbClr val="000057"/>
            </a:solidFill>
            <a:prstDash val="solid"/>
          </a:ln>
        </p:spPr>
      </p:sp>
      <p:sp>
        <p:nvSpPr>
          <p:cNvPr id="8" name="Langage C#"/>
          <p:cNvSpPr txBox="1"/>
          <p:nvPr/>
        </p:nvSpPr>
        <p:spPr>
          <a:xfrm>
            <a:off x="6446520" y="1536192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C# · la page de connexion</a:t>
            </a:r>
            <a:endParaRPr lang="en-US" sz="1100" dirty="0"/>
          </a:p>
        </p:txBody>
      </p:sp>
      <p:sp>
        <p:nvSpPr>
          <p:cNvPr id="9" name="Contenu C#"/>
          <p:cNvSpPr txBox="1"/>
          <p:nvPr/>
        </p:nvSpPr>
        <p:spPr>
          <a:xfrm>
            <a:off x="6446520" y="1856232"/>
            <a:ext cx="5074920" cy="2085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9DB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rendue en Static SSR : elle a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9DB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besoin de HttpContext pour écrire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9DB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le cookie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Claim[] claims = [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new(ClaimTypes.Name, user.Name),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 user.Roles.Select(r =&gt;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new Claim(ClaimTypes.Role, r))];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principal = new ClaimsPrincipal(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new ClaimsIdentity(claims, "Cookies"));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HttpContext.SignInAsync(principal);</a:t>
            </a:r>
            <a:endParaRPr lang="en-US" sz="1300" dirty="0"/>
          </a:p>
        </p:txBody>
      </p:sp>
      <p:sp>
        <p:nvSpPr>
          <p:cNvPr id="10" name="À retenir"/>
          <p:cNvSpPr/>
          <p:nvPr/>
        </p:nvSpPr>
        <p:spPr>
          <a:xfrm>
            <a:off x="548640" y="5440680"/>
            <a:ext cx="11109960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rgbClr val="E1EAF1"/>
            </a:solidFill>
            <a:prstDash val="solid"/>
          </a:ln>
        </p:spPr>
      </p:sp>
      <p:pic>
        <p:nvPicPr>
          <p:cNvPr id="11" name="Icône à retenir" descr="À reteni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614416"/>
            <a:ext cx="338328" cy="338328"/>
          </a:xfrm>
          <a:prstGeom prst="rect">
            <a:avLst/>
          </a:prstGeom>
        </p:spPr>
      </p:pic>
      <p:sp>
        <p:nvSpPr>
          <p:cNvPr id="12" name="Texte à retenir"/>
          <p:cNvSpPr txBox="1"/>
          <p:nvPr/>
        </p:nvSpPr>
        <p:spPr>
          <a:xfrm>
            <a:off x="1325880" y="544068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La connexion se fait en Static SSR : un composant interactif n'a pas de </a:t>
            </a:r>
            <a:r>
              <a:rPr lang="en-US" sz="15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HttpContext</a:t>
            </a:r>
            <a:r>
              <a:rPr lang="en-US" sz="1500" dirty="0">
                <a:solidFill>
                  <a:schemeClr val="tx2"/>
                </a:solidFill>
              </a:rPr>
              <a:t> et ne peut pas écrire de cookie.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ie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BLAZOR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029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Afficher selon l'utilisateur, protéger une page</a:t>
            </a:r>
            <a:endParaRPr lang="en-US" sz="2800" dirty="0"/>
          </a:p>
        </p:txBody>
      </p:sp>
      <p:sp>
        <p:nvSpPr>
          <p:cNvPr id="4" name="Code Razor"/>
          <p:cNvSpPr/>
          <p:nvPr/>
        </p:nvSpPr>
        <p:spPr>
          <a:xfrm>
            <a:off x="548640" y="1417320"/>
            <a:ext cx="5440680" cy="3023616"/>
          </a:xfrm>
          <a:prstGeom prst="roundRect">
            <a:avLst>
              <a:gd name="adj" fmla="val 3024"/>
            </a:avLst>
          </a:prstGeom>
          <a:solidFill>
            <a:schemeClr val="tx2"/>
          </a:solidFill>
          <a:ln w="12700">
            <a:solidFill>
              <a:srgbClr val="000057"/>
            </a:solidFill>
            <a:prstDash val="solid"/>
          </a:ln>
        </p:spPr>
      </p:sp>
      <p:sp>
        <p:nvSpPr>
          <p:cNvPr id="5" name="Langage Razor"/>
          <p:cNvSpPr txBox="1"/>
          <p:nvPr/>
        </p:nvSpPr>
        <p:spPr>
          <a:xfrm>
            <a:off x="777240" y="1536192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C# · NavMenu.razor</a:t>
            </a:r>
            <a:endParaRPr lang="en-US" sz="1100" dirty="0"/>
          </a:p>
        </p:txBody>
      </p:sp>
      <p:sp>
        <p:nvSpPr>
          <p:cNvPr id="6" name="Contenu Razor"/>
          <p:cNvSpPr txBox="1"/>
          <p:nvPr/>
        </p:nvSpPr>
        <p:spPr>
          <a:xfrm>
            <a:off x="777240" y="1856232"/>
            <a:ext cx="5074920" cy="2474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&lt;AuthorizeView&gt;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&lt;Authorized&gt;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Hello, @context.User.Identity?.Name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&lt;AuthorizeView Roles="admin"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Context="admin"&gt;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&lt;span&gt;administrator&lt;/span&gt;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&lt;/AuthorizeView&gt;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&lt;/Authorized&gt;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&lt;NotAuthorized&gt;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&lt;a href="account/login"&gt;Log in&lt;/a&gt;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&lt;/NotAuthorized&gt;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&lt;/AuthorizeView&gt;</a:t>
            </a:r>
            <a:endParaRPr lang="en-US" sz="1300" dirty="0"/>
          </a:p>
        </p:txBody>
      </p:sp>
      <p:sp>
        <p:nvSpPr>
          <p:cNvPr id="7" name="Code Razor"/>
          <p:cNvSpPr/>
          <p:nvPr/>
        </p:nvSpPr>
        <p:spPr>
          <a:xfrm>
            <a:off x="6217920" y="1417320"/>
            <a:ext cx="5440680" cy="2828798"/>
          </a:xfrm>
          <a:prstGeom prst="roundRect">
            <a:avLst>
              <a:gd name="adj" fmla="val 3232"/>
            </a:avLst>
          </a:prstGeom>
          <a:solidFill>
            <a:schemeClr val="tx2"/>
          </a:solidFill>
          <a:ln w="12700">
            <a:solidFill>
              <a:srgbClr val="000057"/>
            </a:solidFill>
            <a:prstDash val="solid"/>
          </a:ln>
        </p:spPr>
      </p:sp>
      <p:sp>
        <p:nvSpPr>
          <p:cNvPr id="8" name="Langage Razor"/>
          <p:cNvSpPr txBox="1"/>
          <p:nvPr/>
        </p:nvSpPr>
        <p:spPr>
          <a:xfrm>
            <a:off x="6446520" y="1536192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C# · NewTicket.razor et Routes</a:t>
            </a:r>
            <a:endParaRPr lang="en-US" sz="1100" dirty="0"/>
          </a:p>
        </p:txBody>
      </p:sp>
      <p:sp>
        <p:nvSpPr>
          <p:cNvPr id="9" name="Contenu Razor"/>
          <p:cNvSpPr txBox="1"/>
          <p:nvPr/>
        </p:nvSpPr>
        <p:spPr>
          <a:xfrm>
            <a:off x="6446520" y="1856232"/>
            <a:ext cx="5074920" cy="2280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@page "/tickets/new"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@attribute [Authorize]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9DB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@* Routes.razor : *@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&lt;AuthorizeRouteView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RouteData="routeData"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DefaultLayout="typeof(MainLayout)"&gt;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&lt;NotAuthorized&gt;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&lt;p&gt;Access denied.&lt;/p&gt;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&lt;/NotAuthorized&gt;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&lt;/AuthorizeRouteView&gt;</a:t>
            </a:r>
            <a:endParaRPr lang="en-US" sz="1300" dirty="0"/>
          </a:p>
        </p:txBody>
      </p:sp>
      <p:sp>
        <p:nvSpPr>
          <p:cNvPr id="10" name="À retenir"/>
          <p:cNvSpPr/>
          <p:nvPr/>
        </p:nvSpPr>
        <p:spPr>
          <a:xfrm>
            <a:off x="548640" y="5440680"/>
            <a:ext cx="11109960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rgbClr val="E1EAF1"/>
            </a:solidFill>
            <a:prstDash val="solid"/>
          </a:ln>
        </p:spPr>
      </p:sp>
      <p:pic>
        <p:nvPicPr>
          <p:cNvPr id="11" name="Icône à retenir" descr="À reteni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614416"/>
            <a:ext cx="338328" cy="338328"/>
          </a:xfrm>
          <a:prstGeom prst="rect">
            <a:avLst/>
          </a:prstGeom>
        </p:spPr>
      </p:pic>
      <p:sp>
        <p:nvSpPr>
          <p:cNvPr id="12" name="Texte à retenir"/>
          <p:cNvSpPr txBox="1"/>
          <p:nvPr/>
        </p:nvSpPr>
        <p:spPr>
          <a:xfrm>
            <a:off x="1325880" y="544068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AuthorizeView</a:t>
            </a:r>
            <a:r>
              <a:rPr lang="en-US" sz="1500" dirty="0">
                <a:solidFill>
                  <a:schemeClr val="tx2"/>
                </a:solidFill>
              </a:rPr>
              <a:t> cache, mais ne protège pas : c'est </a:t>
            </a:r>
            <a:r>
              <a:rPr lang="en-US" sz="15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[Authorize]</a:t>
            </a:r>
            <a:r>
              <a:rPr lang="en-US" sz="1500" dirty="0">
                <a:solidFill>
                  <a:schemeClr val="tx2"/>
                </a:solidFill>
              </a:rPr>
              <a:t> (et l'API) qui bloque. Ne jamais faire confiance au seul affichage.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ie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BLAZOR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029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Appeler l'API avec un jeton</a:t>
            </a:r>
            <a:endParaRPr lang="en-US" sz="2800" dirty="0"/>
          </a:p>
        </p:txBody>
      </p:sp>
      <p:sp>
        <p:nvSpPr>
          <p:cNvPr id="4" name="Points"/>
          <p:cNvSpPr txBox="1"/>
          <p:nvPr/>
        </p:nvSpPr>
        <p:spPr>
          <a:xfrm>
            <a:off x="548640" y="1463040"/>
            <a:ext cx="38404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Un </a:t>
            </a: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DelegatingHandler</a:t>
            </a:r>
            <a:r>
              <a:rPr lang="en-US" sz="1500" dirty="0">
                <a:solidFill>
                  <a:schemeClr val="tx1"/>
                </a:solidFill>
              </a:rPr>
              <a:t> s'insère dans le pipeline d'un </a:t>
            </a: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HttpClient</a:t>
            </a:r>
            <a:r>
              <a:rPr lang="en-US" sz="1500" dirty="0">
                <a:solidFill>
                  <a:schemeClr val="tx1"/>
                </a:solidFill>
              </a:rPr>
              <a:t>, comme un middleware côté client.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Il ajoute l'en-tête </a:t>
            </a: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Authorization: Bearer …</a:t>
            </a:r>
            <a:r>
              <a:rPr lang="en-US" sz="1500" dirty="0">
                <a:solidFill>
                  <a:schemeClr val="tx1"/>
                </a:solidFill>
              </a:rPr>
              <a:t> à chaque requête.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On le branche sur le client typé avec </a:t>
            </a: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AddHttpMessageHandler</a:t>
            </a:r>
            <a:r>
              <a:rPr lang="en-US" sz="1500" dirty="0">
                <a:solidFill>
                  <a:schemeClr val="tx1"/>
                </a:solidFill>
              </a:rPr>
              <a:t>.</a:t>
            </a:r>
            <a:endParaRPr lang="en-US" sz="1500" dirty="0"/>
          </a:p>
        </p:txBody>
      </p:sp>
      <p:sp>
        <p:nvSpPr>
          <p:cNvPr id="5" name="Code C#"/>
          <p:cNvSpPr/>
          <p:nvPr/>
        </p:nvSpPr>
        <p:spPr>
          <a:xfrm>
            <a:off x="4663440" y="1417320"/>
            <a:ext cx="6995160" cy="3802888"/>
          </a:xfrm>
          <a:prstGeom prst="roundRect">
            <a:avLst>
              <a:gd name="adj" fmla="val 2404"/>
            </a:avLst>
          </a:prstGeom>
          <a:solidFill>
            <a:schemeClr val="tx2"/>
          </a:solidFill>
          <a:ln w="12700">
            <a:solidFill>
              <a:srgbClr val="000057"/>
            </a:solidFill>
            <a:prstDash val="solid"/>
          </a:ln>
        </p:spPr>
      </p:sp>
      <p:sp>
        <p:nvSpPr>
          <p:cNvPr id="6" name="Langage C#"/>
          <p:cNvSpPr txBox="1"/>
          <p:nvPr/>
        </p:nvSpPr>
        <p:spPr>
          <a:xfrm>
            <a:off x="4892040" y="1536192"/>
            <a:ext cx="6537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C#</a:t>
            </a:r>
            <a:endParaRPr lang="en-US" sz="1100" dirty="0"/>
          </a:p>
        </p:txBody>
      </p:sp>
      <p:sp>
        <p:nvSpPr>
          <p:cNvPr id="7" name="Contenu C#"/>
          <p:cNvSpPr txBox="1"/>
          <p:nvPr/>
        </p:nvSpPr>
        <p:spPr>
          <a:xfrm>
            <a:off x="4892040" y="1856232"/>
            <a:ext cx="6629400" cy="325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sealed class ApiTokenHandler(IConfiguration config)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: DelegatingHandler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protected override Task&lt;HttpResponseMessage&gt; SendAsync(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HttpRequestMessage request, CancellationToken ct)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(config["TicketsApi:Token"] is { Length: &gt; 0 } token)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request.Headers.Authorization =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new AuthenticationHeaderValue("Bearer", token);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base.SendAsync(request, ct);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builder.Services.AddTransient&lt;ApiTokenHandler&gt;();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builder.Services.AddHttpClient&lt;ITicketsClient, TicketsClient&gt;()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.AddHttpMessageHandler&lt;ApiTokenHandler&gt;();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nd hexagone"/>
          <p:cNvSpPr/>
          <p:nvPr/>
        </p:nvSpPr>
        <p:spPr>
          <a:xfrm>
            <a:off x="822960" y="1965960"/>
            <a:ext cx="3108960" cy="2692438"/>
          </a:xfrm>
          <a:custGeom>
            <a:avLst/>
            <a:gdLst/>
            <a:ahLst/>
            <a:cxnLst/>
            <a:rect l="l" t="t" r="r" b="b"/>
            <a:pathLst>
              <a:path w="3108960" h="2692438">
                <a:moveTo>
                  <a:pt x="0" y="1346219"/>
                </a:moveTo>
                <a:lnTo>
                  <a:pt x="777240" y="0"/>
                </a:lnTo>
                <a:lnTo>
                  <a:pt x="2331720" y="0"/>
                </a:lnTo>
                <a:lnTo>
                  <a:pt x="3108960" y="1346219"/>
                </a:lnTo>
                <a:lnTo>
                  <a:pt x="2331720" y="2692438"/>
                </a:lnTo>
                <a:lnTo>
                  <a:pt x="777240" y="2692438"/>
                </a:lnTo>
                <a:close/>
              </a:path>
            </a:pathLst>
          </a:custGeom>
          <a:solidFill>
            <a:srgbClr val="FFFF00"/>
          </a:solidFill>
          <a:ln w="12700">
            <a:solidFill>
              <a:srgbClr val="FFFF00">
                <a:alpha val="0"/>
              </a:srgbClr>
            </a:solidFill>
            <a:prstDash val="solid"/>
          </a:ln>
        </p:spPr>
      </p:sp>
      <p:sp>
        <p:nvSpPr>
          <p:cNvPr id="3" name="Numéro de partie"/>
          <p:cNvSpPr txBox="1"/>
          <p:nvPr/>
        </p:nvSpPr>
        <p:spPr>
          <a:xfrm>
            <a:off x="822960" y="1965960"/>
            <a:ext cx="3108960" cy="2688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chemeClr val="tx2"/>
                </a:solidFill>
              </a:rPr>
              <a:t>3</a:t>
            </a:r>
            <a:endParaRPr lang="en-US" sz="7200" dirty="0"/>
          </a:p>
        </p:txBody>
      </p:sp>
      <p:sp>
        <p:nvSpPr>
          <p:cNvPr id="4" name="Hexagone décoratif"/>
          <p:cNvSpPr/>
          <p:nvPr/>
        </p:nvSpPr>
        <p:spPr>
          <a:xfrm>
            <a:off x="3429000" y="1234440"/>
            <a:ext cx="914400" cy="791894"/>
          </a:xfrm>
          <a:custGeom>
            <a:avLst/>
            <a:gdLst/>
            <a:ahLst/>
            <a:cxnLst/>
            <a:rect l="l" t="t" r="r" b="b"/>
            <a:pathLst>
              <a:path w="914400" h="791894">
                <a:moveTo>
                  <a:pt x="0" y="395947"/>
                </a:moveTo>
                <a:lnTo>
                  <a:pt x="228600" y="0"/>
                </a:lnTo>
                <a:lnTo>
                  <a:pt x="685800" y="0"/>
                </a:lnTo>
                <a:lnTo>
                  <a:pt x="914400" y="395947"/>
                </a:lnTo>
                <a:lnTo>
                  <a:pt x="685800" y="791894"/>
                </a:lnTo>
                <a:lnTo>
                  <a:pt x="228600" y="791894"/>
                </a:lnTo>
                <a:close/>
              </a:path>
            </a:pathLst>
          </a:custGeom>
          <a:solidFill>
            <a:srgbClr val="001793">
              <a:alpha val="70000"/>
            </a:srgbClr>
          </a:solidFill>
          <a:ln w="12700">
            <a:solidFill>
              <a:srgbClr val="001793">
                <a:alpha val="0"/>
              </a:srgbClr>
            </a:solidFill>
            <a:prstDash val="solid"/>
          </a:ln>
        </p:spPr>
      </p:sp>
      <p:sp>
        <p:nvSpPr>
          <p:cNvPr id="5" name="Hexagone décoratif"/>
          <p:cNvSpPr/>
          <p:nvPr/>
        </p:nvSpPr>
        <p:spPr>
          <a:xfrm>
            <a:off x="320040" y="4526280"/>
            <a:ext cx="1097280" cy="950272"/>
          </a:xfrm>
          <a:custGeom>
            <a:avLst/>
            <a:gdLst/>
            <a:ahLst/>
            <a:cxnLst/>
            <a:rect l="l" t="t" r="r" b="b"/>
            <a:pathLst>
              <a:path w="1097280" h="950272">
                <a:moveTo>
                  <a:pt x="0" y="475136"/>
                </a:moveTo>
                <a:lnTo>
                  <a:pt x="274320" y="0"/>
                </a:lnTo>
                <a:lnTo>
                  <a:pt x="822960" y="0"/>
                </a:lnTo>
                <a:lnTo>
                  <a:pt x="1097280" y="475136"/>
                </a:lnTo>
                <a:lnTo>
                  <a:pt x="822960" y="950272"/>
                </a:lnTo>
                <a:lnTo>
                  <a:pt x="274320" y="950272"/>
                </a:lnTo>
                <a:close/>
              </a:path>
            </a:pathLst>
          </a:custGeom>
          <a:solidFill>
            <a:srgbClr val="000D78">
              <a:alpha val="90000"/>
            </a:srgbClr>
          </a:solidFill>
          <a:ln w="12700">
            <a:solidFill>
              <a:srgbClr val="000D78">
                <a:alpha val="0"/>
              </a:srgbClr>
            </a:solidFill>
            <a:prstDash val="solid"/>
          </a:ln>
        </p:spPr>
      </p:sp>
      <p:sp>
        <p:nvSpPr>
          <p:cNvPr id="6" name="Hexagone décoratif"/>
          <p:cNvSpPr/>
          <p:nvPr/>
        </p:nvSpPr>
        <p:spPr>
          <a:xfrm>
            <a:off x="10607040" y="640080"/>
            <a:ext cx="1280160" cy="1108651"/>
          </a:xfrm>
          <a:custGeom>
            <a:avLst/>
            <a:gdLst/>
            <a:ahLst/>
            <a:cxnLst/>
            <a:rect l="l" t="t" r="r" b="b"/>
            <a:pathLst>
              <a:path w="1280160" h="1108651">
                <a:moveTo>
                  <a:pt x="0" y="554326"/>
                </a:moveTo>
                <a:lnTo>
                  <a:pt x="320040" y="0"/>
                </a:lnTo>
                <a:lnTo>
                  <a:pt x="960120" y="0"/>
                </a:lnTo>
                <a:lnTo>
                  <a:pt x="1280160" y="554326"/>
                </a:lnTo>
                <a:lnTo>
                  <a:pt x="960120" y="1108651"/>
                </a:lnTo>
                <a:lnTo>
                  <a:pt x="320040" y="1108651"/>
                </a:lnTo>
                <a:close/>
              </a:path>
            </a:pathLst>
          </a:custGeom>
          <a:solidFill>
            <a:srgbClr val="001793">
              <a:alpha val="55000"/>
            </a:srgbClr>
          </a:solidFill>
          <a:ln w="12700">
            <a:solidFill>
              <a:srgbClr val="001793">
                <a:alpha val="0"/>
              </a:srgbClr>
            </a:solidFill>
            <a:prstDash val="solid"/>
          </a:ln>
        </p:spPr>
      </p:sp>
      <p:sp>
        <p:nvSpPr>
          <p:cNvPr id="7" name="Surtitre"/>
          <p:cNvSpPr txBox="1"/>
          <p:nvPr/>
        </p:nvSpPr>
        <p:spPr>
          <a:xfrm>
            <a:off x="4572000" y="20574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chemeClr val="accent2"/>
                </a:solidFill>
              </a:rPr>
              <a:t>PARTIE 3</a:t>
            </a:r>
            <a:endParaRPr lang="en-US" sz="1600" dirty="0"/>
          </a:p>
        </p:txBody>
      </p:sp>
      <p:sp>
        <p:nvSpPr>
          <p:cNvPr id="8" name="Text 0"/>
          <p:cNvSpPr/>
          <p:nvPr>
            <p:ph idx="100" type="title" hasCustomPrompt="1"/>
          </p:nvPr>
        </p:nvSpPr>
        <p:spPr>
          <a:xfrm>
            <a:off x="4572000" y="2514600"/>
            <a:ext cx="6949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Partager de l'état</a:t>
            </a:r>
            <a:endParaRPr lang="en-US" sz="3400" dirty="0"/>
          </a:p>
        </p:txBody>
      </p:sp>
      <p:sp>
        <p:nvSpPr>
          <p:cNvPr id="9" name="Text 0"/>
          <p:cNvSpPr/>
          <p:nvPr>
            <p:ph idx="101" type="body" hasCustomPrompt="1"/>
          </p:nvPr>
        </p:nvSpPr>
        <p:spPr>
          <a:xfrm>
            <a:off x="4572000" y="429768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Quand des composants qui ne se connaissent pas doivent rester d'accord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241280" y="61722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ie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ÉTAT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029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Deux outils, deux usages</a:t>
            </a:r>
            <a:endParaRPr lang="en-US" sz="2800" dirty="0"/>
          </a:p>
        </p:txBody>
      </p:sp>
      <p:sp>
        <p:nvSpPr>
          <p:cNvPr id="4" name="Carte Un service scoped"/>
          <p:cNvSpPr/>
          <p:nvPr/>
        </p:nvSpPr>
        <p:spPr>
          <a:xfrm>
            <a:off x="548640" y="1463040"/>
            <a:ext cx="5463540" cy="3794760"/>
          </a:xfrm>
          <a:prstGeom prst="roundRect">
            <a:avLst>
              <a:gd name="adj" fmla="val 2892"/>
            </a:avLst>
          </a:prstGeom>
          <a:solidFill>
            <a:schemeClr val="bg2"/>
          </a:solidFill>
          <a:ln w="12700">
            <a:solidFill>
              <a:srgbClr val="E1EAF1"/>
            </a:solidFill>
            <a:prstDash val="solid"/>
          </a:ln>
        </p:spPr>
      </p:sp>
      <p:sp>
        <p:nvSpPr>
          <p:cNvPr id="5" name="Pastille Un service scoped"/>
          <p:cNvSpPr/>
          <p:nvPr/>
        </p:nvSpPr>
        <p:spPr>
          <a:xfrm>
            <a:off x="822960" y="1737360"/>
            <a:ext cx="777240" cy="673110"/>
          </a:xfrm>
          <a:custGeom>
            <a:avLst/>
            <a:gdLst/>
            <a:ahLst/>
            <a:cxnLst/>
            <a:rect l="l" t="t" r="r" b="b"/>
            <a:pathLst>
              <a:path w="777240" h="673110">
                <a:moveTo>
                  <a:pt x="0" y="336555"/>
                </a:moveTo>
                <a:lnTo>
                  <a:pt x="194310" y="0"/>
                </a:lnTo>
                <a:lnTo>
                  <a:pt x="582930" y="0"/>
                </a:lnTo>
                <a:lnTo>
                  <a:pt x="777240" y="336555"/>
                </a:lnTo>
                <a:lnTo>
                  <a:pt x="582930" y="673110"/>
                </a:lnTo>
                <a:lnTo>
                  <a:pt x="194310" y="673110"/>
                </a:lnTo>
                <a:close/>
              </a:path>
            </a:pathLst>
          </a:custGeom>
          <a:solidFill>
            <a:srgbClr val="0040FF"/>
          </a:solidFill>
          <a:ln w="12700">
            <a:solidFill>
              <a:srgbClr val="0040FF">
                <a:alpha val="0"/>
              </a:srgbClr>
            </a:solidFill>
            <a:prstDash val="solid"/>
          </a:ln>
        </p:spPr>
      </p:sp>
      <p:pic>
        <p:nvPicPr>
          <p:cNvPr id="6" name="Icône Un service scoped" descr="Un service scop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1891025"/>
            <a:ext cx="365760" cy="365760"/>
          </a:xfrm>
          <a:prstGeom prst="rect">
            <a:avLst/>
          </a:prstGeom>
        </p:spPr>
      </p:pic>
      <p:sp>
        <p:nvSpPr>
          <p:cNvPr id="7" name="Titre Un service scoped"/>
          <p:cNvSpPr txBox="1"/>
          <p:nvPr/>
        </p:nvSpPr>
        <p:spPr>
          <a:xfrm>
            <a:off x="1828800" y="1719072"/>
            <a:ext cx="39547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Un service scoped</a:t>
            </a:r>
            <a:endParaRPr lang="en-US" sz="1700" dirty="0"/>
          </a:p>
        </p:txBody>
      </p:sp>
      <p:sp>
        <p:nvSpPr>
          <p:cNvPr id="8" name="Détail Un service scoped"/>
          <p:cNvSpPr txBox="1"/>
          <p:nvPr/>
        </p:nvSpPr>
        <p:spPr>
          <a:xfrm>
            <a:off x="1828800" y="2176272"/>
            <a:ext cx="39547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Une instance par circuit en mode Server (par utilisateur et par onglet), une pour toute l'appli en WebAssembly. Tous les composants qui l'injectent voient le même état.</a:t>
            </a:r>
            <a:endParaRPr lang="en-US" sz="1400" dirty="0"/>
          </a:p>
        </p:txBody>
      </p:sp>
      <p:sp>
        <p:nvSpPr>
          <p:cNvPr id="9" name="Carte Une valeur en cascade"/>
          <p:cNvSpPr/>
          <p:nvPr/>
        </p:nvSpPr>
        <p:spPr>
          <a:xfrm>
            <a:off x="6195060" y="1463040"/>
            <a:ext cx="5463540" cy="3794760"/>
          </a:xfrm>
          <a:prstGeom prst="roundRect">
            <a:avLst>
              <a:gd name="adj" fmla="val 2892"/>
            </a:avLst>
          </a:prstGeom>
          <a:solidFill>
            <a:schemeClr val="bg2"/>
          </a:solidFill>
          <a:ln w="12700">
            <a:solidFill>
              <a:srgbClr val="E1EAF1"/>
            </a:solidFill>
            <a:prstDash val="solid"/>
          </a:ln>
        </p:spPr>
      </p:sp>
      <p:sp>
        <p:nvSpPr>
          <p:cNvPr id="10" name="Pastille Une valeur en cascade"/>
          <p:cNvSpPr/>
          <p:nvPr/>
        </p:nvSpPr>
        <p:spPr>
          <a:xfrm>
            <a:off x="6469380" y="1737360"/>
            <a:ext cx="777240" cy="673110"/>
          </a:xfrm>
          <a:custGeom>
            <a:avLst/>
            <a:gdLst/>
            <a:ahLst/>
            <a:cxnLst/>
            <a:rect l="l" t="t" r="r" b="b"/>
            <a:pathLst>
              <a:path w="777240" h="673110">
                <a:moveTo>
                  <a:pt x="0" y="336555"/>
                </a:moveTo>
                <a:lnTo>
                  <a:pt x="194310" y="0"/>
                </a:lnTo>
                <a:lnTo>
                  <a:pt x="582930" y="0"/>
                </a:lnTo>
                <a:lnTo>
                  <a:pt x="777240" y="336555"/>
                </a:lnTo>
                <a:lnTo>
                  <a:pt x="582930" y="673110"/>
                </a:lnTo>
                <a:lnTo>
                  <a:pt x="194310" y="673110"/>
                </a:lnTo>
                <a:close/>
              </a:path>
            </a:pathLst>
          </a:custGeom>
          <a:solidFill>
            <a:srgbClr val="0040FF"/>
          </a:solidFill>
          <a:ln w="12700">
            <a:solidFill>
              <a:srgbClr val="0040FF">
                <a:alpha val="0"/>
              </a:srgbClr>
            </a:solidFill>
            <a:prstDash val="solid"/>
          </a:ln>
        </p:spPr>
      </p:sp>
      <p:pic>
        <p:nvPicPr>
          <p:cNvPr id="11" name="Icône Une valeur en cascade" descr="Une valeur en cascad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891025"/>
            <a:ext cx="365760" cy="365760"/>
          </a:xfrm>
          <a:prstGeom prst="rect">
            <a:avLst/>
          </a:prstGeom>
        </p:spPr>
      </p:pic>
      <p:sp>
        <p:nvSpPr>
          <p:cNvPr id="12" name="Titre Une valeur en cascade"/>
          <p:cNvSpPr txBox="1"/>
          <p:nvPr/>
        </p:nvSpPr>
        <p:spPr>
          <a:xfrm>
            <a:off x="7475220" y="1719072"/>
            <a:ext cx="39547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Une valeur en cascade</a:t>
            </a:r>
            <a:endParaRPr lang="en-US" sz="1700" dirty="0"/>
          </a:p>
        </p:txBody>
      </p:sp>
      <p:sp>
        <p:nvSpPr>
          <p:cNvPr id="13" name="Détail Une valeur en cascade"/>
          <p:cNvSpPr txBox="1"/>
          <p:nvPr/>
        </p:nvSpPr>
        <p:spPr>
          <a:xfrm>
            <a:off x="7475220" y="2176272"/>
            <a:ext cx="39547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 ancêtre la fournit avec </a:t>
            </a: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&lt;CascadingValue&gt;</a:t>
            </a:r>
            <a:r>
              <a:rPr lang="en-US" sz="1400" dirty="0">
                <a:solidFill>
                  <a:schemeClr val="tx1"/>
                </a:solidFill>
              </a:rPr>
              <a:t>, tous ses descendants la reçoivent avec </a:t>
            </a: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[CascadingParameter]</a:t>
            </a:r>
            <a:r>
              <a:rPr lang="en-US" sz="1400" dirty="0">
                <a:solidFill>
                  <a:schemeClr val="tx1"/>
                </a:solidFill>
              </a:rPr>
              <a:t>. Ils se ré-affichent quand elle change.</a:t>
            </a:r>
            <a:endParaRPr lang="en-US" sz="1400" dirty="0"/>
          </a:p>
        </p:txBody>
      </p:sp>
      <p:sp>
        <p:nvSpPr>
          <p:cNvPr id="14" name="À retenir"/>
          <p:cNvSpPr/>
          <p:nvPr/>
        </p:nvSpPr>
        <p:spPr>
          <a:xfrm>
            <a:off x="548640" y="5440680"/>
            <a:ext cx="11109960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rgbClr val="E1EAF1"/>
            </a:solidFill>
            <a:prstDash val="solid"/>
          </a:ln>
        </p:spPr>
      </p:sp>
      <p:pic>
        <p:nvPicPr>
          <p:cNvPr id="15" name="Icône à retenir" descr="À reteni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614416"/>
            <a:ext cx="338328" cy="338328"/>
          </a:xfrm>
          <a:prstGeom prst="rect">
            <a:avLst/>
          </a:prstGeom>
        </p:spPr>
      </p:pic>
      <p:sp>
        <p:nvSpPr>
          <p:cNvPr id="16" name="Texte à retenir"/>
          <p:cNvSpPr txBox="1"/>
          <p:nvPr/>
        </p:nvSpPr>
        <p:spPr>
          <a:xfrm>
            <a:off x="1325880" y="544068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Jamais de singleton pour l'état d'un utilisateur : en mode Server, il serait partagé entre tous les utilisateurs du serveur.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ie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ÉTAT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029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Un état partagé qui prévient de ses changements</a:t>
            </a:r>
            <a:endParaRPr lang="en-US" sz="2800" dirty="0"/>
          </a:p>
        </p:txBody>
      </p:sp>
      <p:sp>
        <p:nvSpPr>
          <p:cNvPr id="4" name="Code C#"/>
          <p:cNvSpPr/>
          <p:nvPr/>
        </p:nvSpPr>
        <p:spPr>
          <a:xfrm>
            <a:off x="548640" y="1417320"/>
            <a:ext cx="5440680" cy="3608070"/>
          </a:xfrm>
          <a:prstGeom prst="roundRect">
            <a:avLst>
              <a:gd name="adj" fmla="val 2534"/>
            </a:avLst>
          </a:prstGeom>
          <a:solidFill>
            <a:schemeClr val="tx2"/>
          </a:solidFill>
          <a:ln w="12700">
            <a:solidFill>
              <a:srgbClr val="000057"/>
            </a:solidFill>
            <a:prstDash val="solid"/>
          </a:ln>
        </p:spPr>
      </p:sp>
      <p:sp>
        <p:nvSpPr>
          <p:cNvPr id="5" name="Langage C#"/>
          <p:cNvSpPr txBox="1"/>
          <p:nvPr/>
        </p:nvSpPr>
        <p:spPr>
          <a:xfrm>
            <a:off x="777240" y="1536192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C# · FavoritesState.cs</a:t>
            </a:r>
            <a:endParaRPr lang="en-US" sz="1100" dirty="0"/>
          </a:p>
        </p:txBody>
      </p:sp>
      <p:sp>
        <p:nvSpPr>
          <p:cNvPr id="6" name="Contenu C#"/>
          <p:cNvSpPr txBox="1"/>
          <p:nvPr/>
        </p:nvSpPr>
        <p:spPr>
          <a:xfrm>
            <a:off x="777240" y="1856232"/>
            <a:ext cx="5074920" cy="3059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sealed class FavoritesState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private readonly HashSet&lt;int&gt; _ids = [];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event Action? Changed;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int Count =&gt; _ids.Count;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bool IsFavorite(int id) =&gt;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_ids.Contains(id);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void Toggle(int id)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(!_ids.Remove(id)) _ids.Add(id);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Changed?.Invoke();  // après le changement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7" name="Code Razor"/>
          <p:cNvSpPr/>
          <p:nvPr/>
        </p:nvSpPr>
        <p:spPr>
          <a:xfrm>
            <a:off x="6217920" y="1417320"/>
            <a:ext cx="5440680" cy="3608070"/>
          </a:xfrm>
          <a:prstGeom prst="roundRect">
            <a:avLst>
              <a:gd name="adj" fmla="val 2534"/>
            </a:avLst>
          </a:prstGeom>
          <a:solidFill>
            <a:schemeClr val="tx2"/>
          </a:solidFill>
          <a:ln w="12700">
            <a:solidFill>
              <a:srgbClr val="000057"/>
            </a:solidFill>
            <a:prstDash val="solid"/>
          </a:ln>
        </p:spPr>
      </p:sp>
      <p:sp>
        <p:nvSpPr>
          <p:cNvPr id="8" name="Langage Razor"/>
          <p:cNvSpPr txBox="1"/>
          <p:nvPr/>
        </p:nvSpPr>
        <p:spPr>
          <a:xfrm>
            <a:off x="6446520" y="1536192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C# · FavoritesCounter.razor</a:t>
            </a:r>
            <a:endParaRPr lang="en-US" sz="1100" dirty="0"/>
          </a:p>
        </p:txBody>
      </p:sp>
      <p:sp>
        <p:nvSpPr>
          <p:cNvPr id="9" name="Contenu Razor"/>
          <p:cNvSpPr txBox="1"/>
          <p:nvPr/>
        </p:nvSpPr>
        <p:spPr>
          <a:xfrm>
            <a:off x="6446520" y="1856232"/>
            <a:ext cx="5074920" cy="3059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@implements IDisposable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@inject FavoritesState Favorites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&lt;span&gt;★ @Favorites.Count&lt;/span&gt;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@code {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protected override void OnInitialized() =&gt;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Favorites.Changed += Refresh;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private void Refresh() =&gt;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InvokeAsync(StateHasChanged);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void Dispose() =&gt;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Favorites.Changed -= Refresh;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0" name="À retenir"/>
          <p:cNvSpPr/>
          <p:nvPr/>
        </p:nvSpPr>
        <p:spPr>
          <a:xfrm>
            <a:off x="548640" y="5440680"/>
            <a:ext cx="11109960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rgbClr val="E1EAF1"/>
            </a:solidFill>
            <a:prstDash val="solid"/>
          </a:ln>
        </p:spPr>
      </p:sp>
      <p:pic>
        <p:nvPicPr>
          <p:cNvPr id="11" name="Icône à retenir" descr="À reteni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614416"/>
            <a:ext cx="338328" cy="338328"/>
          </a:xfrm>
          <a:prstGeom prst="rect">
            <a:avLst/>
          </a:prstGeom>
        </p:spPr>
      </p:pic>
      <p:sp>
        <p:nvSpPr>
          <p:cNvPr id="12" name="Texte à retenir"/>
          <p:cNvSpPr txBox="1"/>
          <p:nvPr/>
        </p:nvSpPr>
        <p:spPr>
          <a:xfrm>
            <a:off x="1325880" y="544068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Un composant qui s'abonne doit se désabonner dans </a:t>
            </a:r>
            <a:r>
              <a:rPr lang="en-US" sz="15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Dispose</a:t>
            </a:r>
            <a:r>
              <a:rPr lang="en-US" sz="1500" dirty="0">
                <a:solidFill>
                  <a:schemeClr val="tx2"/>
                </a:solidFill>
              </a:rPr>
              <a:t>, sinon il fuit et se ré-affiche alors qu'il n'est plus là.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ie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PRÉRENDU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029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[PersistentState] : charger une seule fois</a:t>
            </a:r>
            <a:endParaRPr lang="en-US" sz="2800" dirty="0"/>
          </a:p>
        </p:txBody>
      </p:sp>
      <p:sp>
        <p:nvSpPr>
          <p:cNvPr id="4" name="Accroche"/>
          <p:cNvSpPr txBox="1"/>
          <p:nvPr/>
        </p:nvSpPr>
        <p:spPr>
          <a:xfrm>
            <a:off x="548640" y="146304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Au prérendu, la liste est chargée sur le serveur ; sans rien faire, le rendu interactif la recharge.</a:t>
            </a:r>
            <a:endParaRPr lang="en-US" sz="1700" dirty="0"/>
          </a:p>
        </p:txBody>
      </p:sp>
      <p:sp>
        <p:nvSpPr>
          <p:cNvPr id="5" name="Points"/>
          <p:cNvSpPr txBox="1"/>
          <p:nvPr/>
        </p:nvSpPr>
        <p:spPr>
          <a:xfrm>
            <a:off x="548640" y="2606040"/>
            <a:ext cx="4206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[PersistentState]</a:t>
            </a:r>
            <a:r>
              <a:rPr lang="en-US" sz="1500" dirty="0">
                <a:solidFill>
                  <a:schemeClr val="tx1"/>
                </a:solidFill>
              </a:rPr>
              <a:t> (.NET 10) sérialise la propriété dans la page prérendue.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Le rendu interactif la retrouve : </a:t>
            </a: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??=</a:t>
            </a:r>
            <a:r>
              <a:rPr lang="en-US" sz="1500" dirty="0">
                <a:solidFill>
                  <a:schemeClr val="tx1"/>
                </a:solidFill>
              </a:rPr>
              <a:t> ne recharge que si elle est vide.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Résultat : un seul appel à l'API par affichage.</a:t>
            </a:r>
            <a:endParaRPr lang="en-US" sz="1500" dirty="0"/>
          </a:p>
        </p:txBody>
      </p:sp>
      <p:sp>
        <p:nvSpPr>
          <p:cNvPr id="6" name="Code C#"/>
          <p:cNvSpPr/>
          <p:nvPr/>
        </p:nvSpPr>
        <p:spPr>
          <a:xfrm>
            <a:off x="5029200" y="1417320"/>
            <a:ext cx="6629400" cy="2244344"/>
          </a:xfrm>
          <a:prstGeom prst="roundRect">
            <a:avLst>
              <a:gd name="adj" fmla="val 4074"/>
            </a:avLst>
          </a:prstGeom>
          <a:solidFill>
            <a:schemeClr val="tx2"/>
          </a:solidFill>
          <a:ln w="12700">
            <a:solidFill>
              <a:srgbClr val="000057"/>
            </a:solidFill>
            <a:prstDash val="solid"/>
          </a:ln>
        </p:spPr>
      </p:sp>
      <p:sp>
        <p:nvSpPr>
          <p:cNvPr id="7" name="Langage C#"/>
          <p:cNvSpPr txBox="1"/>
          <p:nvPr/>
        </p:nvSpPr>
        <p:spPr>
          <a:xfrm>
            <a:off x="5257800" y="1536192"/>
            <a:ext cx="6172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C#</a:t>
            </a:r>
            <a:endParaRPr lang="en-US" sz="1100" dirty="0"/>
          </a:p>
        </p:txBody>
      </p:sp>
      <p:sp>
        <p:nvSpPr>
          <p:cNvPr id="8" name="Contenu C#"/>
          <p:cNvSpPr txBox="1"/>
          <p:nvPr/>
        </p:nvSpPr>
        <p:spPr>
          <a:xfrm>
            <a:off x="5257800" y="1856232"/>
            <a:ext cx="6263640" cy="1695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[PersistentState]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IReadOnlyList&lt;TicketDto&gt;? Tickets { get; set; }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protected override async Task OnInitializedAsync()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9DB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vide au prérendu, remplie ensuite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Tickets ??= await Client.GetTicketsAsync();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9" name="À retenir"/>
          <p:cNvSpPr/>
          <p:nvPr/>
        </p:nvSpPr>
        <p:spPr>
          <a:xfrm>
            <a:off x="548640" y="5440680"/>
            <a:ext cx="11109960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rgbClr val="E1EAF1"/>
            </a:solidFill>
            <a:prstDash val="solid"/>
          </a:ln>
        </p:spPr>
      </p:sp>
      <p:pic>
        <p:nvPicPr>
          <p:cNvPr id="10" name="Icône à retenir" descr="À reteni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614416"/>
            <a:ext cx="338328" cy="338328"/>
          </a:xfrm>
          <a:prstGeom prst="rect">
            <a:avLst/>
          </a:prstGeom>
        </p:spPr>
      </p:pic>
      <p:sp>
        <p:nvSpPr>
          <p:cNvPr id="11" name="Texte à retenir"/>
          <p:cNvSpPr txBox="1"/>
          <p:nvPr/>
        </p:nvSpPr>
        <p:spPr>
          <a:xfrm>
            <a:off x="1325880" y="544068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Dans le source de la page, un commentaire </a:t>
            </a:r>
            <a:r>
              <a:rPr lang="en-US" sz="15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&lt;!--Blazor-Server-Component-State:…--&gt;</a:t>
            </a:r>
            <a:r>
              <a:rPr lang="en-US" sz="1500" dirty="0">
                <a:solidFill>
                  <a:schemeClr val="tx2"/>
                </a:solidFill>
              </a:rPr>
              <a:t> transporte cet état, chiffré.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ie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RÉUTILISER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029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Une bibliothèque de composants</a:t>
            </a:r>
            <a:endParaRPr lang="en-US" sz="2800" dirty="0"/>
          </a:p>
        </p:txBody>
      </p:sp>
      <p:sp>
        <p:nvSpPr>
          <p:cNvPr id="4" name="Carte Razor Class Library"/>
          <p:cNvSpPr/>
          <p:nvPr/>
        </p:nvSpPr>
        <p:spPr>
          <a:xfrm>
            <a:off x="548640" y="1463040"/>
            <a:ext cx="3581400" cy="3794760"/>
          </a:xfrm>
          <a:prstGeom prst="roundRect">
            <a:avLst>
              <a:gd name="adj" fmla="val 3064"/>
            </a:avLst>
          </a:prstGeom>
          <a:solidFill>
            <a:schemeClr val="bg2"/>
          </a:solidFill>
          <a:ln w="12700">
            <a:solidFill>
              <a:srgbClr val="E1EAF1"/>
            </a:solidFill>
            <a:prstDash val="solid"/>
          </a:ln>
        </p:spPr>
      </p:sp>
      <p:sp>
        <p:nvSpPr>
          <p:cNvPr id="5" name="Pastille Razor Class Library"/>
          <p:cNvSpPr/>
          <p:nvPr/>
        </p:nvSpPr>
        <p:spPr>
          <a:xfrm>
            <a:off x="822960" y="1737360"/>
            <a:ext cx="777240" cy="673110"/>
          </a:xfrm>
          <a:custGeom>
            <a:avLst/>
            <a:gdLst/>
            <a:ahLst/>
            <a:cxnLst/>
            <a:rect l="l" t="t" r="r" b="b"/>
            <a:pathLst>
              <a:path w="777240" h="673110">
                <a:moveTo>
                  <a:pt x="0" y="336555"/>
                </a:moveTo>
                <a:lnTo>
                  <a:pt x="194310" y="0"/>
                </a:lnTo>
                <a:lnTo>
                  <a:pt x="582930" y="0"/>
                </a:lnTo>
                <a:lnTo>
                  <a:pt x="777240" y="336555"/>
                </a:lnTo>
                <a:lnTo>
                  <a:pt x="582930" y="673110"/>
                </a:lnTo>
                <a:lnTo>
                  <a:pt x="194310" y="673110"/>
                </a:lnTo>
                <a:close/>
              </a:path>
            </a:pathLst>
          </a:custGeom>
          <a:solidFill>
            <a:srgbClr val="0040FF"/>
          </a:solidFill>
          <a:ln w="12700">
            <a:solidFill>
              <a:srgbClr val="0040FF">
                <a:alpha val="0"/>
              </a:srgbClr>
            </a:solidFill>
            <a:prstDash val="solid"/>
          </a:ln>
        </p:spPr>
      </p:sp>
      <p:pic>
        <p:nvPicPr>
          <p:cNvPr id="6" name="Icône Razor Class Library" descr="Razor Class Librar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1891025"/>
            <a:ext cx="365760" cy="365760"/>
          </a:xfrm>
          <a:prstGeom prst="rect">
            <a:avLst/>
          </a:prstGeom>
        </p:spPr>
      </p:pic>
      <p:sp>
        <p:nvSpPr>
          <p:cNvPr id="7" name="Titre Razor Class Library"/>
          <p:cNvSpPr txBox="1"/>
          <p:nvPr/>
        </p:nvSpPr>
        <p:spPr>
          <a:xfrm>
            <a:off x="1737360" y="1737360"/>
            <a:ext cx="2209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Razor Class Library</a:t>
            </a:r>
            <a:endParaRPr lang="en-US" sz="1600" dirty="0"/>
          </a:p>
        </p:txBody>
      </p:sp>
      <p:sp>
        <p:nvSpPr>
          <p:cNvPr id="8" name="Détail Razor Class Library"/>
          <p:cNvSpPr txBox="1"/>
          <p:nvPr/>
        </p:nvSpPr>
        <p:spPr>
          <a:xfrm>
            <a:off x="822960" y="2606040"/>
            <a:ext cx="30784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dotnet new razorclasslib</a:t>
            </a:r>
            <a:r>
              <a:rPr lang="en-US" sz="1400" dirty="0">
                <a:solidFill>
                  <a:schemeClr val="tx1"/>
                </a:solidFill>
              </a:rPr>
              <a:t> : un projet de composants, référencé par plusieurs applis, ou publié en package NuGet.</a:t>
            </a:r>
            <a:endParaRPr lang="en-US" sz="1400" dirty="0"/>
          </a:p>
        </p:txBody>
      </p:sp>
      <p:sp>
        <p:nvSpPr>
          <p:cNvPr id="9" name="Carte Ses fichiers statiques"/>
          <p:cNvSpPr/>
          <p:nvPr/>
        </p:nvSpPr>
        <p:spPr>
          <a:xfrm>
            <a:off x="4312920" y="1463040"/>
            <a:ext cx="3581400" cy="3794760"/>
          </a:xfrm>
          <a:prstGeom prst="roundRect">
            <a:avLst>
              <a:gd name="adj" fmla="val 3064"/>
            </a:avLst>
          </a:prstGeom>
          <a:solidFill>
            <a:schemeClr val="bg2"/>
          </a:solidFill>
          <a:ln w="12700">
            <a:solidFill>
              <a:srgbClr val="E1EAF1"/>
            </a:solidFill>
            <a:prstDash val="solid"/>
          </a:ln>
        </p:spPr>
      </p:sp>
      <p:sp>
        <p:nvSpPr>
          <p:cNvPr id="10" name="Pastille Ses fichiers statiques"/>
          <p:cNvSpPr/>
          <p:nvPr/>
        </p:nvSpPr>
        <p:spPr>
          <a:xfrm>
            <a:off x="4587240" y="1737360"/>
            <a:ext cx="777240" cy="673110"/>
          </a:xfrm>
          <a:custGeom>
            <a:avLst/>
            <a:gdLst/>
            <a:ahLst/>
            <a:cxnLst/>
            <a:rect l="l" t="t" r="r" b="b"/>
            <a:pathLst>
              <a:path w="777240" h="673110">
                <a:moveTo>
                  <a:pt x="0" y="336555"/>
                </a:moveTo>
                <a:lnTo>
                  <a:pt x="194310" y="0"/>
                </a:lnTo>
                <a:lnTo>
                  <a:pt x="582930" y="0"/>
                </a:lnTo>
                <a:lnTo>
                  <a:pt x="777240" y="336555"/>
                </a:lnTo>
                <a:lnTo>
                  <a:pt x="582930" y="673110"/>
                </a:lnTo>
                <a:lnTo>
                  <a:pt x="194310" y="673110"/>
                </a:lnTo>
                <a:close/>
              </a:path>
            </a:pathLst>
          </a:custGeom>
          <a:solidFill>
            <a:srgbClr val="0040FF"/>
          </a:solidFill>
          <a:ln w="12700">
            <a:solidFill>
              <a:srgbClr val="0040FF">
                <a:alpha val="0"/>
              </a:srgbClr>
            </a:solidFill>
            <a:prstDash val="solid"/>
          </a:ln>
        </p:spPr>
      </p:sp>
      <p:pic>
        <p:nvPicPr>
          <p:cNvPr id="11" name="Icône Ses fichiers statiques" descr="Ses fichiers statiqu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2980" y="1891025"/>
            <a:ext cx="365760" cy="365760"/>
          </a:xfrm>
          <a:prstGeom prst="rect">
            <a:avLst/>
          </a:prstGeom>
        </p:spPr>
      </p:pic>
      <p:sp>
        <p:nvSpPr>
          <p:cNvPr id="12" name="Titre Ses fichiers statiques"/>
          <p:cNvSpPr txBox="1"/>
          <p:nvPr/>
        </p:nvSpPr>
        <p:spPr>
          <a:xfrm>
            <a:off x="5501640" y="1737360"/>
            <a:ext cx="2209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Ses fichiers statiques</a:t>
            </a:r>
            <a:endParaRPr lang="en-US" sz="1600" dirty="0"/>
          </a:p>
        </p:txBody>
      </p:sp>
      <p:sp>
        <p:nvSpPr>
          <p:cNvPr id="13" name="Détail Ses fichiers statiques"/>
          <p:cNvSpPr txBox="1"/>
          <p:nvPr/>
        </p:nvSpPr>
        <p:spPr>
          <a:xfrm>
            <a:off x="4587240" y="2606040"/>
            <a:ext cx="30784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CSS isolé, images et JavaScript de la bibliothèque sont servis sous </a:t>
            </a: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_content/Tickets.Components/</a:t>
            </a:r>
            <a:r>
              <a:rPr lang="en-US" sz="1400" dirty="0">
                <a:solidFill>
                  <a:schemeClr val="tx1"/>
                </a:solidFill>
              </a:rPr>
              <a:t>.</a:t>
            </a:r>
            <a:endParaRPr lang="en-US" sz="1400" dirty="0"/>
          </a:p>
        </p:txBody>
      </p:sp>
      <p:sp>
        <p:nvSpPr>
          <p:cNvPr id="14" name="Carte Pour quoi"/>
          <p:cNvSpPr/>
          <p:nvPr/>
        </p:nvSpPr>
        <p:spPr>
          <a:xfrm>
            <a:off x="8077200" y="1463040"/>
            <a:ext cx="3581400" cy="3794760"/>
          </a:xfrm>
          <a:prstGeom prst="roundRect">
            <a:avLst>
              <a:gd name="adj" fmla="val 3064"/>
            </a:avLst>
          </a:prstGeom>
          <a:solidFill>
            <a:schemeClr val="bg2"/>
          </a:solidFill>
          <a:ln w="12700">
            <a:solidFill>
              <a:srgbClr val="E1EAF1"/>
            </a:solidFill>
            <a:prstDash val="solid"/>
          </a:ln>
        </p:spPr>
      </p:sp>
      <p:sp>
        <p:nvSpPr>
          <p:cNvPr id="15" name="Pastille Pour quoi"/>
          <p:cNvSpPr/>
          <p:nvPr/>
        </p:nvSpPr>
        <p:spPr>
          <a:xfrm>
            <a:off x="8351520" y="1737360"/>
            <a:ext cx="777240" cy="673110"/>
          </a:xfrm>
          <a:custGeom>
            <a:avLst/>
            <a:gdLst/>
            <a:ahLst/>
            <a:cxnLst/>
            <a:rect l="l" t="t" r="r" b="b"/>
            <a:pathLst>
              <a:path w="777240" h="673110">
                <a:moveTo>
                  <a:pt x="0" y="336555"/>
                </a:moveTo>
                <a:lnTo>
                  <a:pt x="194310" y="0"/>
                </a:lnTo>
                <a:lnTo>
                  <a:pt x="582930" y="0"/>
                </a:lnTo>
                <a:lnTo>
                  <a:pt x="777240" y="336555"/>
                </a:lnTo>
                <a:lnTo>
                  <a:pt x="582930" y="673110"/>
                </a:lnTo>
                <a:lnTo>
                  <a:pt x="194310" y="673110"/>
                </a:lnTo>
                <a:close/>
              </a:path>
            </a:pathLst>
          </a:custGeom>
          <a:solidFill>
            <a:srgbClr val="0040FF"/>
          </a:solidFill>
          <a:ln w="12700">
            <a:solidFill>
              <a:srgbClr val="0040FF">
                <a:alpha val="0"/>
              </a:srgbClr>
            </a:solidFill>
            <a:prstDash val="solid"/>
          </a:ln>
        </p:spPr>
      </p:sp>
      <p:pic>
        <p:nvPicPr>
          <p:cNvPr id="16" name="Icône Pour quoi" descr="Pour quoi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260" y="1891025"/>
            <a:ext cx="365760" cy="365760"/>
          </a:xfrm>
          <a:prstGeom prst="rect">
            <a:avLst/>
          </a:prstGeom>
        </p:spPr>
      </p:pic>
      <p:sp>
        <p:nvSpPr>
          <p:cNvPr id="17" name="Titre Pour quoi"/>
          <p:cNvSpPr txBox="1"/>
          <p:nvPr/>
        </p:nvSpPr>
        <p:spPr>
          <a:xfrm>
            <a:off x="9265920" y="1737360"/>
            <a:ext cx="2209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Pour quoi</a:t>
            </a:r>
            <a:endParaRPr lang="en-US" sz="1600" dirty="0"/>
          </a:p>
        </p:txBody>
      </p:sp>
      <p:sp>
        <p:nvSpPr>
          <p:cNvPr id="18" name="Détail Pour quoi"/>
          <p:cNvSpPr txBox="1"/>
          <p:nvPr/>
        </p:nvSpPr>
        <p:spPr>
          <a:xfrm>
            <a:off x="8351520" y="2606040"/>
            <a:ext cx="30784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Les composants génériques (badge, bouton, grille) ; les composants métier restent dans l'appli.</a:t>
            </a:r>
            <a:endParaRPr lang="en-US" sz="1400" dirty="0"/>
          </a:p>
        </p:txBody>
      </p:sp>
      <p:sp>
        <p:nvSpPr>
          <p:cNvPr id="19" name="À retenir"/>
          <p:cNvSpPr/>
          <p:nvPr/>
        </p:nvSpPr>
        <p:spPr>
          <a:xfrm>
            <a:off x="548640" y="5440680"/>
            <a:ext cx="11109960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rgbClr val="E1EAF1"/>
            </a:solidFill>
            <a:prstDash val="solid"/>
          </a:ln>
        </p:spPr>
      </p:sp>
      <p:pic>
        <p:nvPicPr>
          <p:cNvPr id="20" name="Icône à retenir" descr="À reteni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614416"/>
            <a:ext cx="338328" cy="338328"/>
          </a:xfrm>
          <a:prstGeom prst="rect">
            <a:avLst/>
          </a:prstGeom>
        </p:spPr>
      </p:pic>
      <p:sp>
        <p:nvSpPr>
          <p:cNvPr id="21" name="Texte à retenir"/>
          <p:cNvSpPr txBox="1"/>
          <p:nvPr/>
        </p:nvSpPr>
        <p:spPr>
          <a:xfrm>
            <a:off x="1325880" y="544068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≈ une librairie de composants npm. C'est ainsi que nos applis partagent leurs composants Blazor.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ie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TESTER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029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Tester un composant avec bUnit</a:t>
            </a:r>
            <a:endParaRPr lang="en-US" sz="2800" dirty="0"/>
          </a:p>
        </p:txBody>
      </p:sp>
      <p:sp>
        <p:nvSpPr>
          <p:cNvPr id="4" name="Points"/>
          <p:cNvSpPr txBox="1"/>
          <p:nvPr/>
        </p:nvSpPr>
        <p:spPr>
          <a:xfrm>
            <a:off x="548640" y="1463040"/>
            <a:ext cx="393192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bUnit rend un composant en mémoire, sans navigateur.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On passe les paramètres, on clique, on lit le HTML produit.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Les services se remplacent : faux client d'API, utilisateur connecté (</a:t>
            </a: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AddAuthorization().SetAuthorized("alice")</a:t>
            </a:r>
            <a:r>
              <a:rPr lang="en-US" sz="1500" dirty="0">
                <a:solidFill>
                  <a:schemeClr val="tx1"/>
                </a:solidFill>
              </a:rPr>
              <a:t>).</a:t>
            </a:r>
            <a:endParaRPr lang="en-US" sz="1500" dirty="0"/>
          </a:p>
        </p:txBody>
      </p:sp>
      <p:sp>
        <p:nvSpPr>
          <p:cNvPr id="5" name="Code C#"/>
          <p:cNvSpPr/>
          <p:nvPr/>
        </p:nvSpPr>
        <p:spPr>
          <a:xfrm>
            <a:off x="4754880" y="1417320"/>
            <a:ext cx="6903720" cy="3413252"/>
          </a:xfrm>
          <a:prstGeom prst="roundRect">
            <a:avLst>
              <a:gd name="adj" fmla="val 2679"/>
            </a:avLst>
          </a:prstGeom>
          <a:solidFill>
            <a:schemeClr val="tx2"/>
          </a:solidFill>
          <a:ln w="12700">
            <a:solidFill>
              <a:srgbClr val="000057"/>
            </a:solidFill>
            <a:prstDash val="solid"/>
          </a:ln>
        </p:spPr>
      </p:sp>
      <p:sp>
        <p:nvSpPr>
          <p:cNvPr id="6" name="Langage C#"/>
          <p:cNvSpPr txBox="1"/>
          <p:nvPr/>
        </p:nvSpPr>
        <p:spPr>
          <a:xfrm>
            <a:off x="4983480" y="1536192"/>
            <a:ext cx="6446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C#</a:t>
            </a:r>
            <a:endParaRPr lang="en-US" sz="1100" dirty="0"/>
          </a:p>
        </p:txBody>
      </p:sp>
      <p:sp>
        <p:nvSpPr>
          <p:cNvPr id="7" name="Contenu C#"/>
          <p:cNvSpPr txBox="1"/>
          <p:nvPr/>
        </p:nvSpPr>
        <p:spPr>
          <a:xfrm>
            <a:off x="4983480" y="1856232"/>
            <a:ext cx="6537960" cy="2864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BadgeTests : BunitContext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[Fact]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void Variant_BecomesACssClass()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var badge = Render&lt;Badge&gt;(p =&gt; p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.Add(b =&gt; b.Variant, "high")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.AddChildContent("High"));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Assert.Equal("badge badge-high",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badge.Find("span").ClassName);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Assert.Equal("High", badge.Find("span").TextContent);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8" name="À retenir"/>
          <p:cNvSpPr/>
          <p:nvPr/>
        </p:nvSpPr>
        <p:spPr>
          <a:xfrm>
            <a:off x="548640" y="5440680"/>
            <a:ext cx="11109960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rgbClr val="E1EAF1"/>
            </a:solidFill>
            <a:prstDash val="solid"/>
          </a:ln>
        </p:spPr>
      </p:sp>
      <p:pic>
        <p:nvPicPr>
          <p:cNvPr id="9" name="Icône à retenir" descr="À reteni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614416"/>
            <a:ext cx="338328" cy="338328"/>
          </a:xfrm>
          <a:prstGeom prst="rect">
            <a:avLst/>
          </a:prstGeom>
        </p:spPr>
      </p:pic>
      <p:sp>
        <p:nvSpPr>
          <p:cNvPr id="10" name="Texte à retenir"/>
          <p:cNvSpPr txBox="1"/>
          <p:nvPr/>
        </p:nvSpPr>
        <p:spPr>
          <a:xfrm>
            <a:off x="1325880" y="544068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≈ React Testing Library. Rapide : des dizaines de tests de composants en quelques secondes.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ie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SÉCURITÉ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029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Trois réflexes de sécurité</a:t>
            </a:r>
            <a:endParaRPr lang="en-US" sz="2800" dirty="0"/>
          </a:p>
        </p:txBody>
      </p:sp>
      <p:sp>
        <p:nvSpPr>
          <p:cNvPr id="4" name="Carte Redirections ouvertes"/>
          <p:cNvSpPr/>
          <p:nvPr/>
        </p:nvSpPr>
        <p:spPr>
          <a:xfrm>
            <a:off x="548640" y="1463040"/>
            <a:ext cx="3581400" cy="4572000"/>
          </a:xfrm>
          <a:prstGeom prst="roundRect">
            <a:avLst>
              <a:gd name="adj" fmla="val 3064"/>
            </a:avLst>
          </a:prstGeom>
          <a:solidFill>
            <a:schemeClr val="tx2"/>
          </a:solidFill>
          <a:ln w="12700">
            <a:solidFill>
              <a:srgbClr val="000057"/>
            </a:solidFill>
            <a:prstDash val="solid"/>
          </a:ln>
        </p:spPr>
      </p:sp>
      <p:sp>
        <p:nvSpPr>
          <p:cNvPr id="5" name="Pastille Redirections ouvertes"/>
          <p:cNvSpPr/>
          <p:nvPr/>
        </p:nvSpPr>
        <p:spPr>
          <a:xfrm>
            <a:off x="822960" y="1737360"/>
            <a:ext cx="777240" cy="673110"/>
          </a:xfrm>
          <a:custGeom>
            <a:avLst/>
            <a:gdLst/>
            <a:ahLst/>
            <a:cxnLst/>
            <a:rect l="l" t="t" r="r" b="b"/>
            <a:pathLst>
              <a:path w="777240" h="673110">
                <a:moveTo>
                  <a:pt x="0" y="336555"/>
                </a:moveTo>
                <a:lnTo>
                  <a:pt x="194310" y="0"/>
                </a:lnTo>
                <a:lnTo>
                  <a:pt x="582930" y="0"/>
                </a:lnTo>
                <a:lnTo>
                  <a:pt x="777240" y="336555"/>
                </a:lnTo>
                <a:lnTo>
                  <a:pt x="582930" y="673110"/>
                </a:lnTo>
                <a:lnTo>
                  <a:pt x="194310" y="673110"/>
                </a:lnTo>
                <a:close/>
              </a:path>
            </a:pathLst>
          </a:custGeom>
          <a:solidFill>
            <a:srgbClr val="FFFF00"/>
          </a:solidFill>
          <a:ln w="12700">
            <a:solidFill>
              <a:srgbClr val="FFFF00">
                <a:alpha val="0"/>
              </a:srgbClr>
            </a:solidFill>
            <a:prstDash val="solid"/>
          </a:ln>
        </p:spPr>
      </p:sp>
      <p:pic>
        <p:nvPicPr>
          <p:cNvPr id="6" name="Icône Redirections ouvertes" descr="Redirections ouvert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1891025"/>
            <a:ext cx="365760" cy="365760"/>
          </a:xfrm>
          <a:prstGeom prst="rect">
            <a:avLst/>
          </a:prstGeom>
        </p:spPr>
      </p:pic>
      <p:sp>
        <p:nvSpPr>
          <p:cNvPr id="7" name="Titre Redirections ouvertes"/>
          <p:cNvSpPr txBox="1"/>
          <p:nvPr/>
        </p:nvSpPr>
        <p:spPr>
          <a:xfrm>
            <a:off x="1737360" y="1737360"/>
            <a:ext cx="2209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Redirections ouvertes</a:t>
            </a:r>
            <a:endParaRPr lang="en-US" sz="1600" dirty="0"/>
          </a:p>
        </p:txBody>
      </p:sp>
      <p:sp>
        <p:nvSpPr>
          <p:cNvPr id="8" name="Détail Redirections ouvertes"/>
          <p:cNvSpPr txBox="1"/>
          <p:nvPr/>
        </p:nvSpPr>
        <p:spPr>
          <a:xfrm>
            <a:off x="822960" y="2606040"/>
            <a:ext cx="3078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Après la connexion, ne suivre qu'une adresse locale : </a:t>
            </a: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/tickets</a:t>
            </a:r>
            <a:r>
              <a:rPr lang="en-US" sz="1400" dirty="0">
                <a:solidFill>
                  <a:schemeClr val="bg1"/>
                </a:solidFill>
              </a:rPr>
              <a:t>, mais ni </a:t>
            </a: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//site.com</a:t>
            </a:r>
            <a:r>
              <a:rPr lang="en-US" sz="1400" dirty="0">
                <a:solidFill>
                  <a:schemeClr val="bg1"/>
                </a:solidFill>
              </a:rPr>
              <a:t> ni </a:t>
            </a: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https://…</a:t>
            </a:r>
            <a:r>
              <a:rPr lang="en-US" sz="1400" dirty="0">
                <a:solidFill>
                  <a:schemeClr val="bg1"/>
                </a:solidFill>
              </a:rPr>
              <a:t>.</a:t>
            </a:r>
            <a:endParaRPr lang="en-US" sz="1400" dirty="0"/>
          </a:p>
        </p:txBody>
      </p:sp>
      <p:sp>
        <p:nvSpPr>
          <p:cNvPr id="9" name="Carte Antiforgery"/>
          <p:cNvSpPr/>
          <p:nvPr/>
        </p:nvSpPr>
        <p:spPr>
          <a:xfrm>
            <a:off x="4312920" y="1463040"/>
            <a:ext cx="3581400" cy="4572000"/>
          </a:xfrm>
          <a:prstGeom prst="roundRect">
            <a:avLst>
              <a:gd name="adj" fmla="val 3064"/>
            </a:avLst>
          </a:prstGeom>
          <a:solidFill>
            <a:schemeClr val="bg2"/>
          </a:solidFill>
          <a:ln w="12700">
            <a:solidFill>
              <a:srgbClr val="E1EAF1"/>
            </a:solidFill>
            <a:prstDash val="solid"/>
          </a:ln>
        </p:spPr>
      </p:sp>
      <p:sp>
        <p:nvSpPr>
          <p:cNvPr id="10" name="Pastille Antiforgery"/>
          <p:cNvSpPr/>
          <p:nvPr/>
        </p:nvSpPr>
        <p:spPr>
          <a:xfrm>
            <a:off x="4587240" y="1737360"/>
            <a:ext cx="777240" cy="673110"/>
          </a:xfrm>
          <a:custGeom>
            <a:avLst/>
            <a:gdLst/>
            <a:ahLst/>
            <a:cxnLst/>
            <a:rect l="l" t="t" r="r" b="b"/>
            <a:pathLst>
              <a:path w="777240" h="673110">
                <a:moveTo>
                  <a:pt x="0" y="336555"/>
                </a:moveTo>
                <a:lnTo>
                  <a:pt x="194310" y="0"/>
                </a:lnTo>
                <a:lnTo>
                  <a:pt x="582930" y="0"/>
                </a:lnTo>
                <a:lnTo>
                  <a:pt x="777240" y="336555"/>
                </a:lnTo>
                <a:lnTo>
                  <a:pt x="582930" y="673110"/>
                </a:lnTo>
                <a:lnTo>
                  <a:pt x="194310" y="673110"/>
                </a:lnTo>
                <a:close/>
              </a:path>
            </a:pathLst>
          </a:custGeom>
          <a:solidFill>
            <a:srgbClr val="0040FF"/>
          </a:solidFill>
          <a:ln w="12700">
            <a:solidFill>
              <a:srgbClr val="0040FF">
                <a:alpha val="0"/>
              </a:srgbClr>
            </a:solidFill>
            <a:prstDash val="solid"/>
          </a:ln>
        </p:spPr>
      </p:sp>
      <p:pic>
        <p:nvPicPr>
          <p:cNvPr id="11" name="Icône Antiforgery" descr="Antiforger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2980" y="1891025"/>
            <a:ext cx="365760" cy="365760"/>
          </a:xfrm>
          <a:prstGeom prst="rect">
            <a:avLst/>
          </a:prstGeom>
        </p:spPr>
      </p:pic>
      <p:sp>
        <p:nvSpPr>
          <p:cNvPr id="12" name="Titre Antiforgery"/>
          <p:cNvSpPr txBox="1"/>
          <p:nvPr/>
        </p:nvSpPr>
        <p:spPr>
          <a:xfrm>
            <a:off x="5501640" y="1737360"/>
            <a:ext cx="2209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Antiforgery</a:t>
            </a:r>
            <a:endParaRPr lang="en-US" sz="1600" dirty="0"/>
          </a:p>
        </p:txBody>
      </p:sp>
      <p:sp>
        <p:nvSpPr>
          <p:cNvPr id="13" name="Détail Antiforgery"/>
          <p:cNvSpPr txBox="1"/>
          <p:nvPr/>
        </p:nvSpPr>
        <p:spPr>
          <a:xfrm>
            <a:off x="4587240" y="2606040"/>
            <a:ext cx="3078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 formulaire qui change l'état (déconnexion) envoie un jeton antiforgery : </a:t>
            </a: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&lt;AntiforgeryToken /&gt;</a:t>
            </a:r>
            <a:r>
              <a:rPr lang="en-US" sz="1400" dirty="0">
                <a:solidFill>
                  <a:schemeClr val="tx1"/>
                </a:solidFill>
              </a:rPr>
              <a:t>.</a:t>
            </a:r>
            <a:endParaRPr lang="en-US" sz="1400" dirty="0"/>
          </a:p>
        </p:txBody>
      </p:sp>
      <p:sp>
        <p:nvSpPr>
          <p:cNvPr id="14" name="Carte Secrets"/>
          <p:cNvSpPr/>
          <p:nvPr/>
        </p:nvSpPr>
        <p:spPr>
          <a:xfrm>
            <a:off x="8077200" y="1463040"/>
            <a:ext cx="3581400" cy="4572000"/>
          </a:xfrm>
          <a:prstGeom prst="roundRect">
            <a:avLst>
              <a:gd name="adj" fmla="val 3064"/>
            </a:avLst>
          </a:prstGeom>
          <a:solidFill>
            <a:schemeClr val="bg2"/>
          </a:solidFill>
          <a:ln w="12700">
            <a:solidFill>
              <a:srgbClr val="E1EAF1"/>
            </a:solidFill>
            <a:prstDash val="solid"/>
          </a:ln>
        </p:spPr>
      </p:sp>
      <p:sp>
        <p:nvSpPr>
          <p:cNvPr id="15" name="Pastille Secrets"/>
          <p:cNvSpPr/>
          <p:nvPr/>
        </p:nvSpPr>
        <p:spPr>
          <a:xfrm>
            <a:off x="8351520" y="1737360"/>
            <a:ext cx="777240" cy="673110"/>
          </a:xfrm>
          <a:custGeom>
            <a:avLst/>
            <a:gdLst/>
            <a:ahLst/>
            <a:cxnLst/>
            <a:rect l="l" t="t" r="r" b="b"/>
            <a:pathLst>
              <a:path w="777240" h="673110">
                <a:moveTo>
                  <a:pt x="0" y="336555"/>
                </a:moveTo>
                <a:lnTo>
                  <a:pt x="194310" y="0"/>
                </a:lnTo>
                <a:lnTo>
                  <a:pt x="582930" y="0"/>
                </a:lnTo>
                <a:lnTo>
                  <a:pt x="777240" y="336555"/>
                </a:lnTo>
                <a:lnTo>
                  <a:pt x="582930" y="673110"/>
                </a:lnTo>
                <a:lnTo>
                  <a:pt x="194310" y="673110"/>
                </a:lnTo>
                <a:close/>
              </a:path>
            </a:pathLst>
          </a:custGeom>
          <a:solidFill>
            <a:srgbClr val="0040FF"/>
          </a:solidFill>
          <a:ln w="12700">
            <a:solidFill>
              <a:srgbClr val="0040FF">
                <a:alpha val="0"/>
              </a:srgbClr>
            </a:solidFill>
            <a:prstDash val="solid"/>
          </a:ln>
        </p:spPr>
      </p:sp>
      <p:pic>
        <p:nvPicPr>
          <p:cNvPr id="16" name="Icône Secrets" descr="Secret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260" y="1891025"/>
            <a:ext cx="365760" cy="365760"/>
          </a:xfrm>
          <a:prstGeom prst="rect">
            <a:avLst/>
          </a:prstGeom>
        </p:spPr>
      </p:pic>
      <p:sp>
        <p:nvSpPr>
          <p:cNvPr id="17" name="Titre Secrets"/>
          <p:cNvSpPr txBox="1"/>
          <p:nvPr/>
        </p:nvSpPr>
        <p:spPr>
          <a:xfrm>
            <a:off x="9265920" y="1737360"/>
            <a:ext cx="2209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Secrets</a:t>
            </a:r>
            <a:endParaRPr lang="en-US" sz="1600" dirty="0"/>
          </a:p>
        </p:txBody>
      </p:sp>
      <p:sp>
        <p:nvSpPr>
          <p:cNvPr id="18" name="Détail Secrets"/>
          <p:cNvSpPr txBox="1"/>
          <p:nvPr/>
        </p:nvSpPr>
        <p:spPr>
          <a:xfrm>
            <a:off x="8351520" y="2606040"/>
            <a:ext cx="3078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Clés et jetons dans user-secrets ou l'environnement, jamais dans le dépôt ni dans le code client.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029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À retenir</a:t>
            </a:r>
            <a:endParaRPr lang="en-US" sz="2800" dirty="0"/>
          </a:p>
        </p:txBody>
      </p:sp>
      <p:sp>
        <p:nvSpPr>
          <p:cNvPr id="3" name="Point 1"/>
          <p:cNvSpPr/>
          <p:nvPr/>
        </p:nvSpPr>
        <p:spPr>
          <a:xfrm>
            <a:off x="548640" y="1463040"/>
            <a:ext cx="731520" cy="633515"/>
          </a:xfrm>
          <a:custGeom>
            <a:avLst/>
            <a:gdLst/>
            <a:ahLst/>
            <a:cxnLst/>
            <a:rect l="l" t="t" r="r" b="b"/>
            <a:pathLst>
              <a:path w="731520" h="633515">
                <a:moveTo>
                  <a:pt x="0" y="316757"/>
                </a:moveTo>
                <a:lnTo>
                  <a:pt x="182880" y="0"/>
                </a:lnTo>
                <a:lnTo>
                  <a:pt x="548640" y="0"/>
                </a:lnTo>
                <a:lnTo>
                  <a:pt x="731520" y="316757"/>
                </a:lnTo>
                <a:lnTo>
                  <a:pt x="548640" y="633515"/>
                </a:lnTo>
                <a:lnTo>
                  <a:pt x="182880" y="633515"/>
                </a:lnTo>
                <a:close/>
              </a:path>
            </a:pathLst>
          </a:custGeom>
          <a:solidFill>
            <a:srgbClr val="000057"/>
          </a:solidFill>
          <a:ln w="12700">
            <a:solidFill>
              <a:srgbClr val="000057">
                <a:alpha val="0"/>
              </a:srgbClr>
            </a:solidFill>
            <a:prstDash val="solid"/>
          </a:ln>
        </p:spPr>
      </p:sp>
      <p:sp>
        <p:nvSpPr>
          <p:cNvPr id="4" name="Numéro 1"/>
          <p:cNvSpPr txBox="1"/>
          <p:nvPr/>
        </p:nvSpPr>
        <p:spPr>
          <a:xfrm>
            <a:off x="548640" y="1463040"/>
            <a:ext cx="7315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Point 1 texte"/>
          <p:cNvSpPr txBox="1"/>
          <p:nvPr/>
        </p:nvSpPr>
        <p:spPr>
          <a:xfrm>
            <a:off x="1463040" y="1417320"/>
            <a:ext cx="4526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Authentification (qui, 401) contre autorisation (quoi, 403). L'utilisateur est un </a:t>
            </a: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ClaimsPrincipal</a:t>
            </a:r>
            <a:r>
              <a:rPr lang="en-US" sz="1500" dirty="0">
                <a:solidFill>
                  <a:schemeClr val="tx1"/>
                </a:solidFill>
              </a:rPr>
              <a:t>.</a:t>
            </a:r>
            <a:endParaRPr lang="en-US" sz="1500" dirty="0"/>
          </a:p>
        </p:txBody>
      </p:sp>
      <p:sp>
        <p:nvSpPr>
          <p:cNvPr id="6" name="Point 2"/>
          <p:cNvSpPr/>
          <p:nvPr/>
        </p:nvSpPr>
        <p:spPr>
          <a:xfrm>
            <a:off x="6172200" y="1463040"/>
            <a:ext cx="731520" cy="633515"/>
          </a:xfrm>
          <a:custGeom>
            <a:avLst/>
            <a:gdLst/>
            <a:ahLst/>
            <a:cxnLst/>
            <a:rect l="l" t="t" r="r" b="b"/>
            <a:pathLst>
              <a:path w="731520" h="633515">
                <a:moveTo>
                  <a:pt x="0" y="316757"/>
                </a:moveTo>
                <a:lnTo>
                  <a:pt x="182880" y="0"/>
                </a:lnTo>
                <a:lnTo>
                  <a:pt x="548640" y="0"/>
                </a:lnTo>
                <a:lnTo>
                  <a:pt x="731520" y="316757"/>
                </a:lnTo>
                <a:lnTo>
                  <a:pt x="548640" y="633515"/>
                </a:lnTo>
                <a:lnTo>
                  <a:pt x="182880" y="633515"/>
                </a:lnTo>
                <a:close/>
              </a:path>
            </a:pathLst>
          </a:custGeom>
          <a:solidFill>
            <a:srgbClr val="000057"/>
          </a:solidFill>
          <a:ln w="12700">
            <a:solidFill>
              <a:srgbClr val="000057">
                <a:alpha val="0"/>
              </a:srgbClr>
            </a:solidFill>
            <a:prstDash val="solid"/>
          </a:ln>
        </p:spPr>
      </p:sp>
      <p:sp>
        <p:nvSpPr>
          <p:cNvPr id="7" name="Numéro 2"/>
          <p:cNvSpPr txBox="1"/>
          <p:nvPr/>
        </p:nvSpPr>
        <p:spPr>
          <a:xfrm>
            <a:off x="6172200" y="1463040"/>
            <a:ext cx="7315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2</a:t>
            </a:r>
            <a:endParaRPr lang="en-US" sz="2000" dirty="0"/>
          </a:p>
        </p:txBody>
      </p:sp>
      <p:sp>
        <p:nvSpPr>
          <p:cNvPr id="8" name="Point 2 texte"/>
          <p:cNvSpPr txBox="1"/>
          <p:nvPr/>
        </p:nvSpPr>
        <p:spPr>
          <a:xfrm>
            <a:off x="7086600" y="1417320"/>
            <a:ext cx="4526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Un JWT est signé, pas chiffré ; l'API vérifie signature, émetteur, audience, expiration.</a:t>
            </a:r>
            <a:endParaRPr lang="en-US" sz="1500" dirty="0"/>
          </a:p>
        </p:txBody>
      </p:sp>
      <p:sp>
        <p:nvSpPr>
          <p:cNvPr id="9" name="Point 3"/>
          <p:cNvSpPr/>
          <p:nvPr/>
        </p:nvSpPr>
        <p:spPr>
          <a:xfrm>
            <a:off x="548640" y="2697480"/>
            <a:ext cx="731520" cy="633515"/>
          </a:xfrm>
          <a:custGeom>
            <a:avLst/>
            <a:gdLst/>
            <a:ahLst/>
            <a:cxnLst/>
            <a:rect l="l" t="t" r="r" b="b"/>
            <a:pathLst>
              <a:path w="731520" h="633515">
                <a:moveTo>
                  <a:pt x="0" y="316757"/>
                </a:moveTo>
                <a:lnTo>
                  <a:pt x="182880" y="0"/>
                </a:lnTo>
                <a:lnTo>
                  <a:pt x="548640" y="0"/>
                </a:lnTo>
                <a:lnTo>
                  <a:pt x="731520" y="316757"/>
                </a:lnTo>
                <a:lnTo>
                  <a:pt x="548640" y="633515"/>
                </a:lnTo>
                <a:lnTo>
                  <a:pt x="182880" y="633515"/>
                </a:lnTo>
                <a:close/>
              </a:path>
            </a:pathLst>
          </a:custGeom>
          <a:solidFill>
            <a:srgbClr val="000057"/>
          </a:solidFill>
          <a:ln w="12700">
            <a:solidFill>
              <a:srgbClr val="000057">
                <a:alpha val="0"/>
              </a:srgbClr>
            </a:solidFill>
            <a:prstDash val="solid"/>
          </a:ln>
        </p:spPr>
      </p:sp>
      <p:sp>
        <p:nvSpPr>
          <p:cNvPr id="10" name="Numéro 3"/>
          <p:cNvSpPr txBox="1"/>
          <p:nvPr/>
        </p:nvSpPr>
        <p:spPr>
          <a:xfrm>
            <a:off x="548640" y="2697480"/>
            <a:ext cx="7315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3</a:t>
            </a:r>
            <a:endParaRPr lang="en-US" sz="2000" dirty="0"/>
          </a:p>
        </p:txBody>
      </p:sp>
      <p:sp>
        <p:nvSpPr>
          <p:cNvPr id="11" name="Point 3 texte"/>
          <p:cNvSpPr txBox="1"/>
          <p:nvPr/>
        </p:nvSpPr>
        <p:spPr>
          <a:xfrm>
            <a:off x="1463040" y="2651760"/>
            <a:ext cx="4526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RequireAuthorization</a:t>
            </a:r>
            <a:r>
              <a:rPr lang="en-US" sz="1500" dirty="0">
                <a:solidFill>
                  <a:schemeClr val="tx1"/>
                </a:solidFill>
              </a:rPr>
              <a:t> sur les routes, policies nommées pour les règles.</a:t>
            </a:r>
            <a:endParaRPr lang="en-US" sz="1500" dirty="0"/>
          </a:p>
        </p:txBody>
      </p:sp>
      <p:sp>
        <p:nvSpPr>
          <p:cNvPr id="12" name="Point 4"/>
          <p:cNvSpPr/>
          <p:nvPr/>
        </p:nvSpPr>
        <p:spPr>
          <a:xfrm>
            <a:off x="6172200" y="2697480"/>
            <a:ext cx="731520" cy="633515"/>
          </a:xfrm>
          <a:custGeom>
            <a:avLst/>
            <a:gdLst/>
            <a:ahLst/>
            <a:cxnLst/>
            <a:rect l="l" t="t" r="r" b="b"/>
            <a:pathLst>
              <a:path w="731520" h="633515">
                <a:moveTo>
                  <a:pt x="0" y="316757"/>
                </a:moveTo>
                <a:lnTo>
                  <a:pt x="182880" y="0"/>
                </a:lnTo>
                <a:lnTo>
                  <a:pt x="548640" y="0"/>
                </a:lnTo>
                <a:lnTo>
                  <a:pt x="731520" y="316757"/>
                </a:lnTo>
                <a:lnTo>
                  <a:pt x="548640" y="633515"/>
                </a:lnTo>
                <a:lnTo>
                  <a:pt x="182880" y="633515"/>
                </a:lnTo>
                <a:close/>
              </a:path>
            </a:pathLst>
          </a:custGeom>
          <a:solidFill>
            <a:srgbClr val="000057"/>
          </a:solidFill>
          <a:ln w="12700">
            <a:solidFill>
              <a:srgbClr val="000057">
                <a:alpha val="0"/>
              </a:srgbClr>
            </a:solidFill>
            <a:prstDash val="solid"/>
          </a:ln>
        </p:spPr>
      </p:sp>
      <p:sp>
        <p:nvSpPr>
          <p:cNvPr id="13" name="Numéro 4"/>
          <p:cNvSpPr txBox="1"/>
          <p:nvPr/>
        </p:nvSpPr>
        <p:spPr>
          <a:xfrm>
            <a:off x="6172200" y="2697480"/>
            <a:ext cx="7315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4</a:t>
            </a:r>
            <a:endParaRPr lang="en-US" sz="2000" dirty="0"/>
          </a:p>
        </p:txBody>
      </p:sp>
      <p:sp>
        <p:nvSpPr>
          <p:cNvPr id="14" name="Point 4 texte"/>
          <p:cNvSpPr txBox="1"/>
          <p:nvPr/>
        </p:nvSpPr>
        <p:spPr>
          <a:xfrm>
            <a:off x="7086600" y="2651760"/>
            <a:ext cx="4526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Dans Blazor : cookie pour le front, </a:t>
            </a: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AuthorizeView</a:t>
            </a:r>
            <a:r>
              <a:rPr lang="en-US" sz="1500" dirty="0">
                <a:solidFill>
                  <a:schemeClr val="tx1"/>
                </a:solidFill>
              </a:rPr>
              <a:t> pour afficher, </a:t>
            </a: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[Authorize]</a:t>
            </a:r>
            <a:r>
              <a:rPr lang="en-US" sz="1500" dirty="0">
                <a:solidFill>
                  <a:schemeClr val="tx1"/>
                </a:solidFill>
              </a:rPr>
              <a:t> pour protéger.</a:t>
            </a:r>
            <a:endParaRPr lang="en-US" sz="1500" dirty="0"/>
          </a:p>
        </p:txBody>
      </p:sp>
      <p:sp>
        <p:nvSpPr>
          <p:cNvPr id="15" name="Point 5"/>
          <p:cNvSpPr/>
          <p:nvPr/>
        </p:nvSpPr>
        <p:spPr>
          <a:xfrm>
            <a:off x="548640" y="3931920"/>
            <a:ext cx="731520" cy="633515"/>
          </a:xfrm>
          <a:custGeom>
            <a:avLst/>
            <a:gdLst/>
            <a:ahLst/>
            <a:cxnLst/>
            <a:rect l="l" t="t" r="r" b="b"/>
            <a:pathLst>
              <a:path w="731520" h="633515">
                <a:moveTo>
                  <a:pt x="0" y="316757"/>
                </a:moveTo>
                <a:lnTo>
                  <a:pt x="182880" y="0"/>
                </a:lnTo>
                <a:lnTo>
                  <a:pt x="548640" y="0"/>
                </a:lnTo>
                <a:lnTo>
                  <a:pt x="731520" y="316757"/>
                </a:lnTo>
                <a:lnTo>
                  <a:pt x="548640" y="633515"/>
                </a:lnTo>
                <a:lnTo>
                  <a:pt x="182880" y="633515"/>
                </a:lnTo>
                <a:close/>
              </a:path>
            </a:pathLst>
          </a:custGeom>
          <a:solidFill>
            <a:srgbClr val="000057"/>
          </a:solidFill>
          <a:ln w="12700">
            <a:solidFill>
              <a:srgbClr val="000057">
                <a:alpha val="0"/>
              </a:srgbClr>
            </a:solidFill>
            <a:prstDash val="solid"/>
          </a:ln>
        </p:spPr>
      </p:sp>
      <p:sp>
        <p:nvSpPr>
          <p:cNvPr id="16" name="Numéro 5"/>
          <p:cNvSpPr txBox="1"/>
          <p:nvPr/>
        </p:nvSpPr>
        <p:spPr>
          <a:xfrm>
            <a:off x="548640" y="3931920"/>
            <a:ext cx="7315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5</a:t>
            </a:r>
            <a:endParaRPr lang="en-US" sz="2000" dirty="0"/>
          </a:p>
        </p:txBody>
      </p:sp>
      <p:sp>
        <p:nvSpPr>
          <p:cNvPr id="17" name="Point 5 texte"/>
          <p:cNvSpPr txBox="1"/>
          <p:nvPr/>
        </p:nvSpPr>
        <p:spPr>
          <a:xfrm>
            <a:off x="1463040" y="3886200"/>
            <a:ext cx="4526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État partagé : service scoped qui notifie, valeur en cascade ; </a:t>
            </a: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[PersistentState]</a:t>
            </a:r>
            <a:r>
              <a:rPr lang="en-US" sz="1500" dirty="0">
                <a:solidFill>
                  <a:schemeClr val="tx1"/>
                </a:solidFill>
              </a:rPr>
              <a:t> contre le double chargement.</a:t>
            </a:r>
            <a:endParaRPr lang="en-US" sz="1500" dirty="0"/>
          </a:p>
        </p:txBody>
      </p:sp>
      <p:sp>
        <p:nvSpPr>
          <p:cNvPr id="18" name="Point 6"/>
          <p:cNvSpPr/>
          <p:nvPr/>
        </p:nvSpPr>
        <p:spPr>
          <a:xfrm>
            <a:off x="6172200" y="3931920"/>
            <a:ext cx="731520" cy="633515"/>
          </a:xfrm>
          <a:custGeom>
            <a:avLst/>
            <a:gdLst/>
            <a:ahLst/>
            <a:cxnLst/>
            <a:rect l="l" t="t" r="r" b="b"/>
            <a:pathLst>
              <a:path w="731520" h="633515">
                <a:moveTo>
                  <a:pt x="0" y="316757"/>
                </a:moveTo>
                <a:lnTo>
                  <a:pt x="182880" y="0"/>
                </a:lnTo>
                <a:lnTo>
                  <a:pt x="548640" y="0"/>
                </a:lnTo>
                <a:lnTo>
                  <a:pt x="731520" y="316757"/>
                </a:lnTo>
                <a:lnTo>
                  <a:pt x="548640" y="633515"/>
                </a:lnTo>
                <a:lnTo>
                  <a:pt x="182880" y="633515"/>
                </a:lnTo>
                <a:close/>
              </a:path>
            </a:pathLst>
          </a:custGeom>
          <a:solidFill>
            <a:srgbClr val="000057"/>
          </a:solidFill>
          <a:ln w="12700">
            <a:solidFill>
              <a:srgbClr val="000057">
                <a:alpha val="0"/>
              </a:srgbClr>
            </a:solidFill>
            <a:prstDash val="solid"/>
          </a:ln>
        </p:spPr>
      </p:sp>
      <p:sp>
        <p:nvSpPr>
          <p:cNvPr id="19" name="Numéro 6"/>
          <p:cNvSpPr txBox="1"/>
          <p:nvPr/>
        </p:nvSpPr>
        <p:spPr>
          <a:xfrm>
            <a:off x="6172200" y="3931920"/>
            <a:ext cx="7315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6</a:t>
            </a:r>
            <a:endParaRPr lang="en-US" sz="2000" dirty="0"/>
          </a:p>
        </p:txBody>
      </p:sp>
      <p:sp>
        <p:nvSpPr>
          <p:cNvPr id="20" name="Point 6 texte"/>
          <p:cNvSpPr txBox="1"/>
          <p:nvPr/>
        </p:nvSpPr>
        <p:spPr>
          <a:xfrm>
            <a:off x="7086600" y="3886200"/>
            <a:ext cx="4526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Les composants génériques vont dans une Razor Class Library, testée avec bUnit.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Place au TP-04</a:t>
            </a:r>
            <a:endParaRPr lang="en-US" sz="4400" dirty="0"/>
          </a:p>
        </p:txBody>
      </p:sp>
      <p:pic>
        <p:nvPicPr>
          <p:cNvPr id="3" name="Accroche" descr="À vous de jou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154680"/>
            <a:ext cx="3840480" cy="1182414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434340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tp-04-blazor-auth-etat/enonce.html : les tests de l'API (exercices 1 et 2) et ceux du front (3 à 7) sont dans deux projets ; chaque exercice donne sa commande.</a:t>
            </a:r>
            <a:endParaRPr lang="en-US" sz="1600" dirty="0"/>
          </a:p>
        </p:txBody>
      </p:sp>
      <p:sp>
        <p:nvSpPr>
          <p:cNvPr id="5" name="Hexagone décoratif"/>
          <p:cNvSpPr/>
          <p:nvPr/>
        </p:nvSpPr>
        <p:spPr>
          <a:xfrm>
            <a:off x="10058400" y="274320"/>
            <a:ext cx="2011680" cy="1742166"/>
          </a:xfrm>
          <a:custGeom>
            <a:avLst/>
            <a:gdLst/>
            <a:ahLst/>
            <a:cxnLst/>
            <a:rect l="l" t="t" r="r" b="b"/>
            <a:pathLst>
              <a:path w="2011680" h="1742166">
                <a:moveTo>
                  <a:pt x="0" y="871083"/>
                </a:moveTo>
                <a:lnTo>
                  <a:pt x="502920" y="0"/>
                </a:lnTo>
                <a:lnTo>
                  <a:pt x="1508760" y="0"/>
                </a:lnTo>
                <a:lnTo>
                  <a:pt x="2011680" y="871083"/>
                </a:lnTo>
                <a:lnTo>
                  <a:pt x="1508760" y="1742166"/>
                </a:lnTo>
                <a:lnTo>
                  <a:pt x="502920" y="1742166"/>
                </a:lnTo>
                <a:close/>
              </a:path>
            </a:pathLst>
          </a:custGeom>
          <a:solidFill>
            <a:srgbClr val="000D78">
              <a:alpha val="90000"/>
            </a:srgbClr>
          </a:solidFill>
          <a:ln w="12700">
            <a:solidFill>
              <a:srgbClr val="000D78">
                <a:alpha val="0"/>
              </a:srgbClr>
            </a:solidFill>
            <a:prstDash val="solid"/>
          </a:ln>
        </p:spPr>
      </p:sp>
      <p:sp>
        <p:nvSpPr>
          <p:cNvPr id="6" name="Hexagone décoratif"/>
          <p:cNvSpPr/>
          <p:nvPr/>
        </p:nvSpPr>
        <p:spPr>
          <a:xfrm>
            <a:off x="11155680" y="2103120"/>
            <a:ext cx="1463040" cy="1267030"/>
          </a:xfrm>
          <a:custGeom>
            <a:avLst/>
            <a:gdLst/>
            <a:ahLst/>
            <a:cxnLst/>
            <a:rect l="l" t="t" r="r" b="b"/>
            <a:pathLst>
              <a:path w="1463040" h="1267030">
                <a:moveTo>
                  <a:pt x="0" y="633515"/>
                </a:moveTo>
                <a:lnTo>
                  <a:pt x="365760" y="0"/>
                </a:lnTo>
                <a:lnTo>
                  <a:pt x="1097280" y="0"/>
                </a:lnTo>
                <a:lnTo>
                  <a:pt x="1463040" y="633515"/>
                </a:lnTo>
                <a:lnTo>
                  <a:pt x="1097280" y="1267030"/>
                </a:lnTo>
                <a:lnTo>
                  <a:pt x="365760" y="1267030"/>
                </a:lnTo>
                <a:close/>
              </a:path>
            </a:pathLst>
          </a:custGeom>
          <a:solidFill>
            <a:srgbClr val="001793">
              <a:alpha val="65000"/>
            </a:srgbClr>
          </a:solidFill>
          <a:ln w="12700">
            <a:solidFill>
              <a:srgbClr val="001793">
                <a:alpha val="0"/>
              </a:srgbClr>
            </a:solidFill>
            <a:prstDash val="solid"/>
          </a:ln>
        </p:spPr>
      </p:sp>
      <p:sp>
        <p:nvSpPr>
          <p:cNvPr id="7" name="Hexagone décoratif"/>
          <p:cNvSpPr/>
          <p:nvPr/>
        </p:nvSpPr>
        <p:spPr>
          <a:xfrm>
            <a:off x="9509760" y="4754880"/>
            <a:ext cx="1188720" cy="1029462"/>
          </a:xfrm>
          <a:custGeom>
            <a:avLst/>
            <a:gdLst/>
            <a:ahLst/>
            <a:cxnLst/>
            <a:rect l="l" t="t" r="r" b="b"/>
            <a:pathLst>
              <a:path w="1188720" h="1029462">
                <a:moveTo>
                  <a:pt x="0" y="514731"/>
                </a:moveTo>
                <a:lnTo>
                  <a:pt x="297180" y="0"/>
                </a:lnTo>
                <a:lnTo>
                  <a:pt x="891540" y="0"/>
                </a:lnTo>
                <a:lnTo>
                  <a:pt x="1188720" y="514731"/>
                </a:lnTo>
                <a:lnTo>
                  <a:pt x="891540" y="1029462"/>
                </a:lnTo>
                <a:lnTo>
                  <a:pt x="297180" y="1029462"/>
                </a:lnTo>
                <a:close/>
              </a:path>
            </a:pathLst>
          </a:custGeom>
          <a:solidFill>
            <a:srgbClr val="001793">
              <a:alpha val="50000"/>
            </a:srgbClr>
          </a:solidFill>
          <a:ln w="12700">
            <a:solidFill>
              <a:srgbClr val="001793">
                <a:alpha val="0"/>
              </a:srgbClr>
            </a:solidFill>
            <a:prstDash val="solid"/>
          </a:ln>
        </p:spPr>
      </p:sp>
      <p:sp>
        <p:nvSpPr>
          <p:cNvPr id="8" name="Hexagone jaune"/>
          <p:cNvSpPr/>
          <p:nvPr/>
        </p:nvSpPr>
        <p:spPr>
          <a:xfrm>
            <a:off x="10881360" y="5257800"/>
            <a:ext cx="685800" cy="593920"/>
          </a:xfrm>
          <a:custGeom>
            <a:avLst/>
            <a:gdLst/>
            <a:ahLst/>
            <a:cxnLst/>
            <a:rect l="l" t="t" r="r" b="b"/>
            <a:pathLst>
              <a:path w="685800" h="593920">
                <a:moveTo>
                  <a:pt x="0" y="296960"/>
                </a:moveTo>
                <a:lnTo>
                  <a:pt x="171450" y="0"/>
                </a:lnTo>
                <a:lnTo>
                  <a:pt x="514350" y="0"/>
                </a:lnTo>
                <a:lnTo>
                  <a:pt x="685800" y="296960"/>
                </a:lnTo>
                <a:lnTo>
                  <a:pt x="514350" y="593920"/>
                </a:lnTo>
                <a:lnTo>
                  <a:pt x="171450" y="593920"/>
                </a:lnTo>
                <a:close/>
              </a:path>
            </a:pathLst>
          </a:custGeom>
          <a:solidFill>
            <a:srgbClr val="FFFF00"/>
          </a:solidFill>
          <a:ln w="12700">
            <a:solidFill>
              <a:srgbClr val="FFFF00">
                <a:alpha val="0"/>
              </a:srgbClr>
            </a:solidFill>
            <a:prstDash val="solid"/>
          </a:ln>
        </p:spPr>
      </p:sp>
      <p:pic>
        <p:nvPicPr>
          <p:cNvPr id="9" name="Logo" descr="Logo 3B Studi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2148840"/>
            <a:ext cx="2560320" cy="200729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3B Studio">
  <a:themeElements>
    <a:clrScheme name="3B Studio">
      <a:dk1>
        <a:srgbClr val="110E2D"/>
      </a:dk1>
      <a:lt1>
        <a:srgbClr val="FFFFFF"/>
      </a:lt1>
      <a:dk2>
        <a:srgbClr val="000057"/>
      </a:dk2>
      <a:lt2>
        <a:srgbClr val="E1EAF1"/>
      </a:lt2>
      <a:accent1>
        <a:srgbClr val="0040FF"/>
      </a:accent1>
      <a:accent2>
        <a:srgbClr val="FFFF00"/>
      </a:accent2>
      <a:accent3>
        <a:srgbClr val="001793"/>
      </a:accent3>
      <a:accent4>
        <a:srgbClr val="000D78"/>
      </a:accent4>
      <a:accent5>
        <a:srgbClr val="00D66B"/>
      </a:accent5>
      <a:accent6>
        <a:srgbClr val="FF3749"/>
      </a:accent6>
      <a:hlink>
        <a:srgbClr val="0040FF"/>
      </a:hlink>
      <a:folHlink>
        <a:srgbClr val="000092"/>
      </a:folHlink>
    </a:clrScheme>
    <a:fontScheme name="3B Studio">
      <a:majorFont>
        <a:latin typeface="Montserra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ontserra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Black Blue Bees - 3B 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 4 · Authentification, état et composants réutilisables</dc:title>
  <dc:subject>Cours 4 · Authentification, état et composants réutilisables</dc:subject>
  <dc:creator>3B Studio</dc:creator>
  <cp:lastModifiedBy>3B Studio</cp:lastModifiedBy>
  <cp:revision>1</cp:revision>
  <dcterms:created xsi:type="dcterms:W3CDTF">2026-10-19T08:12:43Z</dcterms:created>
  <dcterms:modified xsi:type="dcterms:W3CDTF">2026-10-19T08:12:43Z</dcterms:modified>
</cp:coreProperties>
</file>