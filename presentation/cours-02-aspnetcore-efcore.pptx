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a008fb5-163f-22ff-5c05-68f53f17145c}">
          <p14:sldIdLst>
            <p14:sldId id="256"/>
            <p14:sldId id="257"/>
          </p14:sldIdLst>
        </p14:section>
        <p14:section name="1. Démarrage et pipeline" id="{bddd2ca5-05d7-3a6c-9898-7d55b8aa10fc}">
          <p14:sldIdLst>
            <p14:sldId id="258"/>
            <p14:sldId id="259"/>
            <p14:sldId id="260"/>
          </p14:sldIdLst>
        </p14:section>
        <p14:section name="2. Injection et configuration" id="{ab7f36e8-d6bb-e366-0ead-33252e20c07a}">
          <p14:sldIdLst>
            <p14:sldId id="261"/>
            <p14:sldId id="262"/>
            <p14:sldId id="263"/>
          </p14:sldIdLst>
        </p14:section>
        <p14:section name="3. Minimal APIs" id="{2c039bb0-61f1-22fa-283c-844b7f1df697}">
          <p14:sldIdLst>
            <p14:sldId id="264"/>
            <p14:sldId id="265"/>
            <p14:sldId id="266"/>
          </p14:sldIdLst>
        </p14:section>
        <p14:section name="4. Entity Framework Core" id="{b08f7656-c6fa-8b34-c560-cda80dd80c4c}">
          <p14:sldIdLst>
            <p14:sldId id="267"/>
            <p14:sldId id="268"/>
            <p14:sldId id="269"/>
            <p14:sldId id="270"/>
            <p14:sldId id="271"/>
            <p14:sldId id="272"/>
            <p14:sldId id="273"/>
          </p14:sldIdLst>
        </p14:section>
        <p14:section name="5. Tester" id="{6c34e4d3-cdd1-a0a4-4544-7f7829c84761}">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Trente à quarante minutes avant le TP-02. La matinée construit l'API de tickets qui servira jusqu'au vendredi.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 Core est la plus grosse partie : la moitié du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Services, pipeline, routes : on retrouve ces trois parties dans tous nos projets ASP.NET Core, Blazor compris. Kestrel est le serveur HTTP intégré, comme Netty ou le serveur embarqué de Spring Boot. Pas de serveur d'application à installer.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 des poupées russes, ou les filtres de servlet. Ici le middleware attend la suite avec await, ce qui permet d'agir avant et après, comme dans Express ou Axum (tower).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piège : un singleton qui garde un service scoped (« dépendance captive »). En Development, ASP.NET Core le détecte au démarrage. L'exercice 2 rend les trois durées visibles avec des identifiants.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double tiret bas remplace le deux-points des sections dans une variable d'environnement. ValidateOnStart fait échouer le démarrage plutôt que la première requête. On injecte ensuite IOptions&lt;T&gt;, ou IOptionsSnapshot&lt;T&gt; pour relire à chaque requête.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 vient de la route, req du corps JSON, repo du conteneur, ct de la requête HTTP. CreatedAtRoute remplit l'en-tête Location : c'est le 201 attendu par les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Development, un JSON illisible lève une BadHttpRequestException : le StatusCodeSelector de UseExceptionHandler la transforme en 400. L'alternant le lit dans Program.cs à l'exercice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un développeur Rust habitué à sqlx ou Diesel : EF Core va plus loin, il suit les objets chargés et écrit les UPDATE tout seul. C'est puissant, et c'est la source des pièges qu'on verra.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lecture de la chaîne de connexion se fait dans la lambda d'AddDbContext : les tests remplacent la configuration après l'exécution de Program.cs.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migration est générée par comparaison entre le modèle et le dernier instantané (ModelSnapshot). On la relit toujours : un renommage peut devenir une suppression suivie d'un ajout.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Conséquence : une propriété calculée en C# ne peut pas être traduite, et l'erreur n'apparaît qu'à l'exécution. Le TP-05 en fait une stack trace à lire. Activer la catégorie Microsoft.EntityFrameworkCore.Database.Command en Development pour voir le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même piège existe avec JPA (chargement paresseux), Django ou Rails. EF Core ne charge pas les relations par défaut : sans Include, Comments reste 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modèle unit of work, comme la session Hibernate ou SQLAlchemy. Au TP-05, une des anomalies vient d'un AsNoTracking sur une mise à jour : l'API répond 204 et rien n'est enregistré.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TicketsApiFactory hérite de WebApplicationFactory&lt;Program&gt; et pointe vers la base de test. C'est pour elle que Program.cs déclare public partial class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Revenir sur ces points en fin de matinée.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premier blocage possible est la chaîne de connexion : la vérifier avec l'alternant avant l'exercice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UVERTUR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SECTION-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CLOTUR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6675120" cy="17373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r>
              <a:rPr lang="en-US" sz="4800" b="1" dirty="0">
                <a:solidFill>
                  <a:schemeClr val="bg1"/>
                </a:solidFill>
              </a:rPr>
              <a:t>Titre</a:t>
            </a:r>
            <a:endParaRPr lang="en-US" sz="4800" dirty="0"/>
          </a:p>
        </p:txBody>
      </p:sp>
      <p:sp>
        <p:nvSpPr>
          <p:cNvPr id="3" name="Text 0"/>
          <p:cNvSpPr/>
          <p:nvPr>
            <p:ph idx="101" type="body" hasCustomPrompt="1"/>
          </p:nvPr>
        </p:nvSpPr>
        <p:spPr>
          <a:xfrm>
            <a:off x="731520" y="3977640"/>
            <a:ext cx="6217920" cy="91440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r>
              <a:rPr lang="en-US" sz="1800" dirty="0">
                <a:solidFill>
                  <a:schemeClr val="bg1"/>
                </a:solidFill>
              </a:rPr>
              <a:t>Sous-titre</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0" y="2514600"/>
            <a:ext cx="6949440" cy="16916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r>
              <a:rPr lang="en-US" sz="3400" b="1" dirty="0">
                <a:solidFill>
                  <a:schemeClr val="bg1"/>
                </a:solidFill>
              </a:rPr>
              <a:t>Titre de partie</a:t>
            </a:r>
            <a:endParaRPr lang="en-US" sz="3400" dirty="0"/>
          </a:p>
        </p:txBody>
      </p:sp>
      <p:sp>
        <p:nvSpPr>
          <p:cNvPr id="3" name="Text 0"/>
          <p:cNvSpPr/>
          <p:nvPr>
            <p:ph idx="101" type="body" hasCustomPrompt="1"/>
          </p:nvPr>
        </p:nvSpPr>
        <p:spPr>
          <a:xfrm>
            <a:off x="4572000" y="4297680"/>
            <a:ext cx="6949440" cy="9144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r>
              <a:rPr lang="en-US" sz="1800" dirty="0">
                <a:solidFill>
                  <a:schemeClr val="bg2"/>
                </a:solidFill>
              </a:rPr>
              <a:t>Détail</a:t>
            </a:r>
            <a:endParaRPr lang="en-US" sz="1800" dirty="0"/>
          </a:p>
        </p:txBody>
      </p:sp>
      <p:pic>
        <p:nvPicPr>
          <p:cNvPr id="4" name="Image 0" descr="/tmp/claude-0/-home-user-Tp-Net/172d164e-f28f-581b-a794-ba1e7ff38c50/scratchpad/deck/assets/logo.png">    </p:cNvPr>
          <p:cNvPicPr>
            <a:picLocks noChangeAspect="1"/>
          </p:cNvPicPr>
          <p:nvPr/>
        </p:nvPicPr>
        <p:blipFill>
          <a:blip r:embed="rId1"/>
          <a:stretch>
            <a:fillRect/>
          </a:stretch>
        </p:blipFill>
        <p:spPr>
          <a:xfrm>
            <a:off x="11109960" y="5989320"/>
            <a:ext cx="685800" cy="537667"/>
          </a:xfrm>
          <a:prstGeom prst="rect">
            <a:avLst/>
          </a:prstGeom>
        </p:spPr>
      </p:pic>
      <p:sp>
        <p:nvSpPr>
          <p:cNvPr id="25" name="Slide Number Placeholder 0"/>
          <p:cNvSpPr>
            <a:spLocks noGrp="1"/>
          </p:cNvSpPr>
          <p:nvPr>
            <p:ph type="sldNum" sz="quarter" idx="4294967295"/>
          </p:nvPr>
        </p:nvSpPr>
        <p:spPr>
          <a:xfrm>
            <a:off x="10241280" y="61722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0058400" cy="6858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r>
              <a:rPr lang="en-US" sz="2800" b="1" dirty="0">
                <a:solidFill>
                  <a:schemeClr val="tx2"/>
                </a:solidFill>
              </a:rPr>
              <a:t>Titre</a:t>
            </a:r>
            <a:endParaRPr lang="en-US" sz="2800" dirty="0"/>
          </a:p>
        </p:txBody>
      </p:sp>
      <p:pic>
        <p:nvPicPr>
          <p:cNvPr id="3" name="Image 0" descr="/tmp/claude-0/-home-user-Tp-Net/172d164e-f28f-581b-a794-ba1e7ff38c50/scratchpad/deck/assets/logo.png">    </p:cNvPr>
          <p:cNvPicPr>
            <a:picLocks noChangeAspect="1"/>
          </p:cNvPicPr>
          <p:nvPr/>
        </p:nvPicPr>
        <p:blipFill>
          <a:blip r:embed="rId1"/>
          <a:stretch>
            <a:fillRect/>
          </a:stretch>
        </p:blipFill>
        <p:spPr>
          <a:xfrm>
            <a:off x="10972800" y="320040"/>
            <a:ext cx="777240" cy="608990"/>
          </a:xfrm>
          <a:prstGeom prst="rect">
            <a:avLst/>
          </a:prstGeom>
        </p:spPr>
      </p:pic>
      <p:sp>
        <p:nvSpPr>
          <p:cNvPr id="4" name="Text 0"/>
          <p:cNvSpPr/>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chemeClr val="tx1"/>
                </a:solidFill>
              </a:rPr>
              <a:t>Parcours .NET · 3B Studio</a:t>
            </a:r>
            <a:endParaRPr lang="en-US" sz="10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TUR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676656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Titre</a:t>
            </a:r>
            <a:endParaRPr lang="en-US" sz="4400" dirty="0"/>
          </a:p>
        </p:txBody>
      </p:sp>
      <p:sp>
        <p:nvSpPr>
          <p:cNvPr id="3" name="Text 0"/>
          <p:cNvSpPr/>
          <p:nvPr>
            <p:ph idx="101" type="body" hasCustomPrompt="1"/>
          </p:nvPr>
        </p:nvSpPr>
        <p:spPr>
          <a:xfrm>
            <a:off x="731520" y="4343400"/>
            <a:ext cx="6400800" cy="118872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r>
              <a:rPr lang="en-US" sz="1600" dirty="0">
                <a:solidFill>
                  <a:schemeClr val="bg2"/>
                </a:solidFill>
              </a:rPr>
              <a:t>Détail</a:t>
            </a: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241280" y="61722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4.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slideLayout" Target="../slideLayouts/slideLayout4.xml"/><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5.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urtitre"/>
          <p:cNvSpPr txBox="1"/>
          <p:nvPr/>
        </p:nvSpPr>
        <p:spPr>
          <a:xfrm>
            <a:off x="731520" y="1600200"/>
            <a:ext cx="731520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COURS 2 · MARDI 20 OCTOBRE</a:t>
            </a:r>
            <a:endParaRPr lang="en-US" sz="1400" dirty="0"/>
          </a:p>
        </p:txBody>
      </p:sp>
      <p:sp>
        <p:nvSpPr>
          <p:cNvPr id="3" name="Text 0"/>
          <p:cNvSpPr/>
          <p:nvPr>
            <p:ph idx="100" type="title" hasCustomPrompt="1"/>
          </p:nvPr>
        </p:nvSpPr>
        <p:spPr>
          <a:xfrm>
            <a:off x="731520" y="2148840"/>
            <a:ext cx="6675120" cy="1737360"/>
          </a:xfrm>
          <a:prstGeom prst="rect">
            <a:avLst/>
          </a:prstGeom>
          <a:noFill/>
          <a:ln/>
        </p:spPr>
        <p:txBody>
          <a:bodyPr wrap="square" lIns="0" tIns="0" rIns="0" bIns="0" rtlCol="0" anchor="ctr"/>
          <a:lstStyle/>
          <a:p>
            <a:pPr algn="l" indent="0" marL="0">
              <a:buNone/>
            </a:pPr>
            <a:r>
              <a:rPr lang="en-US" sz="4800" b="1" dirty="0">
                <a:solidFill>
                  <a:schemeClr val="bg1"/>
                </a:solidFill>
              </a:rPr>
              <a:t>Serveur web et EF Core</a:t>
            </a:r>
            <a:endParaRPr lang="en-US" sz="4800" dirty="0"/>
          </a:p>
        </p:txBody>
      </p:sp>
      <p:sp>
        <p:nvSpPr>
          <p:cNvPr id="4" name="Text 0"/>
          <p:cNvSpPr/>
          <p:nvPr>
            <p:ph idx="101" type="body" hasCustomPrompt="1"/>
          </p:nvPr>
        </p:nvSpPr>
        <p:spPr>
          <a:xfrm>
            <a:off x="731520" y="3977640"/>
            <a:ext cx="6217920" cy="914400"/>
          </a:xfrm>
          <a:prstGeom prst="rect">
            <a:avLst/>
          </a:prstGeom>
          <a:noFill/>
          <a:ln/>
        </p:spPr>
        <p:txBody>
          <a:bodyPr wrap="square" lIns="0" tIns="0" rIns="0" bIns="0" rtlCol="0" anchor="t"/>
          <a:lstStyle/>
          <a:p>
            <a:pPr algn="l" indent="0" marL="0">
              <a:buNone/>
            </a:pPr>
            <a:r>
              <a:rPr lang="en-US" sz="1800" dirty="0">
                <a:solidFill>
                  <a:schemeClr val="bg1"/>
                </a:solidFill>
              </a:rPr>
              <a:t>Comment une requête HTTP traverse une application ASP.NET Core jusqu'à SQL Server.</a:t>
            </a:r>
            <a:endParaRPr lang="en-US" sz="1800" dirty="0"/>
          </a:p>
        </p:txBody>
      </p:sp>
      <p:sp>
        <p:nvSpPr>
          <p:cNvPr id="5" name="Hexagone décoratif"/>
          <p:cNvSpPr/>
          <p:nvPr/>
        </p:nvSpPr>
        <p:spPr>
          <a:xfrm>
            <a:off x="7863840" y="914400"/>
            <a:ext cx="1828800" cy="1583787"/>
          </a:xfrm>
          <a:custGeom>
            <a:avLst/>
            <a:gdLst/>
            <a:ahLst/>
            <a:cxnLst/>
            <a:rect l="l" t="t" r="r" b="b"/>
            <a:pathLst>
              <a:path w="1828800" h="1583787">
                <a:moveTo>
                  <a:pt x="0" y="791894"/>
                </a:moveTo>
                <a:lnTo>
                  <a:pt x="457200" y="0"/>
                </a:lnTo>
                <a:lnTo>
                  <a:pt x="1371600" y="0"/>
                </a:lnTo>
                <a:lnTo>
                  <a:pt x="1828800" y="791894"/>
                </a:lnTo>
                <a:lnTo>
                  <a:pt x="1371600" y="1583787"/>
                </a:lnTo>
                <a:lnTo>
                  <a:pt x="457200" y="1583787"/>
                </a:lnTo>
                <a:close/>
              </a:path>
            </a:pathLst>
          </a:custGeom>
          <a:solidFill>
            <a:srgbClr val="000D78">
              <a:alpha val="85000"/>
            </a:srgbClr>
          </a:solidFill>
          <a:ln w="12700">
            <a:solidFill>
              <a:srgbClr val="000D78">
                <a:alpha val="0"/>
              </a:srgbClr>
            </a:solidFill>
            <a:prstDash val="solid"/>
          </a:ln>
        </p:spPr>
      </p:sp>
      <p:sp>
        <p:nvSpPr>
          <p:cNvPr id="6" name="Hexagone décoratif"/>
          <p:cNvSpPr/>
          <p:nvPr/>
        </p:nvSpPr>
        <p:spPr>
          <a:xfrm>
            <a:off x="10424160" y="4526280"/>
            <a:ext cx="1371600" cy="1187840"/>
          </a:xfrm>
          <a:custGeom>
            <a:avLst/>
            <a:gdLst/>
            <a:ahLst/>
            <a:cxnLst/>
            <a:rect l="l" t="t" r="r" b="b"/>
            <a:pathLst>
              <a:path w="1371600" h="1187840">
                <a:moveTo>
                  <a:pt x="0" y="593920"/>
                </a:moveTo>
                <a:lnTo>
                  <a:pt x="342900" y="0"/>
                </a:lnTo>
                <a:lnTo>
                  <a:pt x="1028700" y="0"/>
                </a:lnTo>
                <a:lnTo>
                  <a:pt x="1371600" y="593920"/>
                </a:lnTo>
                <a:lnTo>
                  <a:pt x="1028700" y="1187840"/>
                </a:lnTo>
                <a:lnTo>
                  <a:pt x="342900" y="1187840"/>
                </a:lnTo>
                <a:close/>
              </a:path>
            </a:pathLst>
          </a:custGeom>
          <a:solidFill>
            <a:srgbClr val="001793">
              <a:alpha val="60000"/>
            </a:srgbClr>
          </a:solidFill>
          <a:ln w="12700">
            <a:solidFill>
              <a:srgbClr val="001793">
                <a:alpha val="0"/>
              </a:srgbClr>
            </a:solidFill>
            <a:prstDash val="solid"/>
          </a:ln>
        </p:spPr>
      </p:sp>
      <p:sp>
        <p:nvSpPr>
          <p:cNvPr id="7" name="Hexagone jaune"/>
          <p:cNvSpPr/>
          <p:nvPr/>
        </p:nvSpPr>
        <p:spPr>
          <a:xfrm>
            <a:off x="7635240" y="502920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FFFF00"/>
          </a:solidFill>
          <a:ln w="12700">
            <a:solidFill>
              <a:srgbClr val="FFFF00">
                <a:alpha val="0"/>
              </a:srgbClr>
            </a:solidFill>
            <a:prstDash val="solid"/>
          </a:ln>
        </p:spPr>
      </p:sp>
      <p:sp>
        <p:nvSpPr>
          <p:cNvPr id="8" name="Grand hexagone"/>
          <p:cNvSpPr/>
          <p:nvPr/>
        </p:nvSpPr>
        <p:spPr>
          <a:xfrm>
            <a:off x="8275320" y="1965960"/>
            <a:ext cx="3108960" cy="2692438"/>
          </a:xfrm>
          <a:custGeom>
            <a:avLst/>
            <a:gdLst/>
            <a:ahLst/>
            <a:cxnLst/>
            <a:rect l="l" t="t" r="r" b="b"/>
            <a:pathLst>
              <a:path w="3108960" h="2692438">
                <a:moveTo>
                  <a:pt x="0" y="1346219"/>
                </a:moveTo>
                <a:lnTo>
                  <a:pt x="777240" y="0"/>
                </a:lnTo>
                <a:lnTo>
                  <a:pt x="2331720" y="0"/>
                </a:lnTo>
                <a:lnTo>
                  <a:pt x="3108960" y="1346219"/>
                </a:lnTo>
                <a:lnTo>
                  <a:pt x="2331720" y="2692438"/>
                </a:lnTo>
                <a:lnTo>
                  <a:pt x="777240" y="2692438"/>
                </a:lnTo>
                <a:close/>
              </a:path>
            </a:pathLst>
          </a:custGeom>
          <a:solidFill>
            <a:srgbClr val="FFFF00"/>
          </a:solidFill>
          <a:ln w="12700">
            <a:solidFill>
              <a:srgbClr val="FFFF00">
                <a:alpha val="0"/>
              </a:srgbClr>
            </a:solidFill>
            <a:prstDash val="solid"/>
          </a:ln>
        </p:spPr>
      </p:sp>
      <p:sp>
        <p:nvSpPr>
          <p:cNvPr id="9" name="Numéro du cours"/>
          <p:cNvSpPr txBox="1"/>
          <p:nvPr/>
        </p:nvSpPr>
        <p:spPr>
          <a:xfrm>
            <a:off x="8275320" y="1965960"/>
            <a:ext cx="3108960" cy="2688336"/>
          </a:xfrm>
          <a:prstGeom prst="rect">
            <a:avLst/>
          </a:prstGeom>
          <a:noFill/>
          <a:ln/>
        </p:spPr>
        <p:txBody>
          <a:bodyPr wrap="square" lIns="0" tIns="0" rIns="0" bIns="0" rtlCol="0" anchor="ctr"/>
          <a:lstStyle/>
          <a:p>
            <a:pPr algn="ctr" indent="0" marL="0">
              <a:buNone/>
            </a:pPr>
            <a:r>
              <a:rPr lang="en-US" sz="8000" b="1" dirty="0">
                <a:solidFill>
                  <a:schemeClr val="tx2"/>
                </a:solidFill>
              </a:rPr>
              <a:t>2</a:t>
            </a:r>
            <a:endParaRPr lang="en-US" sz="8000" dirty="0"/>
          </a:p>
        </p:txBody>
      </p:sp>
      <p:pic>
        <p:nvPicPr>
          <p:cNvPr id="10" name="Logo" descr="Logo 3B Studio">    </p:cNvPr>
          <p:cNvPicPr>
            <a:picLocks noChangeAspect="1"/>
          </p:cNvPicPr>
          <p:nvPr/>
        </p:nvPicPr>
        <p:blipFill>
          <a:blip r:embed="rId1"/>
          <a:stretch>
            <a:fillRect/>
          </a:stretch>
        </p:blipFill>
        <p:spPr>
          <a:xfrm>
            <a:off x="731520" y="5349240"/>
            <a:ext cx="822960" cy="64520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Au programme</a:t>
            </a:r>
            <a:endParaRPr lang="en-US" sz="2800" dirty="0"/>
          </a:p>
        </p:txBody>
      </p:sp>
      <p:sp>
        <p:nvSpPr>
          <p:cNvPr id="3" name="Pastille 1"/>
          <p:cNvSpPr/>
          <p:nvPr/>
        </p:nvSpPr>
        <p:spPr>
          <a:xfrm>
            <a:off x="548640" y="1417320"/>
            <a:ext cx="777240" cy="673110"/>
          </a:xfrm>
          <a:custGeom>
            <a:avLst/>
            <a:gdLst/>
            <a:ahLst/>
            <a:cxnLst/>
            <a:rect l="l" t="t" r="r" b="b"/>
            <a:pathLst>
              <a:path w="777240" h="673110">
                <a:moveTo>
                  <a:pt x="0" y="336555"/>
                </a:moveTo>
                <a:lnTo>
                  <a:pt x="194310" y="0"/>
                </a:lnTo>
                <a:lnTo>
                  <a:pt x="582930" y="0"/>
                </a:lnTo>
                <a:lnTo>
                  <a:pt x="777240" y="336555"/>
                </a:lnTo>
                <a:lnTo>
                  <a:pt x="582930" y="673110"/>
                </a:lnTo>
                <a:lnTo>
                  <a:pt x="194310" y="673110"/>
                </a:lnTo>
                <a:close/>
              </a:path>
            </a:pathLst>
          </a:custGeom>
          <a:solidFill>
            <a:srgbClr val="000057"/>
          </a:solidFill>
          <a:ln w="12700">
            <a:solidFill>
              <a:srgbClr val="000057">
                <a:alpha val="0"/>
              </a:srgbClr>
            </a:solidFill>
            <a:prstDash val="solid"/>
          </a:ln>
        </p:spPr>
      </p:sp>
      <p:pic>
        <p:nvPicPr>
          <p:cNvPr id="4" name="Icône 1" descr="Le démarrage">    </p:cNvPr>
          <p:cNvPicPr>
            <a:picLocks noChangeAspect="1"/>
          </p:cNvPicPr>
          <p:nvPr/>
        </p:nvPicPr>
        <p:blipFill>
          <a:blip r:embed="rId1"/>
          <a:stretch>
            <a:fillRect/>
          </a:stretch>
        </p:blipFill>
        <p:spPr>
          <a:xfrm>
            <a:off x="758952" y="1572768"/>
            <a:ext cx="356616" cy="356616"/>
          </a:xfrm>
          <a:prstGeom prst="rect">
            <a:avLst/>
          </a:prstGeom>
        </p:spPr>
      </p:pic>
      <p:sp>
        <p:nvSpPr>
          <p:cNvPr id="5" name="Partie 1"/>
          <p:cNvSpPr txBox="1"/>
          <p:nvPr/>
        </p:nvSpPr>
        <p:spPr>
          <a:xfrm>
            <a:off x="1554480" y="1435608"/>
            <a:ext cx="4206240" cy="640080"/>
          </a:xfrm>
          <a:prstGeom prst="rect">
            <a:avLst/>
          </a:prstGeom>
          <a:noFill/>
          <a:ln/>
        </p:spPr>
        <p:txBody>
          <a:bodyPr wrap="square" lIns="0" tIns="0" rIns="0" bIns="0" rtlCol="0" anchor="ctr"/>
          <a:lstStyle/>
          <a:p>
            <a:pPr indent="0" marL="0">
              <a:buNone/>
            </a:pPr>
            <a:r>
              <a:rPr lang="en-US" sz="1800" b="1" dirty="0">
                <a:solidFill>
                  <a:schemeClr val="tx2"/>
                </a:solidFill>
              </a:rPr>
              <a:t>1. Le démarrage</a:t>
            </a:r>
            <a:endParaRPr lang="en-US" sz="1800" dirty="0"/>
          </a:p>
        </p:txBody>
      </p:sp>
      <p:sp>
        <p:nvSpPr>
          <p:cNvPr id="6" name="Contenu 1"/>
          <p:cNvSpPr txBox="1"/>
          <p:nvPr/>
        </p:nvSpPr>
        <p:spPr>
          <a:xfrm>
            <a:off x="5852160" y="1435608"/>
            <a:ext cx="5806440" cy="64008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Program.cs</a:t>
            </a:r>
            <a:r>
              <a:rPr lang="en-US" sz="1500" dirty="0">
                <a:solidFill>
                  <a:schemeClr val="tx1"/>
                </a:solidFill>
              </a:rPr>
              <a:t>, l'hôte, Kestrel</a:t>
            </a:r>
            <a:endParaRPr lang="en-US" sz="1500" dirty="0"/>
          </a:p>
        </p:txBody>
      </p:sp>
      <p:sp>
        <p:nvSpPr>
          <p:cNvPr id="7" name="Pastille 2"/>
          <p:cNvSpPr/>
          <p:nvPr/>
        </p:nvSpPr>
        <p:spPr>
          <a:xfrm>
            <a:off x="548640" y="2179320"/>
            <a:ext cx="777240" cy="673110"/>
          </a:xfrm>
          <a:custGeom>
            <a:avLst/>
            <a:gdLst/>
            <a:ahLst/>
            <a:cxnLst/>
            <a:rect l="l" t="t" r="r" b="b"/>
            <a:pathLst>
              <a:path w="777240" h="673110">
                <a:moveTo>
                  <a:pt x="0" y="336555"/>
                </a:moveTo>
                <a:lnTo>
                  <a:pt x="194310" y="0"/>
                </a:lnTo>
                <a:lnTo>
                  <a:pt x="582930" y="0"/>
                </a:lnTo>
                <a:lnTo>
                  <a:pt x="777240" y="336555"/>
                </a:lnTo>
                <a:lnTo>
                  <a:pt x="582930" y="673110"/>
                </a:lnTo>
                <a:lnTo>
                  <a:pt x="194310" y="673110"/>
                </a:lnTo>
                <a:close/>
              </a:path>
            </a:pathLst>
          </a:custGeom>
          <a:solidFill>
            <a:srgbClr val="0040FF"/>
          </a:solidFill>
          <a:ln w="12700">
            <a:solidFill>
              <a:srgbClr val="0040FF">
                <a:alpha val="0"/>
              </a:srgbClr>
            </a:solidFill>
            <a:prstDash val="solid"/>
          </a:ln>
        </p:spPr>
      </p:sp>
      <p:pic>
        <p:nvPicPr>
          <p:cNvPr id="8" name="Icône 2" descr="Le pipeline">    </p:cNvPr>
          <p:cNvPicPr>
            <a:picLocks noChangeAspect="1"/>
          </p:cNvPicPr>
          <p:nvPr/>
        </p:nvPicPr>
        <p:blipFill>
          <a:blip r:embed="rId2"/>
          <a:stretch>
            <a:fillRect/>
          </a:stretch>
        </p:blipFill>
        <p:spPr>
          <a:xfrm>
            <a:off x="758952" y="2334768"/>
            <a:ext cx="356616" cy="356616"/>
          </a:xfrm>
          <a:prstGeom prst="rect">
            <a:avLst/>
          </a:prstGeom>
        </p:spPr>
      </p:pic>
      <p:sp>
        <p:nvSpPr>
          <p:cNvPr id="9" name="Partie 2"/>
          <p:cNvSpPr txBox="1"/>
          <p:nvPr/>
        </p:nvSpPr>
        <p:spPr>
          <a:xfrm>
            <a:off x="1554480" y="2197608"/>
            <a:ext cx="4206240" cy="640080"/>
          </a:xfrm>
          <a:prstGeom prst="rect">
            <a:avLst/>
          </a:prstGeom>
          <a:noFill/>
          <a:ln/>
        </p:spPr>
        <p:txBody>
          <a:bodyPr wrap="square" lIns="0" tIns="0" rIns="0" bIns="0" rtlCol="0" anchor="ctr"/>
          <a:lstStyle/>
          <a:p>
            <a:pPr indent="0" marL="0">
              <a:buNone/>
            </a:pPr>
            <a:r>
              <a:rPr lang="en-US" sz="1800" b="1" dirty="0">
                <a:solidFill>
                  <a:schemeClr val="tx2"/>
                </a:solidFill>
              </a:rPr>
              <a:t>2. Le pipeline</a:t>
            </a:r>
            <a:endParaRPr lang="en-US" sz="1800" dirty="0"/>
          </a:p>
        </p:txBody>
      </p:sp>
      <p:sp>
        <p:nvSpPr>
          <p:cNvPr id="10" name="Contenu 2"/>
          <p:cNvSpPr txBox="1"/>
          <p:nvPr/>
        </p:nvSpPr>
        <p:spPr>
          <a:xfrm>
            <a:off x="5852160" y="2197608"/>
            <a:ext cx="5806440" cy="640080"/>
          </a:xfrm>
          <a:prstGeom prst="rect">
            <a:avLst/>
          </a:prstGeom>
          <a:noFill/>
          <a:ln/>
        </p:spPr>
        <p:txBody>
          <a:bodyPr wrap="square" lIns="0" tIns="0" rIns="0" bIns="0" rtlCol="0" anchor="ctr"/>
          <a:lstStyle/>
          <a:p>
            <a:pPr indent="0" marL="0">
              <a:buNone/>
            </a:pPr>
            <a:r>
              <a:rPr lang="en-US" sz="1500" dirty="0">
                <a:solidFill>
                  <a:schemeClr val="tx1"/>
                </a:solidFill>
              </a:rPr>
              <a:t>les middlewares, dans l'ordre</a:t>
            </a:r>
            <a:endParaRPr lang="en-US" sz="1500" dirty="0"/>
          </a:p>
        </p:txBody>
      </p:sp>
      <p:sp>
        <p:nvSpPr>
          <p:cNvPr id="11" name="Pastille 3"/>
          <p:cNvSpPr/>
          <p:nvPr/>
        </p:nvSpPr>
        <p:spPr>
          <a:xfrm>
            <a:off x="548640" y="2941320"/>
            <a:ext cx="777240" cy="673110"/>
          </a:xfrm>
          <a:custGeom>
            <a:avLst/>
            <a:gdLst/>
            <a:ahLst/>
            <a:cxnLst/>
            <a:rect l="l" t="t" r="r" b="b"/>
            <a:pathLst>
              <a:path w="777240" h="673110">
                <a:moveTo>
                  <a:pt x="0" y="336555"/>
                </a:moveTo>
                <a:lnTo>
                  <a:pt x="194310" y="0"/>
                </a:lnTo>
                <a:lnTo>
                  <a:pt x="582930" y="0"/>
                </a:lnTo>
                <a:lnTo>
                  <a:pt x="777240" y="336555"/>
                </a:lnTo>
                <a:lnTo>
                  <a:pt x="582930" y="673110"/>
                </a:lnTo>
                <a:lnTo>
                  <a:pt x="194310" y="673110"/>
                </a:lnTo>
                <a:close/>
              </a:path>
            </a:pathLst>
          </a:custGeom>
          <a:solidFill>
            <a:srgbClr val="000057"/>
          </a:solidFill>
          <a:ln w="12700">
            <a:solidFill>
              <a:srgbClr val="000057">
                <a:alpha val="0"/>
              </a:srgbClr>
            </a:solidFill>
            <a:prstDash val="solid"/>
          </a:ln>
        </p:spPr>
      </p:sp>
      <p:pic>
        <p:nvPicPr>
          <p:cNvPr id="12" name="Icône 3" descr="Injection et configuration">    </p:cNvPr>
          <p:cNvPicPr>
            <a:picLocks noChangeAspect="1"/>
          </p:cNvPicPr>
          <p:nvPr/>
        </p:nvPicPr>
        <p:blipFill>
          <a:blip r:embed="rId3"/>
          <a:stretch>
            <a:fillRect/>
          </a:stretch>
        </p:blipFill>
        <p:spPr>
          <a:xfrm>
            <a:off x="758952" y="3096768"/>
            <a:ext cx="356616" cy="356616"/>
          </a:xfrm>
          <a:prstGeom prst="rect">
            <a:avLst/>
          </a:prstGeom>
        </p:spPr>
      </p:pic>
      <p:sp>
        <p:nvSpPr>
          <p:cNvPr id="13" name="Partie 3"/>
          <p:cNvSpPr txBox="1"/>
          <p:nvPr/>
        </p:nvSpPr>
        <p:spPr>
          <a:xfrm>
            <a:off x="1554480" y="2959608"/>
            <a:ext cx="4206240" cy="640080"/>
          </a:xfrm>
          <a:prstGeom prst="rect">
            <a:avLst/>
          </a:prstGeom>
          <a:noFill/>
          <a:ln/>
        </p:spPr>
        <p:txBody>
          <a:bodyPr wrap="square" lIns="0" tIns="0" rIns="0" bIns="0" rtlCol="0" anchor="ctr"/>
          <a:lstStyle/>
          <a:p>
            <a:pPr indent="0" marL="0">
              <a:buNone/>
            </a:pPr>
            <a:r>
              <a:rPr lang="en-US" sz="1800" b="1" dirty="0">
                <a:solidFill>
                  <a:schemeClr val="tx2"/>
                </a:solidFill>
              </a:rPr>
              <a:t>3. Injection et configuration</a:t>
            </a:r>
            <a:endParaRPr lang="en-US" sz="1800" dirty="0"/>
          </a:p>
        </p:txBody>
      </p:sp>
      <p:sp>
        <p:nvSpPr>
          <p:cNvPr id="14" name="Contenu 3"/>
          <p:cNvSpPr txBox="1"/>
          <p:nvPr/>
        </p:nvSpPr>
        <p:spPr>
          <a:xfrm>
            <a:off x="5852160" y="2959608"/>
            <a:ext cx="5806440" cy="640080"/>
          </a:xfrm>
          <a:prstGeom prst="rect">
            <a:avLst/>
          </a:prstGeom>
          <a:noFill/>
          <a:ln/>
        </p:spPr>
        <p:txBody>
          <a:bodyPr wrap="square" lIns="0" tIns="0" rIns="0" bIns="0" rtlCol="0" anchor="ctr"/>
          <a:lstStyle/>
          <a:p>
            <a:pPr indent="0" marL="0">
              <a:buNone/>
            </a:pPr>
            <a:r>
              <a:rPr lang="en-US" sz="1500" dirty="0">
                <a:solidFill>
                  <a:schemeClr val="tx1"/>
                </a:solidFill>
              </a:rPr>
              <a:t>durées de vie, options typées, secrets</a:t>
            </a:r>
            <a:endParaRPr lang="en-US" sz="1500" dirty="0"/>
          </a:p>
        </p:txBody>
      </p:sp>
      <p:sp>
        <p:nvSpPr>
          <p:cNvPr id="15" name="Pastille 4"/>
          <p:cNvSpPr/>
          <p:nvPr/>
        </p:nvSpPr>
        <p:spPr>
          <a:xfrm>
            <a:off x="548640" y="3703320"/>
            <a:ext cx="777240" cy="673110"/>
          </a:xfrm>
          <a:custGeom>
            <a:avLst/>
            <a:gdLst/>
            <a:ahLst/>
            <a:cxnLst/>
            <a:rect l="l" t="t" r="r" b="b"/>
            <a:pathLst>
              <a:path w="777240" h="673110">
                <a:moveTo>
                  <a:pt x="0" y="336555"/>
                </a:moveTo>
                <a:lnTo>
                  <a:pt x="194310" y="0"/>
                </a:lnTo>
                <a:lnTo>
                  <a:pt x="582930" y="0"/>
                </a:lnTo>
                <a:lnTo>
                  <a:pt x="777240" y="336555"/>
                </a:lnTo>
                <a:lnTo>
                  <a:pt x="582930" y="673110"/>
                </a:lnTo>
                <a:lnTo>
                  <a:pt x="194310" y="673110"/>
                </a:lnTo>
                <a:close/>
              </a:path>
            </a:pathLst>
          </a:custGeom>
          <a:solidFill>
            <a:srgbClr val="0040FF"/>
          </a:solidFill>
          <a:ln w="12700">
            <a:solidFill>
              <a:srgbClr val="0040FF">
                <a:alpha val="0"/>
              </a:srgbClr>
            </a:solidFill>
            <a:prstDash val="solid"/>
          </a:ln>
        </p:spPr>
      </p:sp>
      <p:pic>
        <p:nvPicPr>
          <p:cNvPr id="16" name="Icône 4" descr="Les Minimal APIs">    </p:cNvPr>
          <p:cNvPicPr>
            <a:picLocks noChangeAspect="1"/>
          </p:cNvPicPr>
          <p:nvPr/>
        </p:nvPicPr>
        <p:blipFill>
          <a:blip r:embed="rId4"/>
          <a:stretch>
            <a:fillRect/>
          </a:stretch>
        </p:blipFill>
        <p:spPr>
          <a:xfrm>
            <a:off x="758952" y="3858768"/>
            <a:ext cx="356616" cy="356616"/>
          </a:xfrm>
          <a:prstGeom prst="rect">
            <a:avLst/>
          </a:prstGeom>
        </p:spPr>
      </p:pic>
      <p:sp>
        <p:nvSpPr>
          <p:cNvPr id="17" name="Partie 4"/>
          <p:cNvSpPr txBox="1"/>
          <p:nvPr/>
        </p:nvSpPr>
        <p:spPr>
          <a:xfrm>
            <a:off x="1554480" y="3721608"/>
            <a:ext cx="4206240" cy="640080"/>
          </a:xfrm>
          <a:prstGeom prst="rect">
            <a:avLst/>
          </a:prstGeom>
          <a:noFill/>
          <a:ln/>
        </p:spPr>
        <p:txBody>
          <a:bodyPr wrap="square" lIns="0" tIns="0" rIns="0" bIns="0" rtlCol="0" anchor="ctr"/>
          <a:lstStyle/>
          <a:p>
            <a:pPr indent="0" marL="0">
              <a:buNone/>
            </a:pPr>
            <a:r>
              <a:rPr lang="en-US" sz="1800" b="1" dirty="0">
                <a:solidFill>
                  <a:schemeClr val="tx2"/>
                </a:solidFill>
              </a:rPr>
              <a:t>4. Les Minimal APIs</a:t>
            </a:r>
            <a:endParaRPr lang="en-US" sz="1800" dirty="0"/>
          </a:p>
        </p:txBody>
      </p:sp>
      <p:sp>
        <p:nvSpPr>
          <p:cNvPr id="18" name="Contenu 4"/>
          <p:cNvSpPr txBox="1"/>
          <p:nvPr/>
        </p:nvSpPr>
        <p:spPr>
          <a:xfrm>
            <a:off x="5852160" y="3721608"/>
            <a:ext cx="5806440" cy="640080"/>
          </a:xfrm>
          <a:prstGeom prst="rect">
            <a:avLst/>
          </a:prstGeom>
          <a:noFill/>
          <a:ln/>
        </p:spPr>
        <p:txBody>
          <a:bodyPr wrap="square" lIns="0" tIns="0" rIns="0" bIns="0" rtlCol="0" anchor="ctr"/>
          <a:lstStyle/>
          <a:p>
            <a:pPr indent="0" marL="0">
              <a:buNone/>
            </a:pPr>
            <a:r>
              <a:rPr lang="en-US" sz="1500" dirty="0">
                <a:solidFill>
                  <a:schemeClr val="tx1"/>
                </a:solidFill>
              </a:rPr>
              <a:t>routes, liaison, résultats, validation, OpenAPI</a:t>
            </a:r>
            <a:endParaRPr lang="en-US" sz="1500" dirty="0"/>
          </a:p>
        </p:txBody>
      </p:sp>
      <p:sp>
        <p:nvSpPr>
          <p:cNvPr id="19" name="Pastille 5"/>
          <p:cNvSpPr/>
          <p:nvPr/>
        </p:nvSpPr>
        <p:spPr>
          <a:xfrm>
            <a:off x="548640" y="4465320"/>
            <a:ext cx="777240" cy="673110"/>
          </a:xfrm>
          <a:custGeom>
            <a:avLst/>
            <a:gdLst/>
            <a:ahLst/>
            <a:cxnLst/>
            <a:rect l="l" t="t" r="r" b="b"/>
            <a:pathLst>
              <a:path w="777240" h="673110">
                <a:moveTo>
                  <a:pt x="0" y="336555"/>
                </a:moveTo>
                <a:lnTo>
                  <a:pt x="194310" y="0"/>
                </a:lnTo>
                <a:lnTo>
                  <a:pt x="582930" y="0"/>
                </a:lnTo>
                <a:lnTo>
                  <a:pt x="777240" y="336555"/>
                </a:lnTo>
                <a:lnTo>
                  <a:pt x="582930" y="673110"/>
                </a:lnTo>
                <a:lnTo>
                  <a:pt x="194310" y="673110"/>
                </a:lnTo>
                <a:close/>
              </a:path>
            </a:pathLst>
          </a:custGeom>
          <a:solidFill>
            <a:srgbClr val="000057"/>
          </a:solidFill>
          <a:ln w="12700">
            <a:solidFill>
              <a:srgbClr val="000057">
                <a:alpha val="0"/>
              </a:srgbClr>
            </a:solidFill>
            <a:prstDash val="solid"/>
          </a:ln>
        </p:spPr>
      </p:sp>
      <p:pic>
        <p:nvPicPr>
          <p:cNvPr id="20" name="Icône 5" descr="Entity Framework Core">    </p:cNvPr>
          <p:cNvPicPr>
            <a:picLocks noChangeAspect="1"/>
          </p:cNvPicPr>
          <p:nvPr/>
        </p:nvPicPr>
        <p:blipFill>
          <a:blip r:embed="rId5"/>
          <a:stretch>
            <a:fillRect/>
          </a:stretch>
        </p:blipFill>
        <p:spPr>
          <a:xfrm>
            <a:off x="758952" y="4620768"/>
            <a:ext cx="356616" cy="356616"/>
          </a:xfrm>
          <a:prstGeom prst="rect">
            <a:avLst/>
          </a:prstGeom>
        </p:spPr>
      </p:pic>
      <p:sp>
        <p:nvSpPr>
          <p:cNvPr id="21" name="Partie 5"/>
          <p:cNvSpPr txBox="1"/>
          <p:nvPr/>
        </p:nvSpPr>
        <p:spPr>
          <a:xfrm>
            <a:off x="1554480" y="4483608"/>
            <a:ext cx="4206240" cy="640080"/>
          </a:xfrm>
          <a:prstGeom prst="rect">
            <a:avLst/>
          </a:prstGeom>
          <a:noFill/>
          <a:ln/>
        </p:spPr>
        <p:txBody>
          <a:bodyPr wrap="square" lIns="0" tIns="0" rIns="0" bIns="0" rtlCol="0" anchor="ctr"/>
          <a:lstStyle/>
          <a:p>
            <a:pPr indent="0" marL="0">
              <a:buNone/>
            </a:pPr>
            <a:r>
              <a:rPr lang="en-US" sz="1800" b="1" dirty="0">
                <a:solidFill>
                  <a:schemeClr val="tx2"/>
                </a:solidFill>
              </a:rPr>
              <a:t>5. Entity Framework Core</a:t>
            </a:r>
            <a:endParaRPr lang="en-US" sz="1800" dirty="0"/>
          </a:p>
        </p:txBody>
      </p:sp>
      <p:sp>
        <p:nvSpPr>
          <p:cNvPr id="22" name="Contenu 5"/>
          <p:cNvSpPr txBox="1"/>
          <p:nvPr/>
        </p:nvSpPr>
        <p:spPr>
          <a:xfrm>
            <a:off x="5852160" y="4483608"/>
            <a:ext cx="5806440" cy="640080"/>
          </a:xfrm>
          <a:prstGeom prst="rect">
            <a:avLst/>
          </a:prstGeom>
          <a:noFill/>
          <a:ln/>
        </p:spPr>
        <p:txBody>
          <a:bodyPr wrap="square" lIns="0" tIns="0" rIns="0" bIns="0" rtlCol="0" anchor="ctr"/>
          <a:lstStyle/>
          <a:p>
            <a:pPr indent="0" marL="0">
              <a:buNone/>
            </a:pPr>
            <a:r>
              <a:rPr lang="en-US" sz="1500" dirty="0">
                <a:solidFill>
                  <a:schemeClr val="tx1"/>
                </a:solidFill>
              </a:rPr>
              <a:t>modèle, migrations, requêtes, suivi des modifications</a:t>
            </a:r>
            <a:endParaRPr lang="en-US" sz="1500" dirty="0"/>
          </a:p>
        </p:txBody>
      </p:sp>
      <p:sp>
        <p:nvSpPr>
          <p:cNvPr id="23" name="Pastille 6"/>
          <p:cNvSpPr/>
          <p:nvPr/>
        </p:nvSpPr>
        <p:spPr>
          <a:xfrm>
            <a:off x="548640" y="5227320"/>
            <a:ext cx="777240" cy="673110"/>
          </a:xfrm>
          <a:custGeom>
            <a:avLst/>
            <a:gdLst/>
            <a:ahLst/>
            <a:cxnLst/>
            <a:rect l="l" t="t" r="r" b="b"/>
            <a:pathLst>
              <a:path w="777240" h="673110">
                <a:moveTo>
                  <a:pt x="0" y="336555"/>
                </a:moveTo>
                <a:lnTo>
                  <a:pt x="194310" y="0"/>
                </a:lnTo>
                <a:lnTo>
                  <a:pt x="582930" y="0"/>
                </a:lnTo>
                <a:lnTo>
                  <a:pt x="777240" y="336555"/>
                </a:lnTo>
                <a:lnTo>
                  <a:pt x="582930" y="673110"/>
                </a:lnTo>
                <a:lnTo>
                  <a:pt x="194310" y="673110"/>
                </a:lnTo>
                <a:close/>
              </a:path>
            </a:pathLst>
          </a:custGeom>
          <a:solidFill>
            <a:srgbClr val="0040FF"/>
          </a:solidFill>
          <a:ln w="12700">
            <a:solidFill>
              <a:srgbClr val="0040FF">
                <a:alpha val="0"/>
              </a:srgbClr>
            </a:solidFill>
            <a:prstDash val="solid"/>
          </a:ln>
        </p:spPr>
      </p:sp>
      <p:pic>
        <p:nvPicPr>
          <p:cNvPr id="24" name="Icône 6" descr="Tester une API">    </p:cNvPr>
          <p:cNvPicPr>
            <a:picLocks noChangeAspect="1"/>
          </p:cNvPicPr>
          <p:nvPr/>
        </p:nvPicPr>
        <p:blipFill>
          <a:blip r:embed="rId6"/>
          <a:stretch>
            <a:fillRect/>
          </a:stretch>
        </p:blipFill>
        <p:spPr>
          <a:xfrm>
            <a:off x="758952" y="5382768"/>
            <a:ext cx="356616" cy="356616"/>
          </a:xfrm>
          <a:prstGeom prst="rect">
            <a:avLst/>
          </a:prstGeom>
        </p:spPr>
      </p:pic>
      <p:sp>
        <p:nvSpPr>
          <p:cNvPr id="25" name="Partie 6"/>
          <p:cNvSpPr txBox="1"/>
          <p:nvPr/>
        </p:nvSpPr>
        <p:spPr>
          <a:xfrm>
            <a:off x="1554480" y="5245608"/>
            <a:ext cx="4206240" cy="640080"/>
          </a:xfrm>
          <a:prstGeom prst="rect">
            <a:avLst/>
          </a:prstGeom>
          <a:noFill/>
          <a:ln/>
        </p:spPr>
        <p:txBody>
          <a:bodyPr wrap="square" lIns="0" tIns="0" rIns="0" bIns="0" rtlCol="0" anchor="ctr"/>
          <a:lstStyle/>
          <a:p>
            <a:pPr indent="0" marL="0">
              <a:buNone/>
            </a:pPr>
            <a:r>
              <a:rPr lang="en-US" sz="1800" b="1" dirty="0">
                <a:solidFill>
                  <a:schemeClr val="tx2"/>
                </a:solidFill>
              </a:rPr>
              <a:t>6. Tester une API</a:t>
            </a:r>
            <a:endParaRPr lang="en-US" sz="1800" dirty="0"/>
          </a:p>
        </p:txBody>
      </p:sp>
      <p:sp>
        <p:nvSpPr>
          <p:cNvPr id="26" name="Contenu 6"/>
          <p:cNvSpPr txBox="1"/>
          <p:nvPr/>
        </p:nvSpPr>
        <p:spPr>
          <a:xfrm>
            <a:off x="5852160" y="5245608"/>
            <a:ext cx="5806440" cy="64008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WebApplicationFactory</a:t>
            </a:r>
            <a:endParaRPr lang="en-US" sz="15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Grand hexagone"/>
          <p:cNvSpPr/>
          <p:nvPr/>
        </p:nvSpPr>
        <p:spPr>
          <a:xfrm>
            <a:off x="822960" y="1965960"/>
            <a:ext cx="3108960" cy="2692438"/>
          </a:xfrm>
          <a:custGeom>
            <a:avLst/>
            <a:gdLst/>
            <a:ahLst/>
            <a:cxnLst/>
            <a:rect l="l" t="t" r="r" b="b"/>
            <a:pathLst>
              <a:path w="3108960" h="2692438">
                <a:moveTo>
                  <a:pt x="0" y="1346219"/>
                </a:moveTo>
                <a:lnTo>
                  <a:pt x="777240" y="0"/>
                </a:lnTo>
                <a:lnTo>
                  <a:pt x="2331720" y="0"/>
                </a:lnTo>
                <a:lnTo>
                  <a:pt x="3108960" y="1346219"/>
                </a:lnTo>
                <a:lnTo>
                  <a:pt x="2331720" y="2692438"/>
                </a:lnTo>
                <a:lnTo>
                  <a:pt x="777240" y="2692438"/>
                </a:lnTo>
                <a:close/>
              </a:path>
            </a:pathLst>
          </a:custGeom>
          <a:solidFill>
            <a:srgbClr val="FFFF00"/>
          </a:solidFill>
          <a:ln w="12700">
            <a:solidFill>
              <a:srgbClr val="FFFF00">
                <a:alpha val="0"/>
              </a:srgbClr>
            </a:solidFill>
            <a:prstDash val="solid"/>
          </a:ln>
        </p:spPr>
      </p:sp>
      <p:sp>
        <p:nvSpPr>
          <p:cNvPr id="3" name="Numéro de partie"/>
          <p:cNvSpPr txBox="1"/>
          <p:nvPr/>
        </p:nvSpPr>
        <p:spPr>
          <a:xfrm>
            <a:off x="822960" y="1965960"/>
            <a:ext cx="3108960" cy="2688336"/>
          </a:xfrm>
          <a:prstGeom prst="rect">
            <a:avLst/>
          </a:prstGeom>
          <a:noFill/>
          <a:ln/>
        </p:spPr>
        <p:txBody>
          <a:bodyPr wrap="square" lIns="0" tIns="0" rIns="0" bIns="0" rtlCol="0" anchor="ctr"/>
          <a:lstStyle/>
          <a:p>
            <a:pPr algn="ctr" indent="0" marL="0">
              <a:buNone/>
            </a:pPr>
            <a:r>
              <a:rPr lang="en-US" sz="7200" b="1" dirty="0">
                <a:solidFill>
                  <a:schemeClr val="tx2"/>
                </a:solidFill>
              </a:rPr>
              <a:t>1</a:t>
            </a:r>
            <a:endParaRPr lang="en-US" sz="7200" dirty="0"/>
          </a:p>
        </p:txBody>
      </p:sp>
      <p:sp>
        <p:nvSpPr>
          <p:cNvPr id="4" name="Hexagone décoratif"/>
          <p:cNvSpPr/>
          <p:nvPr/>
        </p:nvSpPr>
        <p:spPr>
          <a:xfrm>
            <a:off x="3429000" y="1234440"/>
            <a:ext cx="914400" cy="791894"/>
          </a:xfrm>
          <a:custGeom>
            <a:avLst/>
            <a:gdLst/>
            <a:ahLst/>
            <a:cxnLst/>
            <a:rect l="l" t="t" r="r" b="b"/>
            <a:pathLst>
              <a:path w="914400" h="791894">
                <a:moveTo>
                  <a:pt x="0" y="395947"/>
                </a:moveTo>
                <a:lnTo>
                  <a:pt x="228600" y="0"/>
                </a:lnTo>
                <a:lnTo>
                  <a:pt x="685800" y="0"/>
                </a:lnTo>
                <a:lnTo>
                  <a:pt x="914400" y="395947"/>
                </a:lnTo>
                <a:lnTo>
                  <a:pt x="685800" y="791894"/>
                </a:lnTo>
                <a:lnTo>
                  <a:pt x="228600" y="791894"/>
                </a:lnTo>
                <a:close/>
              </a:path>
            </a:pathLst>
          </a:custGeom>
          <a:solidFill>
            <a:srgbClr val="001793">
              <a:alpha val="70000"/>
            </a:srgbClr>
          </a:solidFill>
          <a:ln w="12700">
            <a:solidFill>
              <a:srgbClr val="001793">
                <a:alpha val="0"/>
              </a:srgbClr>
            </a:solidFill>
            <a:prstDash val="solid"/>
          </a:ln>
        </p:spPr>
      </p:sp>
      <p:sp>
        <p:nvSpPr>
          <p:cNvPr id="5" name="Hexagone décoratif"/>
          <p:cNvSpPr/>
          <p:nvPr/>
        </p:nvSpPr>
        <p:spPr>
          <a:xfrm>
            <a:off x="320040" y="4526280"/>
            <a:ext cx="1097280" cy="950272"/>
          </a:xfrm>
          <a:custGeom>
            <a:avLst/>
            <a:gdLst/>
            <a:ahLst/>
            <a:cxnLst/>
            <a:rect l="l" t="t" r="r" b="b"/>
            <a:pathLst>
              <a:path w="1097280" h="950272">
                <a:moveTo>
                  <a:pt x="0" y="475136"/>
                </a:moveTo>
                <a:lnTo>
                  <a:pt x="274320" y="0"/>
                </a:lnTo>
                <a:lnTo>
                  <a:pt x="822960" y="0"/>
                </a:lnTo>
                <a:lnTo>
                  <a:pt x="1097280" y="475136"/>
                </a:lnTo>
                <a:lnTo>
                  <a:pt x="822960" y="950272"/>
                </a:lnTo>
                <a:lnTo>
                  <a:pt x="274320" y="950272"/>
                </a:lnTo>
                <a:close/>
              </a:path>
            </a:pathLst>
          </a:custGeom>
          <a:solidFill>
            <a:srgbClr val="000D78">
              <a:alpha val="90000"/>
            </a:srgbClr>
          </a:solidFill>
          <a:ln w="12700">
            <a:solidFill>
              <a:srgbClr val="000D78">
                <a:alpha val="0"/>
              </a:srgbClr>
            </a:solidFill>
            <a:prstDash val="solid"/>
          </a:ln>
        </p:spPr>
      </p:sp>
      <p:sp>
        <p:nvSpPr>
          <p:cNvPr id="6" name="Hexagone décoratif"/>
          <p:cNvSpPr/>
          <p:nvPr/>
        </p:nvSpPr>
        <p:spPr>
          <a:xfrm>
            <a:off x="10607040" y="640080"/>
            <a:ext cx="1280160" cy="1108651"/>
          </a:xfrm>
          <a:custGeom>
            <a:avLst/>
            <a:gdLst/>
            <a:ahLst/>
            <a:cxnLst/>
            <a:rect l="l" t="t" r="r" b="b"/>
            <a:pathLst>
              <a:path w="1280160" h="1108651">
                <a:moveTo>
                  <a:pt x="0" y="554326"/>
                </a:moveTo>
                <a:lnTo>
                  <a:pt x="320040" y="0"/>
                </a:lnTo>
                <a:lnTo>
                  <a:pt x="960120" y="0"/>
                </a:lnTo>
                <a:lnTo>
                  <a:pt x="1280160" y="554326"/>
                </a:lnTo>
                <a:lnTo>
                  <a:pt x="960120" y="1108651"/>
                </a:lnTo>
                <a:lnTo>
                  <a:pt x="320040" y="1108651"/>
                </a:lnTo>
                <a:close/>
              </a:path>
            </a:pathLst>
          </a:custGeom>
          <a:solidFill>
            <a:srgbClr val="001793">
              <a:alpha val="55000"/>
            </a:srgbClr>
          </a:solidFill>
          <a:ln w="12700">
            <a:solidFill>
              <a:srgbClr val="001793">
                <a:alpha val="0"/>
              </a:srgbClr>
            </a:solidFill>
            <a:prstDash val="solid"/>
          </a:ln>
        </p:spPr>
      </p:sp>
      <p:sp>
        <p:nvSpPr>
          <p:cNvPr id="7" name="Surtitre"/>
          <p:cNvSpPr txBox="1"/>
          <p:nvPr/>
        </p:nvSpPr>
        <p:spPr>
          <a:xfrm>
            <a:off x="4572000" y="2057400"/>
            <a:ext cx="6400800" cy="365760"/>
          </a:xfrm>
          <a:prstGeom prst="rect">
            <a:avLst/>
          </a:prstGeom>
          <a:noFill/>
          <a:ln/>
        </p:spPr>
        <p:txBody>
          <a:bodyPr wrap="square" lIns="0" tIns="0" rIns="0" bIns="0" rtlCol="0" anchor="t"/>
          <a:lstStyle/>
          <a:p>
            <a:pPr indent="0" marL="0">
              <a:buNone/>
            </a:pPr>
            <a:r>
              <a:rPr lang="en-US" sz="1600" b="1" spc="200" kern="0" dirty="0">
                <a:solidFill>
                  <a:schemeClr val="accent2"/>
                </a:solidFill>
              </a:rPr>
              <a:t>PARTIE 1</a:t>
            </a:r>
            <a:endParaRPr lang="en-US" sz="1600" dirty="0"/>
          </a:p>
        </p:txBody>
      </p:sp>
      <p:sp>
        <p:nvSpPr>
          <p:cNvPr id="8" name="Text 0"/>
          <p:cNvSpPr/>
          <p:nvPr>
            <p:ph idx="100" type="title" hasCustomPrompt="1"/>
          </p:nvPr>
        </p:nvSpPr>
        <p:spPr>
          <a:xfrm>
            <a:off x="4572000" y="2514600"/>
            <a:ext cx="6949440" cy="1691640"/>
          </a:xfrm>
          <a:prstGeom prst="rect">
            <a:avLst/>
          </a:prstGeom>
          <a:noFill/>
          <a:ln/>
        </p:spPr>
        <p:txBody>
          <a:bodyPr wrap="square" lIns="0" tIns="0" rIns="0" bIns="0" rtlCol="0" anchor="t"/>
          <a:lstStyle/>
          <a:p>
            <a:pPr algn="l" indent="0" marL="0">
              <a:buNone/>
            </a:pPr>
            <a:r>
              <a:rPr lang="en-US" sz="3400" b="1" dirty="0">
                <a:solidFill>
                  <a:schemeClr val="bg1"/>
                </a:solidFill>
              </a:rPr>
              <a:t>Démarrage et pipeline</a:t>
            </a:r>
            <a:endParaRPr lang="en-US" sz="3400" dirty="0"/>
          </a:p>
        </p:txBody>
      </p:sp>
      <p:sp>
        <p:nvSpPr>
          <p:cNvPr id="9" name="Text 0"/>
          <p:cNvSpPr/>
          <p:nvPr>
            <p:ph idx="101" type="body" hasCustomPrompt="1"/>
          </p:nvPr>
        </p:nvSpPr>
        <p:spPr>
          <a:xfrm>
            <a:off x="4572000" y="4297680"/>
            <a:ext cx="6949440" cy="914400"/>
          </a:xfrm>
          <a:prstGeom prst="rect">
            <a:avLst/>
          </a:prstGeom>
          <a:noFill/>
          <a:ln/>
        </p:spPr>
        <p:txBody>
          <a:bodyPr wrap="square" lIns="0" tIns="0" rIns="0" bIns="0" rtlCol="0" anchor="t"/>
          <a:lstStyle/>
          <a:p>
            <a:pPr algn="l" indent="0" marL="0">
              <a:buNone/>
            </a:pPr>
            <a:r>
              <a:rPr lang="en-US" sz="1800" dirty="0">
                <a:solidFill>
                  <a:schemeClr val="bg2"/>
                </a:solidFill>
              </a:rPr>
              <a:t>Ce qui se passe entre dotnet run et la première réponse</a:t>
            </a:r>
            <a:endParaRPr lang="en-US" sz="1800" dirty="0"/>
          </a:p>
        </p:txBody>
      </p:sp>
      <p:sp>
        <p:nvSpPr>
          <p:cNvPr id="25" name="Slide Number Placeholder 0"/>
          <p:cNvSpPr>
            <a:spLocks noGrp="1"/>
          </p:cNvSpPr>
          <p:nvPr>
            <p:ph type="sldNum" sz="quarter" idx="4294967295"/>
          </p:nvPr>
        </p:nvSpPr>
        <p:spPr>
          <a:xfrm>
            <a:off x="10241280" y="61722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rtie"/>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DÉMARRAGE</a:t>
            </a:r>
            <a:endParaRPr lang="en-US" sz="11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Program.cs en trois temps</a:t>
            </a:r>
            <a:endParaRPr lang="en-US" sz="2800" dirty="0"/>
          </a:p>
        </p:txBody>
      </p:sp>
      <p:sp>
        <p:nvSpPr>
          <p:cNvPr id="4" name="Code C#"/>
          <p:cNvSpPr/>
          <p:nvPr/>
        </p:nvSpPr>
        <p:spPr>
          <a:xfrm>
            <a:off x="548640" y="1417320"/>
            <a:ext cx="11109960" cy="3997706"/>
          </a:xfrm>
          <a:prstGeom prst="roundRect">
            <a:avLst>
              <a:gd name="adj" fmla="val 2287"/>
            </a:avLst>
          </a:prstGeom>
          <a:solidFill>
            <a:schemeClr val="tx2"/>
          </a:solidFill>
          <a:ln w="12700">
            <a:solidFill>
              <a:srgbClr val="000057"/>
            </a:solidFill>
            <a:prstDash val="solid"/>
          </a:ln>
        </p:spPr>
      </p:sp>
      <p:sp>
        <p:nvSpPr>
          <p:cNvPr id="5" name="Langage C#"/>
          <p:cNvSpPr txBox="1"/>
          <p:nvPr/>
        </p:nvSpPr>
        <p:spPr>
          <a:xfrm>
            <a:off x="777240" y="1536192"/>
            <a:ext cx="10652760" cy="256032"/>
          </a:xfrm>
          <a:prstGeom prst="rect">
            <a:avLst/>
          </a:prstGeom>
          <a:noFill/>
          <a:ln/>
        </p:spPr>
        <p:txBody>
          <a:bodyPr wrap="square" lIns="0" tIns="0" rIns="0" bIns="0" rtlCol="0" anchor="t"/>
          <a:lstStyle/>
          <a:p>
            <a:pPr indent="0" marL="0">
              <a:buNone/>
            </a:pPr>
            <a:r>
              <a:rPr lang="en-US" sz="1100" b="1" dirty="0">
                <a:solidFill>
                  <a:schemeClr val="accent2"/>
                </a:solidFill>
              </a:rPr>
              <a:t>C#</a:t>
            </a:r>
            <a:endParaRPr lang="en-US" sz="1100" dirty="0"/>
          </a:p>
        </p:txBody>
      </p:sp>
      <p:sp>
        <p:nvSpPr>
          <p:cNvPr id="6" name="Contenu C#"/>
          <p:cNvSpPr txBox="1"/>
          <p:nvPr/>
        </p:nvSpPr>
        <p:spPr>
          <a:xfrm>
            <a:off x="777240" y="1856232"/>
            <a:ext cx="10744200" cy="3449066"/>
          </a:xfrm>
          <a:prstGeom prst="rect">
            <a:avLst/>
          </a:prstGeom>
          <a:noFill/>
          <a:ln/>
        </p:spPr>
        <p:txBody>
          <a:bodyPr wrap="square" lIns="0" tIns="0" rIns="0" bIns="0" rtlCol="0" anchor="t"/>
          <a:lstStyle/>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var builder = WebApplication.CreateBuilder(args);      // configuration, logs, conteneur de services</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9DB3C9"/>
                </a:solidFill>
                <a:latin typeface="Courier New" pitchFamily="34" charset="0"/>
                <a:ea typeface="Courier New" pitchFamily="34" charset="-122"/>
                <a:cs typeface="Courier New" pitchFamily="34" charset="-120"/>
              </a:rPr>
              <a:t>// 1. Les services : tout ce qui pourra être injecté</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builder.Services.AddDbContext&lt;TicketsDbContext&gt;(...);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builder.Services.AddScoped&lt;ITicketRepository, EfTicketRepository&gt;();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var app = builder.Build();                                 // plus aucun service à ajouter après ça</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9DB3C9"/>
                </a:solidFill>
                <a:latin typeface="Courier New" pitchFamily="34" charset="0"/>
                <a:ea typeface="Courier New" pitchFamily="34" charset="-122"/>
                <a:cs typeface="Courier New" pitchFamily="34" charset="-120"/>
              </a:rPr>
              <a:t>// 2. Le pipeline : les middlewares que traverse chaque requête, dans l'ordre</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app.UseExceptionHandler();</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app.UseStatusCodePages();</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9DB3C9"/>
                </a:solidFill>
                <a:latin typeface="Courier New" pitchFamily="34" charset="0"/>
                <a:ea typeface="Courier New" pitchFamily="34" charset="-122"/>
                <a:cs typeface="Courier New" pitchFamily="34" charset="-120"/>
              </a:rPr>
              <a:t>// 3. Les routes : le code qui répond</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app.MapGet("/tickets/{id:int}", async (int id, ITicketRepository repo) =&gt;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await repo.GetAsync(id) is { } ticket ? Results.Ok(ticket) : Results.NotFound());</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app.Run();                                                 // Kestrel écoute, l'application tourne</a:t>
            </a:r>
            <a:endParaRPr lang="en-US" sz="13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artie"/>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PIPELINE</a:t>
            </a:r>
            <a:endParaRPr lang="en-US" sz="11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Un pipeline de middlewares</a:t>
            </a:r>
            <a:endParaRPr lang="en-US" sz="2800" dirty="0"/>
          </a:p>
        </p:txBody>
      </p:sp>
      <p:sp>
        <p:nvSpPr>
          <p:cNvPr id="4" name="Couche Requête HTTP"/>
          <p:cNvSpPr/>
          <p:nvPr/>
        </p:nvSpPr>
        <p:spPr>
          <a:xfrm>
            <a:off x="548640" y="1463040"/>
            <a:ext cx="5120640" cy="541020"/>
          </a:xfrm>
          <a:prstGeom prst="roundRect">
            <a:avLst>
              <a:gd name="adj" fmla="val 13521"/>
            </a:avLst>
          </a:prstGeom>
          <a:solidFill>
            <a:srgbClr val="000057"/>
          </a:solidFill>
          <a:ln w="12700">
            <a:solidFill>
              <a:srgbClr val="000057"/>
            </a:solidFill>
            <a:prstDash val="solid"/>
          </a:ln>
        </p:spPr>
      </p:sp>
      <p:sp>
        <p:nvSpPr>
          <p:cNvPr id="5" name="Nom Requête HTTP"/>
          <p:cNvSpPr txBox="1"/>
          <p:nvPr/>
        </p:nvSpPr>
        <p:spPr>
          <a:xfrm>
            <a:off x="777240" y="1463040"/>
            <a:ext cx="2331720" cy="541020"/>
          </a:xfrm>
          <a:prstGeom prst="rect">
            <a:avLst/>
          </a:prstGeom>
          <a:noFill/>
          <a:ln/>
        </p:spPr>
        <p:txBody>
          <a:bodyPr wrap="square" lIns="0" tIns="0" rIns="0" bIns="0" rtlCol="0" anchor="ctr"/>
          <a:lstStyle/>
          <a:p>
            <a:pPr indent="0" marL="0">
              <a:buNone/>
            </a:pPr>
            <a:r>
              <a:rPr lang="en-US" sz="1500" b="1" dirty="0">
                <a:solidFill>
                  <a:schemeClr val="bg1"/>
                </a:solidFill>
              </a:rPr>
              <a:t>Requête HTTP</a:t>
            </a:r>
            <a:endParaRPr lang="en-US" sz="1500" dirty="0"/>
          </a:p>
        </p:txBody>
      </p:sp>
      <p:sp>
        <p:nvSpPr>
          <p:cNvPr id="6" name="Rôle Requête HTTP"/>
          <p:cNvSpPr txBox="1"/>
          <p:nvPr/>
        </p:nvSpPr>
        <p:spPr>
          <a:xfrm>
            <a:off x="3108960" y="1463040"/>
            <a:ext cx="2377440" cy="541020"/>
          </a:xfrm>
          <a:prstGeom prst="rect">
            <a:avLst/>
          </a:prstGeom>
          <a:noFill/>
          <a:ln/>
        </p:spPr>
        <p:txBody>
          <a:bodyPr wrap="square" lIns="0" tIns="0" rIns="0" bIns="0" rtlCol="0" anchor="ctr"/>
          <a:lstStyle/>
          <a:p>
            <a:pPr indent="0" marL="0">
              <a:buNone/>
            </a:pPr>
            <a:r>
              <a:rPr lang="en-US" sz="1300" dirty="0">
                <a:solidFill>
                  <a:schemeClr val="bg1"/>
                </a:solidFill>
              </a:rPr>
              <a:t>arrive de Kestrel</a:t>
            </a:r>
            <a:endParaRPr lang="en-US" sz="1300" dirty="0"/>
          </a:p>
        </p:txBody>
      </p:sp>
      <p:sp>
        <p:nvSpPr>
          <p:cNvPr id="7" name="Couche Chronomètre"/>
          <p:cNvSpPr/>
          <p:nvPr/>
        </p:nvSpPr>
        <p:spPr>
          <a:xfrm>
            <a:off x="713232" y="2113788"/>
            <a:ext cx="4791456" cy="541020"/>
          </a:xfrm>
          <a:prstGeom prst="roundRect">
            <a:avLst>
              <a:gd name="adj" fmla="val 13521"/>
            </a:avLst>
          </a:prstGeom>
          <a:solidFill>
            <a:srgbClr val="000D78"/>
          </a:solidFill>
          <a:ln w="12700">
            <a:solidFill>
              <a:srgbClr val="000D78"/>
            </a:solidFill>
            <a:prstDash val="solid"/>
          </a:ln>
        </p:spPr>
      </p:sp>
      <p:sp>
        <p:nvSpPr>
          <p:cNvPr id="8" name="Nom Chronomètre"/>
          <p:cNvSpPr txBox="1"/>
          <p:nvPr/>
        </p:nvSpPr>
        <p:spPr>
          <a:xfrm>
            <a:off x="941832" y="2113788"/>
            <a:ext cx="2331720" cy="541020"/>
          </a:xfrm>
          <a:prstGeom prst="rect">
            <a:avLst/>
          </a:prstGeom>
          <a:noFill/>
          <a:ln/>
        </p:spPr>
        <p:txBody>
          <a:bodyPr wrap="square" lIns="0" tIns="0" rIns="0" bIns="0" rtlCol="0" anchor="ctr"/>
          <a:lstStyle/>
          <a:p>
            <a:pPr indent="0" marL="0">
              <a:buNone/>
            </a:pPr>
            <a:r>
              <a:rPr lang="en-US" sz="1500" b="1" dirty="0">
                <a:solidFill>
                  <a:schemeClr val="bg1"/>
                </a:solidFill>
              </a:rPr>
              <a:t>Chronomètre</a:t>
            </a:r>
            <a:endParaRPr lang="en-US" sz="1500" dirty="0"/>
          </a:p>
        </p:txBody>
      </p:sp>
      <p:sp>
        <p:nvSpPr>
          <p:cNvPr id="9" name="Rôle Chronomètre"/>
          <p:cNvSpPr txBox="1"/>
          <p:nvPr/>
        </p:nvSpPr>
        <p:spPr>
          <a:xfrm>
            <a:off x="3273552" y="2113788"/>
            <a:ext cx="2048256" cy="541020"/>
          </a:xfrm>
          <a:prstGeom prst="rect">
            <a:avLst/>
          </a:prstGeom>
          <a:noFill/>
          <a:ln/>
        </p:spPr>
        <p:txBody>
          <a:bodyPr wrap="square" lIns="0" tIns="0" rIns="0" bIns="0" rtlCol="0" anchor="ctr"/>
          <a:lstStyle/>
          <a:p>
            <a:pPr indent="0" marL="0">
              <a:buNone/>
            </a:pPr>
            <a:r>
              <a:rPr lang="en-US" sz="1300" dirty="0">
                <a:solidFill>
                  <a:schemeClr val="bg1"/>
                </a:solidFill>
              </a:rPr>
              <a:t>notre middleware : mesure, journalise</a:t>
            </a:r>
            <a:endParaRPr lang="en-US" sz="1300" dirty="0"/>
          </a:p>
        </p:txBody>
      </p:sp>
      <p:sp>
        <p:nvSpPr>
          <p:cNvPr id="10" name="Couche Exceptions"/>
          <p:cNvSpPr/>
          <p:nvPr/>
        </p:nvSpPr>
        <p:spPr>
          <a:xfrm>
            <a:off x="877824" y="2764536"/>
            <a:ext cx="4462272" cy="541020"/>
          </a:xfrm>
          <a:prstGeom prst="roundRect">
            <a:avLst>
              <a:gd name="adj" fmla="val 13521"/>
            </a:avLst>
          </a:prstGeom>
          <a:solidFill>
            <a:srgbClr val="001793"/>
          </a:solidFill>
          <a:ln w="12700">
            <a:solidFill>
              <a:srgbClr val="001793"/>
            </a:solidFill>
            <a:prstDash val="solid"/>
          </a:ln>
        </p:spPr>
      </p:sp>
      <p:sp>
        <p:nvSpPr>
          <p:cNvPr id="11" name="Nom Exceptions"/>
          <p:cNvSpPr txBox="1"/>
          <p:nvPr/>
        </p:nvSpPr>
        <p:spPr>
          <a:xfrm>
            <a:off x="1106424" y="2764536"/>
            <a:ext cx="2331720" cy="541020"/>
          </a:xfrm>
          <a:prstGeom prst="rect">
            <a:avLst/>
          </a:prstGeom>
          <a:noFill/>
          <a:ln/>
        </p:spPr>
        <p:txBody>
          <a:bodyPr wrap="square" lIns="0" tIns="0" rIns="0" bIns="0" rtlCol="0" anchor="ctr"/>
          <a:lstStyle/>
          <a:p>
            <a:pPr indent="0" marL="0">
              <a:buNone/>
            </a:pPr>
            <a:r>
              <a:rPr lang="en-US" sz="1500" b="1" dirty="0">
                <a:solidFill>
                  <a:schemeClr val="bg1"/>
                </a:solidFill>
              </a:rPr>
              <a:t>Exceptions</a:t>
            </a:r>
            <a:endParaRPr lang="en-US" sz="1500" dirty="0"/>
          </a:p>
        </p:txBody>
      </p:sp>
      <p:sp>
        <p:nvSpPr>
          <p:cNvPr id="12" name="Rôle Exceptions"/>
          <p:cNvSpPr txBox="1"/>
          <p:nvPr/>
        </p:nvSpPr>
        <p:spPr>
          <a:xfrm>
            <a:off x="3438144" y="2764536"/>
            <a:ext cx="1719072" cy="541020"/>
          </a:xfrm>
          <a:prstGeom prst="rect">
            <a:avLst/>
          </a:prstGeom>
          <a:noFill/>
          <a:ln/>
        </p:spPr>
        <p:txBody>
          <a:bodyPr wrap="square" lIns="0" tIns="0" rIns="0" bIns="0" rtlCol="0" anchor="ctr"/>
          <a:lstStyle/>
          <a:p>
            <a:pPr indent="0" marL="0">
              <a:buNone/>
            </a:pPr>
            <a:r>
              <a:rPr lang="en-US" sz="1300" dirty="0">
                <a:solidFill>
                  <a:schemeClr val="bg1"/>
                </a:solidFill>
              </a:rPr>
              <a:t>transforme une erreur en réponse 500</a:t>
            </a:r>
            <a:endParaRPr lang="en-US" sz="1300" dirty="0"/>
          </a:p>
        </p:txBody>
      </p:sp>
      <p:sp>
        <p:nvSpPr>
          <p:cNvPr id="13" name="Couche Authentification"/>
          <p:cNvSpPr/>
          <p:nvPr/>
        </p:nvSpPr>
        <p:spPr>
          <a:xfrm>
            <a:off x="1042416" y="3415284"/>
            <a:ext cx="4133088" cy="541020"/>
          </a:xfrm>
          <a:prstGeom prst="roundRect">
            <a:avLst>
              <a:gd name="adj" fmla="val 13521"/>
            </a:avLst>
          </a:prstGeom>
          <a:solidFill>
            <a:srgbClr val="0040FF"/>
          </a:solidFill>
          <a:ln w="12700">
            <a:solidFill>
              <a:srgbClr val="0040FF"/>
            </a:solidFill>
            <a:prstDash val="solid"/>
          </a:ln>
        </p:spPr>
      </p:sp>
      <p:sp>
        <p:nvSpPr>
          <p:cNvPr id="14" name="Nom Authentification"/>
          <p:cNvSpPr txBox="1"/>
          <p:nvPr/>
        </p:nvSpPr>
        <p:spPr>
          <a:xfrm>
            <a:off x="1271016" y="3415284"/>
            <a:ext cx="2331720" cy="541020"/>
          </a:xfrm>
          <a:prstGeom prst="rect">
            <a:avLst/>
          </a:prstGeom>
          <a:noFill/>
          <a:ln/>
        </p:spPr>
        <p:txBody>
          <a:bodyPr wrap="square" lIns="0" tIns="0" rIns="0" bIns="0" rtlCol="0" anchor="ctr"/>
          <a:lstStyle/>
          <a:p>
            <a:pPr indent="0" marL="0">
              <a:buNone/>
            </a:pPr>
            <a:r>
              <a:rPr lang="en-US" sz="1500" b="1" dirty="0">
                <a:solidFill>
                  <a:schemeClr val="bg1"/>
                </a:solidFill>
              </a:rPr>
              <a:t>Authentification</a:t>
            </a:r>
            <a:endParaRPr lang="en-US" sz="1500" dirty="0"/>
          </a:p>
        </p:txBody>
      </p:sp>
      <p:sp>
        <p:nvSpPr>
          <p:cNvPr id="15" name="Rôle Authentification"/>
          <p:cNvSpPr txBox="1"/>
          <p:nvPr/>
        </p:nvSpPr>
        <p:spPr>
          <a:xfrm>
            <a:off x="3602736" y="3415284"/>
            <a:ext cx="1389888" cy="541020"/>
          </a:xfrm>
          <a:prstGeom prst="rect">
            <a:avLst/>
          </a:prstGeom>
          <a:noFill/>
          <a:ln/>
        </p:spPr>
        <p:txBody>
          <a:bodyPr wrap="square" lIns="0" tIns="0" rIns="0" bIns="0" rtlCol="0" anchor="ctr"/>
          <a:lstStyle/>
          <a:p>
            <a:pPr indent="0" marL="0">
              <a:buNone/>
            </a:pPr>
            <a:r>
              <a:rPr lang="en-US" sz="1300" dirty="0">
                <a:solidFill>
                  <a:schemeClr val="bg1"/>
                </a:solidFill>
              </a:rPr>
              <a:t>qui appelle ? (TP-04)</a:t>
            </a:r>
            <a:endParaRPr lang="en-US" sz="1300" dirty="0"/>
          </a:p>
        </p:txBody>
      </p:sp>
      <p:sp>
        <p:nvSpPr>
          <p:cNvPr id="16" name="Couche Autorisation"/>
          <p:cNvSpPr/>
          <p:nvPr/>
        </p:nvSpPr>
        <p:spPr>
          <a:xfrm>
            <a:off x="1207008" y="4066032"/>
            <a:ext cx="3803904" cy="541020"/>
          </a:xfrm>
          <a:prstGeom prst="roundRect">
            <a:avLst>
              <a:gd name="adj" fmla="val 13521"/>
            </a:avLst>
          </a:prstGeom>
          <a:solidFill>
            <a:srgbClr val="3366FF"/>
          </a:solidFill>
          <a:ln w="12700">
            <a:solidFill>
              <a:srgbClr val="3366FF"/>
            </a:solidFill>
            <a:prstDash val="solid"/>
          </a:ln>
        </p:spPr>
      </p:sp>
      <p:sp>
        <p:nvSpPr>
          <p:cNvPr id="17" name="Nom Autorisation"/>
          <p:cNvSpPr txBox="1"/>
          <p:nvPr/>
        </p:nvSpPr>
        <p:spPr>
          <a:xfrm>
            <a:off x="1435608" y="4066032"/>
            <a:ext cx="2331720" cy="541020"/>
          </a:xfrm>
          <a:prstGeom prst="rect">
            <a:avLst/>
          </a:prstGeom>
          <a:noFill/>
          <a:ln/>
        </p:spPr>
        <p:txBody>
          <a:bodyPr wrap="square" lIns="0" tIns="0" rIns="0" bIns="0" rtlCol="0" anchor="ctr"/>
          <a:lstStyle/>
          <a:p>
            <a:pPr indent="0" marL="0">
              <a:buNone/>
            </a:pPr>
            <a:r>
              <a:rPr lang="en-US" sz="1500" b="1" dirty="0">
                <a:solidFill>
                  <a:schemeClr val="bg1"/>
                </a:solidFill>
              </a:rPr>
              <a:t>Autorisation</a:t>
            </a:r>
            <a:endParaRPr lang="en-US" sz="1500" dirty="0"/>
          </a:p>
        </p:txBody>
      </p:sp>
      <p:sp>
        <p:nvSpPr>
          <p:cNvPr id="18" name="Rôle Autorisation"/>
          <p:cNvSpPr txBox="1"/>
          <p:nvPr/>
        </p:nvSpPr>
        <p:spPr>
          <a:xfrm>
            <a:off x="3767328" y="4066032"/>
            <a:ext cx="1060704" cy="541020"/>
          </a:xfrm>
          <a:prstGeom prst="rect">
            <a:avLst/>
          </a:prstGeom>
          <a:noFill/>
          <a:ln/>
        </p:spPr>
        <p:txBody>
          <a:bodyPr wrap="square" lIns="0" tIns="0" rIns="0" bIns="0" rtlCol="0" anchor="ctr"/>
          <a:lstStyle/>
          <a:p>
            <a:pPr indent="0" marL="0">
              <a:buNone/>
            </a:pPr>
            <a:r>
              <a:rPr lang="en-US" sz="1300" dirty="0">
                <a:solidFill>
                  <a:schemeClr val="bg1"/>
                </a:solidFill>
              </a:rPr>
              <a:t>a-t-il le droit ?</a:t>
            </a:r>
            <a:endParaRPr lang="en-US" sz="1300" dirty="0"/>
          </a:p>
        </p:txBody>
      </p:sp>
      <p:sp>
        <p:nvSpPr>
          <p:cNvPr id="19" name="Couche Endpoint"/>
          <p:cNvSpPr/>
          <p:nvPr/>
        </p:nvSpPr>
        <p:spPr>
          <a:xfrm>
            <a:off x="1371600" y="4716780"/>
            <a:ext cx="3474720" cy="541020"/>
          </a:xfrm>
          <a:prstGeom prst="roundRect">
            <a:avLst>
              <a:gd name="adj" fmla="val 13521"/>
            </a:avLst>
          </a:prstGeom>
          <a:solidFill>
            <a:srgbClr val="5C85FF"/>
          </a:solidFill>
          <a:ln w="12700">
            <a:solidFill>
              <a:srgbClr val="5C85FF"/>
            </a:solidFill>
            <a:prstDash val="solid"/>
          </a:ln>
        </p:spPr>
      </p:sp>
      <p:sp>
        <p:nvSpPr>
          <p:cNvPr id="20" name="Nom Endpoint"/>
          <p:cNvSpPr txBox="1"/>
          <p:nvPr/>
        </p:nvSpPr>
        <p:spPr>
          <a:xfrm>
            <a:off x="1600200" y="4716780"/>
            <a:ext cx="2331720" cy="541020"/>
          </a:xfrm>
          <a:prstGeom prst="rect">
            <a:avLst/>
          </a:prstGeom>
          <a:noFill/>
          <a:ln/>
        </p:spPr>
        <p:txBody>
          <a:bodyPr wrap="square" lIns="0" tIns="0" rIns="0" bIns="0" rtlCol="0" anchor="ctr"/>
          <a:lstStyle/>
          <a:p>
            <a:pPr indent="0" marL="0">
              <a:buNone/>
            </a:pPr>
            <a:r>
              <a:rPr lang="en-US" sz="1500" b="1" dirty="0">
                <a:solidFill>
                  <a:schemeClr val="bg1"/>
                </a:solidFill>
              </a:rPr>
              <a:t>Endpoint</a:t>
            </a:r>
            <a:endParaRPr lang="en-US" sz="1500" dirty="0"/>
          </a:p>
        </p:txBody>
      </p:sp>
      <p:sp>
        <p:nvSpPr>
          <p:cNvPr id="21" name="Rôle Endpoint"/>
          <p:cNvSpPr txBox="1"/>
          <p:nvPr/>
        </p:nvSpPr>
        <p:spPr>
          <a:xfrm>
            <a:off x="3931920" y="4716780"/>
            <a:ext cx="731520" cy="541020"/>
          </a:xfrm>
          <a:prstGeom prst="rect">
            <a:avLst/>
          </a:prstGeom>
          <a:noFill/>
          <a:ln/>
        </p:spPr>
        <p:txBody>
          <a:bodyPr wrap="square" lIns="0" tIns="0" rIns="0" bIns="0" rtlCol="0" anchor="ctr"/>
          <a:lstStyle/>
          <a:p>
            <a:pPr indent="0" marL="0">
              <a:buNone/>
            </a:pPr>
            <a:r>
              <a:rPr lang="en-US" sz="1300" dirty="0">
                <a:solidFill>
                  <a:schemeClr val="bg1"/>
                </a:solidFill>
              </a:rPr>
              <a:t>la route qui répond</a:t>
            </a:r>
            <a:endParaRPr lang="en-US" sz="1300" dirty="0"/>
          </a:p>
        </p:txBody>
      </p:sp>
      <p:sp>
        <p:nvSpPr>
          <p:cNvPr id="22" name="Code C#"/>
          <p:cNvSpPr/>
          <p:nvPr/>
        </p:nvSpPr>
        <p:spPr>
          <a:xfrm>
            <a:off x="6309360" y="1417320"/>
            <a:ext cx="5349240" cy="2439162"/>
          </a:xfrm>
          <a:prstGeom prst="roundRect">
            <a:avLst>
              <a:gd name="adj" fmla="val 3749"/>
            </a:avLst>
          </a:prstGeom>
          <a:solidFill>
            <a:schemeClr val="tx2"/>
          </a:solidFill>
          <a:ln w="12700">
            <a:solidFill>
              <a:srgbClr val="000057"/>
            </a:solidFill>
            <a:prstDash val="solid"/>
          </a:ln>
        </p:spPr>
      </p:sp>
      <p:sp>
        <p:nvSpPr>
          <p:cNvPr id="23" name="Langage C#"/>
          <p:cNvSpPr txBox="1"/>
          <p:nvPr/>
        </p:nvSpPr>
        <p:spPr>
          <a:xfrm>
            <a:off x="6537960" y="1536192"/>
            <a:ext cx="4892040" cy="256032"/>
          </a:xfrm>
          <a:prstGeom prst="rect">
            <a:avLst/>
          </a:prstGeom>
          <a:noFill/>
          <a:ln/>
        </p:spPr>
        <p:txBody>
          <a:bodyPr wrap="square" lIns="0" tIns="0" rIns="0" bIns="0" rtlCol="0" anchor="t"/>
          <a:lstStyle/>
          <a:p>
            <a:pPr indent="0" marL="0">
              <a:buNone/>
            </a:pPr>
            <a:r>
              <a:rPr lang="en-US" sz="1100" b="1" dirty="0">
                <a:solidFill>
                  <a:schemeClr val="accent2"/>
                </a:solidFill>
              </a:rPr>
              <a:t>Un middleware</a:t>
            </a:r>
            <a:endParaRPr lang="en-US" sz="1100" dirty="0"/>
          </a:p>
        </p:txBody>
      </p:sp>
      <p:sp>
        <p:nvSpPr>
          <p:cNvPr id="24" name="Contenu C#"/>
          <p:cNvSpPr txBox="1"/>
          <p:nvPr/>
        </p:nvSpPr>
        <p:spPr>
          <a:xfrm>
            <a:off x="6537960" y="1856232"/>
            <a:ext cx="4983480" cy="1890522"/>
          </a:xfrm>
          <a:prstGeom prst="rect">
            <a:avLst/>
          </a:prstGeom>
          <a:noFill/>
          <a:ln/>
        </p:spPr>
        <p:txBody>
          <a:bodyPr wrap="square" lIns="0" tIns="0" rIns="0" bIns="0" rtlCol="0" anchor="t"/>
          <a:lstStyle/>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app.Use(async (context, next) =&gt;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var watch = Stopwatch.StartNew();</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await next(context);   // la suite</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app.Logger.LogInformation(</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"{Path} answered in {Ms} ms",</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context.Request.Path,</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watch.ElapsedMilliseconds);</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25" name="À retenir"/>
          <p:cNvSpPr/>
          <p:nvPr/>
        </p:nvSpPr>
        <p:spPr>
          <a:xfrm>
            <a:off x="548640" y="5440680"/>
            <a:ext cx="11109960" cy="685800"/>
          </a:xfrm>
          <a:prstGeom prst="roundRect">
            <a:avLst>
              <a:gd name="adj" fmla="val 13333"/>
            </a:avLst>
          </a:prstGeom>
          <a:solidFill>
            <a:schemeClr val="bg2"/>
          </a:solidFill>
          <a:ln w="12700">
            <a:solidFill>
              <a:srgbClr val="E1EAF1"/>
            </a:solidFill>
            <a:prstDash val="solid"/>
          </a:ln>
        </p:spPr>
      </p:sp>
      <p:pic>
        <p:nvPicPr>
          <p:cNvPr id="26" name="Icône à retenir" descr="À retenir">    </p:cNvPr>
          <p:cNvPicPr>
            <a:picLocks noChangeAspect="1"/>
          </p:cNvPicPr>
          <p:nvPr/>
        </p:nvPicPr>
        <p:blipFill>
          <a:blip r:embed="rId1"/>
          <a:stretch>
            <a:fillRect/>
          </a:stretch>
        </p:blipFill>
        <p:spPr>
          <a:xfrm>
            <a:off x="777240" y="5614416"/>
            <a:ext cx="338328" cy="338328"/>
          </a:xfrm>
          <a:prstGeom prst="rect">
            <a:avLst/>
          </a:prstGeom>
        </p:spPr>
      </p:pic>
      <p:sp>
        <p:nvSpPr>
          <p:cNvPr id="27" name="Texte à retenir"/>
          <p:cNvSpPr txBox="1"/>
          <p:nvPr/>
        </p:nvSpPr>
        <p:spPr>
          <a:xfrm>
            <a:off x="1325880" y="5440680"/>
            <a:ext cx="10149840" cy="685800"/>
          </a:xfrm>
          <a:prstGeom prst="rect">
            <a:avLst/>
          </a:prstGeom>
          <a:noFill/>
          <a:ln/>
        </p:spPr>
        <p:txBody>
          <a:bodyPr wrap="square" lIns="0" tIns="0" rIns="0" bIns="0" rtlCol="0" anchor="ctr"/>
          <a:lstStyle/>
          <a:p>
            <a:pPr indent="0" marL="0">
              <a:buNone/>
            </a:pPr>
            <a:r>
              <a:rPr lang="en-US" sz="1500" dirty="0">
                <a:solidFill>
                  <a:schemeClr val="tx2"/>
                </a:solidFill>
              </a:rPr>
              <a:t>L'ordre de déclaration est l'ordre d'exécution. Ce qui est avant </a:t>
            </a:r>
            <a:r>
              <a:rPr lang="en-US" sz="1500" dirty="0">
                <a:solidFill>
                  <a:schemeClr val="tx2"/>
                </a:solidFill>
                <a:latin typeface="Courier New" pitchFamily="34" charset="0"/>
                <a:ea typeface="Courier New" pitchFamily="34" charset="-122"/>
                <a:cs typeface="Courier New" pitchFamily="34" charset="-120"/>
              </a:rPr>
              <a:t>await next</a:t>
            </a:r>
            <a:r>
              <a:rPr lang="en-US" sz="1500" dirty="0">
                <a:solidFill>
                  <a:schemeClr val="tx2"/>
                </a:solidFill>
              </a:rPr>
              <a:t> s'exécute à l'aller, ce qui est après au retour.</a:t>
            </a:r>
            <a:endParaRPr lang="en-US" sz="15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Grand hexagone"/>
          <p:cNvSpPr/>
          <p:nvPr/>
        </p:nvSpPr>
        <p:spPr>
          <a:xfrm>
            <a:off x="822960" y="1965960"/>
            <a:ext cx="3108960" cy="2692438"/>
          </a:xfrm>
          <a:custGeom>
            <a:avLst/>
            <a:gdLst/>
            <a:ahLst/>
            <a:cxnLst/>
            <a:rect l="l" t="t" r="r" b="b"/>
            <a:pathLst>
              <a:path w="3108960" h="2692438">
                <a:moveTo>
                  <a:pt x="0" y="1346219"/>
                </a:moveTo>
                <a:lnTo>
                  <a:pt x="777240" y="0"/>
                </a:lnTo>
                <a:lnTo>
                  <a:pt x="2331720" y="0"/>
                </a:lnTo>
                <a:lnTo>
                  <a:pt x="3108960" y="1346219"/>
                </a:lnTo>
                <a:lnTo>
                  <a:pt x="2331720" y="2692438"/>
                </a:lnTo>
                <a:lnTo>
                  <a:pt x="777240" y="2692438"/>
                </a:lnTo>
                <a:close/>
              </a:path>
            </a:pathLst>
          </a:custGeom>
          <a:solidFill>
            <a:srgbClr val="FFFF00"/>
          </a:solidFill>
          <a:ln w="12700">
            <a:solidFill>
              <a:srgbClr val="FFFF00">
                <a:alpha val="0"/>
              </a:srgbClr>
            </a:solidFill>
            <a:prstDash val="solid"/>
          </a:ln>
        </p:spPr>
      </p:sp>
      <p:sp>
        <p:nvSpPr>
          <p:cNvPr id="3" name="Numéro de partie"/>
          <p:cNvSpPr txBox="1"/>
          <p:nvPr/>
        </p:nvSpPr>
        <p:spPr>
          <a:xfrm>
            <a:off x="822960" y="1965960"/>
            <a:ext cx="3108960" cy="2688336"/>
          </a:xfrm>
          <a:prstGeom prst="rect">
            <a:avLst/>
          </a:prstGeom>
          <a:noFill/>
          <a:ln/>
        </p:spPr>
        <p:txBody>
          <a:bodyPr wrap="square" lIns="0" tIns="0" rIns="0" bIns="0" rtlCol="0" anchor="ctr"/>
          <a:lstStyle/>
          <a:p>
            <a:pPr algn="ctr" indent="0" marL="0">
              <a:buNone/>
            </a:pPr>
            <a:r>
              <a:rPr lang="en-US" sz="7200" b="1" dirty="0">
                <a:solidFill>
                  <a:schemeClr val="tx2"/>
                </a:solidFill>
              </a:rPr>
              <a:t>2</a:t>
            </a:r>
            <a:endParaRPr lang="en-US" sz="7200" dirty="0"/>
          </a:p>
        </p:txBody>
      </p:sp>
      <p:sp>
        <p:nvSpPr>
          <p:cNvPr id="4" name="Hexagone décoratif"/>
          <p:cNvSpPr/>
          <p:nvPr/>
        </p:nvSpPr>
        <p:spPr>
          <a:xfrm>
            <a:off x="3429000" y="1234440"/>
            <a:ext cx="914400" cy="791894"/>
          </a:xfrm>
          <a:custGeom>
            <a:avLst/>
            <a:gdLst/>
            <a:ahLst/>
            <a:cxnLst/>
            <a:rect l="l" t="t" r="r" b="b"/>
            <a:pathLst>
              <a:path w="914400" h="791894">
                <a:moveTo>
                  <a:pt x="0" y="395947"/>
                </a:moveTo>
                <a:lnTo>
                  <a:pt x="228600" y="0"/>
                </a:lnTo>
                <a:lnTo>
                  <a:pt x="685800" y="0"/>
                </a:lnTo>
                <a:lnTo>
                  <a:pt x="914400" y="395947"/>
                </a:lnTo>
                <a:lnTo>
                  <a:pt x="685800" y="791894"/>
                </a:lnTo>
                <a:lnTo>
                  <a:pt x="228600" y="791894"/>
                </a:lnTo>
                <a:close/>
              </a:path>
            </a:pathLst>
          </a:custGeom>
          <a:solidFill>
            <a:srgbClr val="001793">
              <a:alpha val="70000"/>
            </a:srgbClr>
          </a:solidFill>
          <a:ln w="12700">
            <a:solidFill>
              <a:srgbClr val="001793">
                <a:alpha val="0"/>
              </a:srgbClr>
            </a:solidFill>
            <a:prstDash val="solid"/>
          </a:ln>
        </p:spPr>
      </p:sp>
      <p:sp>
        <p:nvSpPr>
          <p:cNvPr id="5" name="Hexagone décoratif"/>
          <p:cNvSpPr/>
          <p:nvPr/>
        </p:nvSpPr>
        <p:spPr>
          <a:xfrm>
            <a:off x="320040" y="4526280"/>
            <a:ext cx="1097280" cy="950272"/>
          </a:xfrm>
          <a:custGeom>
            <a:avLst/>
            <a:gdLst/>
            <a:ahLst/>
            <a:cxnLst/>
            <a:rect l="l" t="t" r="r" b="b"/>
            <a:pathLst>
              <a:path w="1097280" h="950272">
                <a:moveTo>
                  <a:pt x="0" y="475136"/>
                </a:moveTo>
                <a:lnTo>
                  <a:pt x="274320" y="0"/>
                </a:lnTo>
                <a:lnTo>
                  <a:pt x="822960" y="0"/>
                </a:lnTo>
                <a:lnTo>
                  <a:pt x="1097280" y="475136"/>
                </a:lnTo>
                <a:lnTo>
                  <a:pt x="822960" y="950272"/>
                </a:lnTo>
                <a:lnTo>
                  <a:pt x="274320" y="950272"/>
                </a:lnTo>
                <a:close/>
              </a:path>
            </a:pathLst>
          </a:custGeom>
          <a:solidFill>
            <a:srgbClr val="000D78">
              <a:alpha val="90000"/>
            </a:srgbClr>
          </a:solidFill>
          <a:ln w="12700">
            <a:solidFill>
              <a:srgbClr val="000D78">
                <a:alpha val="0"/>
              </a:srgbClr>
            </a:solidFill>
            <a:prstDash val="solid"/>
          </a:ln>
        </p:spPr>
      </p:sp>
      <p:sp>
        <p:nvSpPr>
          <p:cNvPr id="6" name="Hexagone décoratif"/>
          <p:cNvSpPr/>
          <p:nvPr/>
        </p:nvSpPr>
        <p:spPr>
          <a:xfrm>
            <a:off x="10607040" y="640080"/>
            <a:ext cx="1280160" cy="1108651"/>
          </a:xfrm>
          <a:custGeom>
            <a:avLst/>
            <a:gdLst/>
            <a:ahLst/>
            <a:cxnLst/>
            <a:rect l="l" t="t" r="r" b="b"/>
            <a:pathLst>
              <a:path w="1280160" h="1108651">
                <a:moveTo>
                  <a:pt x="0" y="554326"/>
                </a:moveTo>
                <a:lnTo>
                  <a:pt x="320040" y="0"/>
                </a:lnTo>
                <a:lnTo>
                  <a:pt x="960120" y="0"/>
                </a:lnTo>
                <a:lnTo>
                  <a:pt x="1280160" y="554326"/>
                </a:lnTo>
                <a:lnTo>
                  <a:pt x="960120" y="1108651"/>
                </a:lnTo>
                <a:lnTo>
                  <a:pt x="320040" y="1108651"/>
                </a:lnTo>
                <a:close/>
              </a:path>
            </a:pathLst>
          </a:custGeom>
          <a:solidFill>
            <a:srgbClr val="001793">
              <a:alpha val="55000"/>
            </a:srgbClr>
          </a:solidFill>
          <a:ln w="12700">
            <a:solidFill>
              <a:srgbClr val="001793">
                <a:alpha val="0"/>
              </a:srgbClr>
            </a:solidFill>
            <a:prstDash val="solid"/>
          </a:ln>
        </p:spPr>
      </p:sp>
      <p:sp>
        <p:nvSpPr>
          <p:cNvPr id="7" name="Surtitre"/>
          <p:cNvSpPr txBox="1"/>
          <p:nvPr/>
        </p:nvSpPr>
        <p:spPr>
          <a:xfrm>
            <a:off x="4572000" y="2057400"/>
            <a:ext cx="6400800" cy="365760"/>
          </a:xfrm>
          <a:prstGeom prst="rect">
            <a:avLst/>
          </a:prstGeom>
          <a:noFill/>
          <a:ln/>
        </p:spPr>
        <p:txBody>
          <a:bodyPr wrap="square" lIns="0" tIns="0" rIns="0" bIns="0" rtlCol="0" anchor="t"/>
          <a:lstStyle/>
          <a:p>
            <a:pPr indent="0" marL="0">
              <a:buNone/>
            </a:pPr>
            <a:r>
              <a:rPr lang="en-US" sz="1600" b="1" spc="200" kern="0" dirty="0">
                <a:solidFill>
                  <a:schemeClr val="accent2"/>
                </a:solidFill>
              </a:rPr>
              <a:t>PARTIE 2</a:t>
            </a:r>
            <a:endParaRPr lang="en-US" sz="1600" dirty="0"/>
          </a:p>
        </p:txBody>
      </p:sp>
      <p:sp>
        <p:nvSpPr>
          <p:cNvPr id="8" name="Text 0"/>
          <p:cNvSpPr/>
          <p:nvPr>
            <p:ph idx="100" type="title" hasCustomPrompt="1"/>
          </p:nvPr>
        </p:nvSpPr>
        <p:spPr>
          <a:xfrm>
            <a:off x="4572000" y="2514600"/>
            <a:ext cx="6949440" cy="1691640"/>
          </a:xfrm>
          <a:prstGeom prst="rect">
            <a:avLst/>
          </a:prstGeom>
          <a:noFill/>
          <a:ln/>
        </p:spPr>
        <p:txBody>
          <a:bodyPr wrap="square" lIns="0" tIns="0" rIns="0" bIns="0" rtlCol="0" anchor="t"/>
          <a:lstStyle/>
          <a:p>
            <a:pPr algn="l" indent="0" marL="0">
              <a:buNone/>
            </a:pPr>
            <a:r>
              <a:rPr lang="en-US" sz="3400" b="1" dirty="0">
                <a:solidFill>
                  <a:schemeClr val="bg1"/>
                </a:solidFill>
              </a:rPr>
              <a:t>Injection et configuration</a:t>
            </a:r>
            <a:endParaRPr lang="en-US" sz="3400" dirty="0"/>
          </a:p>
        </p:txBody>
      </p:sp>
      <p:sp>
        <p:nvSpPr>
          <p:cNvPr id="9" name="Text 0"/>
          <p:cNvSpPr/>
          <p:nvPr>
            <p:ph idx="101" type="body" hasCustomPrompt="1"/>
          </p:nvPr>
        </p:nvSpPr>
        <p:spPr>
          <a:xfrm>
            <a:off x="4572000" y="4297680"/>
            <a:ext cx="6949440" cy="914400"/>
          </a:xfrm>
          <a:prstGeom prst="rect">
            <a:avLst/>
          </a:prstGeom>
          <a:noFill/>
          <a:ln/>
        </p:spPr>
        <p:txBody>
          <a:bodyPr wrap="square" lIns="0" tIns="0" rIns="0" bIns="0" rtlCol="0" anchor="t"/>
          <a:lstStyle/>
          <a:p>
            <a:pPr algn="l" indent="0" marL="0">
              <a:buNone/>
            </a:pPr>
            <a:r>
              <a:rPr lang="en-US" sz="1800" dirty="0">
                <a:solidFill>
                  <a:schemeClr val="bg2"/>
                </a:solidFill>
              </a:rPr>
              <a:t>Le conteneur intégré et une configuration en couches</a:t>
            </a:r>
            <a:endParaRPr lang="en-US" sz="1800" dirty="0"/>
          </a:p>
        </p:txBody>
      </p:sp>
      <p:sp>
        <p:nvSpPr>
          <p:cNvPr id="25" name="Slide Number Placeholder 0"/>
          <p:cNvSpPr>
            <a:spLocks noGrp="1"/>
          </p:cNvSpPr>
          <p:nvPr>
            <p:ph type="sldNum" sz="quarter" idx="4294967295"/>
          </p:nvPr>
        </p:nvSpPr>
        <p:spPr>
          <a:xfrm>
            <a:off x="10241280" y="61722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artie"/>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INJECTION DE DÉPENDANCES</a:t>
            </a:r>
            <a:endParaRPr lang="en-US" sz="11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Trois durées de vie</a:t>
            </a:r>
            <a:endParaRPr lang="en-US" sz="2800" dirty="0"/>
          </a:p>
        </p:txBody>
      </p:sp>
      <p:graphicFrame>
        <p:nvGraphicFramePr>
          <p:cNvPr id="8" name="Tableau"/>
          <p:cNvGraphicFramePr>
            <a:graphicFrameLocks noGrp="1"/>
          </p:cNvGraphicFramePr>
          <p:nvPr>
            <p:extLst>
              <p:ext uri="{D42A27DB-BD31-4B8C-83A1-F6EECF244321}">
                <p14:modId xmlns:p14="http://schemas.microsoft.com/office/powerpoint/2010/main" val="1579011935"/>
              </p:ext>
            </p:extLst>
          </p:nvPr>
        </p:nvGraphicFramePr>
        <p:xfrm>
          <a:off x="548640" y="1463040"/>
          <a:ext cx="11109960" cy="914400"/>
        </p:xfrm>
        <a:graphic>
          <a:graphicData uri="http://schemas.openxmlformats.org/drawingml/2006/table">
            <a:tbl>
              <a:tblPr/>
              <a:tblGrid>
                <a:gridCol w="2011680"/>
                <a:gridCol w="2743200"/>
                <a:gridCol w="3291840"/>
                <a:gridCol w="3063240"/>
              </a:tblGrid>
              <a:tr h="640080">
                <a:tc>
                  <a:txBody>
                    <a:bodyPr/>
                    <a:lstStyle/>
                    <a:p>
                      <a:pPr indent="0" marL="0">
                        <a:buNone/>
                      </a:pPr>
                      <a:r>
                        <a:rPr lang="en-US" sz="1400" b="1" dirty="0">
                          <a:solidFill>
                            <a:schemeClr val="bg1"/>
                          </a:solidFill>
                        </a:rPr>
                        <a:t>Durée de vie</a:t>
                      </a:r>
                      <a:endParaRPr lang="en-US" sz="14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Une instance…</a:t>
                      </a:r>
                      <a:endParaRPr lang="en-US" sz="14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Exemples</a:t>
                      </a:r>
                      <a:endParaRPr lang="en-US" sz="14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Attention</a:t>
                      </a:r>
                      <a:endParaRPr lang="en-US" sz="14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640080">
                <a:tc>
                  <a:txBody>
                    <a:bodyPr/>
                    <a:lstStyle/>
                    <a:p>
                      <a:pPr indent="0" marL="0">
                        <a:buNone/>
                      </a:pPr>
                      <a:r>
                        <a:rPr lang="en-US" sz="1400" b="1" dirty="0">
                          <a:solidFill>
                            <a:schemeClr val="tx1"/>
                          </a:solidFill>
                        </a:rPr>
                        <a:t>Singleton</a:t>
                      </a:r>
                      <a:endParaRPr lang="en-US" sz="14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pour toute l'application</a:t>
                      </a:r>
                      <a:endParaRPr lang="en-US" sz="14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configuration, cache, </a:t>
                      </a:r>
                      <a:r>
                        <a:rPr lang="en-US" sz="1400" dirty="0">
                          <a:solidFill>
                            <a:schemeClr val="tx1"/>
                          </a:solidFill>
                          <a:latin typeface="Courier New" pitchFamily="34" charset="0"/>
                          <a:ea typeface="Courier New" pitchFamily="34" charset="-122"/>
                          <a:cs typeface="Courier New" pitchFamily="34" charset="-120"/>
                        </a:rPr>
                        <a:t>TimeProvider</a:t>
                      </a:r>
                      <a:endParaRPr lang="en-US" sz="14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doit être thread-safe</a:t>
                      </a:r>
                      <a:endParaRPr lang="en-US" sz="14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1"/>
                          </a:solidFill>
                        </a:rPr>
                        <a:t>Scoped</a:t>
                      </a:r>
                      <a:endParaRPr lang="en-US" sz="14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par requête HTTP (par circuit en Blazor Server)</a:t>
                      </a:r>
                      <a:endParaRPr lang="en-US" sz="14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DbContext</a:t>
                      </a:r>
                      <a:r>
                        <a:rPr lang="en-US" sz="1400" dirty="0">
                          <a:solidFill>
                            <a:schemeClr val="tx1"/>
                          </a:solidFill>
                        </a:rPr>
                        <a:t>, dépôts, services métier</a:t>
                      </a:r>
                      <a:endParaRPr lang="en-US" sz="14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jamais injecté dans un singleton</a:t>
                      </a:r>
                      <a:endParaRPr lang="en-US" sz="14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1"/>
                          </a:solidFill>
                        </a:rPr>
                        <a:t>Transient</a:t>
                      </a:r>
                      <a:endParaRPr lang="en-US" sz="14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à chaque injection</a:t>
                      </a:r>
                      <a:endParaRPr lang="en-US" sz="14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petits services sans état</a:t>
                      </a:r>
                      <a:endParaRPr lang="en-US" sz="14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rarement utile</a:t>
                      </a:r>
                      <a:endParaRPr lang="en-US" sz="14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À retenir"/>
          <p:cNvSpPr/>
          <p:nvPr/>
        </p:nvSpPr>
        <p:spPr>
          <a:xfrm>
            <a:off x="548640" y="5440680"/>
            <a:ext cx="11109960" cy="685800"/>
          </a:xfrm>
          <a:prstGeom prst="roundRect">
            <a:avLst>
              <a:gd name="adj" fmla="val 13333"/>
            </a:avLst>
          </a:prstGeom>
          <a:solidFill>
            <a:schemeClr val="bg2"/>
          </a:solidFill>
          <a:ln w="12700">
            <a:solidFill>
              <a:srgbClr val="E1EAF1"/>
            </a:solidFill>
            <a:prstDash val="solid"/>
          </a:ln>
        </p:spPr>
      </p:sp>
      <p:pic>
        <p:nvPicPr>
          <p:cNvPr id="6" name="Icône à retenir" descr="À retenir">    </p:cNvPr>
          <p:cNvPicPr>
            <a:picLocks noChangeAspect="1"/>
          </p:cNvPicPr>
          <p:nvPr/>
        </p:nvPicPr>
        <p:blipFill>
          <a:blip r:embed="rId1"/>
          <a:stretch>
            <a:fillRect/>
          </a:stretch>
        </p:blipFill>
        <p:spPr>
          <a:xfrm>
            <a:off x="777240" y="5614416"/>
            <a:ext cx="338328" cy="338328"/>
          </a:xfrm>
          <a:prstGeom prst="rect">
            <a:avLst/>
          </a:prstGeom>
        </p:spPr>
      </p:pic>
      <p:sp>
        <p:nvSpPr>
          <p:cNvPr id="7" name="Texte à retenir"/>
          <p:cNvSpPr txBox="1"/>
          <p:nvPr/>
        </p:nvSpPr>
        <p:spPr>
          <a:xfrm>
            <a:off x="1325880" y="5440680"/>
            <a:ext cx="10149840" cy="685800"/>
          </a:xfrm>
          <a:prstGeom prst="rect">
            <a:avLst/>
          </a:prstGeom>
          <a:noFill/>
          <a:ln/>
        </p:spPr>
        <p:txBody>
          <a:bodyPr wrap="square" lIns="0" tIns="0" rIns="0" bIns="0" rtlCol="0" anchor="ctr"/>
          <a:lstStyle/>
          <a:p>
            <a:pPr indent="0" marL="0">
              <a:buNone/>
            </a:pPr>
            <a:r>
              <a:rPr lang="en-US" sz="1500" dirty="0">
                <a:solidFill>
                  <a:schemeClr val="tx2"/>
                </a:solidFill>
              </a:rPr>
              <a:t>On reçoit ses dépendances par le constructeur, ou en paramètre d'une Minimal API. ≈ </a:t>
            </a:r>
            <a:r>
              <a:rPr lang="en-US" sz="1500" dirty="0">
                <a:solidFill>
                  <a:schemeClr val="tx2"/>
                </a:solidFill>
                <a:latin typeface="Courier New" pitchFamily="34" charset="0"/>
                <a:ea typeface="Courier New" pitchFamily="34" charset="-122"/>
                <a:cs typeface="Courier New" pitchFamily="34" charset="-120"/>
              </a:rPr>
              <a:t>@Service</a:t>
            </a:r>
            <a:r>
              <a:rPr lang="en-US" sz="1500" dirty="0">
                <a:solidFill>
                  <a:schemeClr val="tx2"/>
                </a:solidFill>
              </a:rPr>
              <a:t> et </a:t>
            </a:r>
            <a:r>
              <a:rPr lang="en-US" sz="1500" dirty="0">
                <a:solidFill>
                  <a:schemeClr val="tx2"/>
                </a:solidFill>
                <a:latin typeface="Courier New" pitchFamily="34" charset="0"/>
                <a:ea typeface="Courier New" pitchFamily="34" charset="-122"/>
                <a:cs typeface="Courier New" pitchFamily="34" charset="-120"/>
              </a:rPr>
              <a:t>@Scope</a:t>
            </a:r>
            <a:r>
              <a:rPr lang="en-US" sz="1500" dirty="0">
                <a:solidFill>
                  <a:schemeClr val="tx2"/>
                </a:solidFill>
              </a:rPr>
              <a:t> de Spring, </a:t>
            </a:r>
            <a:r>
              <a:rPr lang="en-US" sz="1500" dirty="0">
                <a:solidFill>
                  <a:schemeClr val="tx2"/>
                </a:solidFill>
                <a:latin typeface="Courier New" pitchFamily="34" charset="0"/>
                <a:ea typeface="Courier New" pitchFamily="34" charset="-122"/>
                <a:cs typeface="Courier New" pitchFamily="34" charset="-120"/>
              </a:rPr>
              <a:t>Depends</a:t>
            </a:r>
            <a:r>
              <a:rPr lang="en-US" sz="1500" dirty="0">
                <a:solidFill>
                  <a:schemeClr val="tx2"/>
                </a:solidFill>
              </a:rPr>
              <a:t> de FastAPI.</a:t>
            </a:r>
            <a:endParaRPr lang="en-US" sz="15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artie"/>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CONFIGURATION</a:t>
            </a:r>
            <a:endParaRPr lang="en-US" sz="11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La configuration est une pile de sources</a:t>
            </a:r>
            <a:endParaRPr lang="en-US" sz="2800" dirty="0"/>
          </a:p>
        </p:txBody>
      </p:sp>
      <p:sp>
        <p:nvSpPr>
          <p:cNvPr id="4" name="Couche Ligne de commande"/>
          <p:cNvSpPr/>
          <p:nvPr/>
        </p:nvSpPr>
        <p:spPr>
          <a:xfrm>
            <a:off x="548640" y="1463040"/>
            <a:ext cx="5120640" cy="671170"/>
          </a:xfrm>
          <a:prstGeom prst="roundRect">
            <a:avLst>
              <a:gd name="adj" fmla="val 10899"/>
            </a:avLst>
          </a:prstGeom>
          <a:solidFill>
            <a:srgbClr val="000057"/>
          </a:solidFill>
          <a:ln w="12700">
            <a:solidFill>
              <a:srgbClr val="000057"/>
            </a:solidFill>
            <a:prstDash val="solid"/>
          </a:ln>
        </p:spPr>
      </p:sp>
      <p:sp>
        <p:nvSpPr>
          <p:cNvPr id="5" name="Nom Ligne de commande"/>
          <p:cNvSpPr txBox="1"/>
          <p:nvPr/>
        </p:nvSpPr>
        <p:spPr>
          <a:xfrm>
            <a:off x="777240" y="1463040"/>
            <a:ext cx="2331720" cy="671170"/>
          </a:xfrm>
          <a:prstGeom prst="rect">
            <a:avLst/>
          </a:prstGeom>
          <a:noFill/>
          <a:ln/>
        </p:spPr>
        <p:txBody>
          <a:bodyPr wrap="square" lIns="0" tIns="0" rIns="0" bIns="0" rtlCol="0" anchor="ctr"/>
          <a:lstStyle/>
          <a:p>
            <a:pPr indent="0" marL="0">
              <a:buNone/>
            </a:pPr>
            <a:r>
              <a:rPr lang="en-US" sz="1500" b="1" dirty="0">
                <a:solidFill>
                  <a:schemeClr val="bg1"/>
                </a:solidFill>
              </a:rPr>
              <a:t>Ligne de commande</a:t>
            </a:r>
            <a:endParaRPr lang="en-US" sz="1500" dirty="0"/>
          </a:p>
        </p:txBody>
      </p:sp>
      <p:sp>
        <p:nvSpPr>
          <p:cNvPr id="6" name="Rôle Ligne de commande"/>
          <p:cNvSpPr txBox="1"/>
          <p:nvPr/>
        </p:nvSpPr>
        <p:spPr>
          <a:xfrm>
            <a:off x="3108960" y="1463040"/>
            <a:ext cx="2377440" cy="671170"/>
          </a:xfrm>
          <a:prstGeom prst="rect">
            <a:avLst/>
          </a:prstGeom>
          <a:noFill/>
          <a:ln/>
        </p:spPr>
        <p:txBody>
          <a:bodyPr wrap="square" lIns="0" tIns="0" rIns="0" bIns="0" rtlCol="0" anchor="ctr"/>
          <a:lstStyle/>
          <a:p>
            <a:pPr indent="0" marL="0">
              <a:buNone/>
            </a:pPr>
            <a:r>
              <a:rPr lang="en-US" sz="1300" dirty="0">
                <a:solidFill>
                  <a:schemeClr val="bg1"/>
                </a:solidFill>
              </a:rPr>
              <a:t>essais ponctuels</a:t>
            </a:r>
            <a:endParaRPr lang="en-US" sz="1300" dirty="0"/>
          </a:p>
        </p:txBody>
      </p:sp>
      <p:sp>
        <p:nvSpPr>
          <p:cNvPr id="7" name="Couche Variables d'env."/>
          <p:cNvSpPr/>
          <p:nvPr/>
        </p:nvSpPr>
        <p:spPr>
          <a:xfrm>
            <a:off x="548640" y="2243938"/>
            <a:ext cx="5120640" cy="671170"/>
          </a:xfrm>
          <a:prstGeom prst="roundRect">
            <a:avLst>
              <a:gd name="adj" fmla="val 10899"/>
            </a:avLst>
          </a:prstGeom>
          <a:solidFill>
            <a:srgbClr val="000D78"/>
          </a:solidFill>
          <a:ln w="12700">
            <a:solidFill>
              <a:srgbClr val="000D78"/>
            </a:solidFill>
            <a:prstDash val="solid"/>
          </a:ln>
        </p:spPr>
      </p:sp>
      <p:sp>
        <p:nvSpPr>
          <p:cNvPr id="8" name="Nom Variables d'env."/>
          <p:cNvSpPr txBox="1"/>
          <p:nvPr/>
        </p:nvSpPr>
        <p:spPr>
          <a:xfrm>
            <a:off x="777240" y="2243938"/>
            <a:ext cx="2331720" cy="671170"/>
          </a:xfrm>
          <a:prstGeom prst="rect">
            <a:avLst/>
          </a:prstGeom>
          <a:noFill/>
          <a:ln/>
        </p:spPr>
        <p:txBody>
          <a:bodyPr wrap="square" lIns="0" tIns="0" rIns="0" bIns="0" rtlCol="0" anchor="ctr"/>
          <a:lstStyle/>
          <a:p>
            <a:pPr indent="0" marL="0">
              <a:buNone/>
            </a:pPr>
            <a:r>
              <a:rPr lang="en-US" sz="1500" b="1" dirty="0">
                <a:solidFill>
                  <a:schemeClr val="bg1"/>
                </a:solidFill>
              </a:rPr>
              <a:t>Variables d'env.</a:t>
            </a:r>
            <a:endParaRPr lang="en-US" sz="1500" dirty="0"/>
          </a:p>
        </p:txBody>
      </p:sp>
      <p:sp>
        <p:nvSpPr>
          <p:cNvPr id="9" name="Rôle Variables d'env."/>
          <p:cNvSpPr txBox="1"/>
          <p:nvPr/>
        </p:nvSpPr>
        <p:spPr>
          <a:xfrm>
            <a:off x="3108960" y="2243938"/>
            <a:ext cx="2377440" cy="671170"/>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Tickets__PageSize=5</a:t>
            </a:r>
            <a:r>
              <a:rPr lang="en-US" sz="1300" dirty="0">
                <a:solidFill>
                  <a:schemeClr val="bg1"/>
                </a:solidFill>
              </a:rPr>
              <a:t> : serveurs, CI</a:t>
            </a:r>
            <a:endParaRPr lang="en-US" sz="1300" dirty="0"/>
          </a:p>
        </p:txBody>
      </p:sp>
      <p:sp>
        <p:nvSpPr>
          <p:cNvPr id="10" name="Couche user-secrets"/>
          <p:cNvSpPr/>
          <p:nvPr/>
        </p:nvSpPr>
        <p:spPr>
          <a:xfrm>
            <a:off x="548640" y="3024835"/>
            <a:ext cx="5120640" cy="671170"/>
          </a:xfrm>
          <a:prstGeom prst="roundRect">
            <a:avLst>
              <a:gd name="adj" fmla="val 10899"/>
            </a:avLst>
          </a:prstGeom>
          <a:solidFill>
            <a:srgbClr val="001793"/>
          </a:solidFill>
          <a:ln w="12700">
            <a:solidFill>
              <a:srgbClr val="001793"/>
            </a:solidFill>
            <a:prstDash val="solid"/>
          </a:ln>
        </p:spPr>
      </p:sp>
      <p:sp>
        <p:nvSpPr>
          <p:cNvPr id="11" name="Nom user-secrets"/>
          <p:cNvSpPr txBox="1"/>
          <p:nvPr/>
        </p:nvSpPr>
        <p:spPr>
          <a:xfrm>
            <a:off x="777240" y="3024835"/>
            <a:ext cx="2331720" cy="671170"/>
          </a:xfrm>
          <a:prstGeom prst="rect">
            <a:avLst/>
          </a:prstGeom>
          <a:noFill/>
          <a:ln/>
        </p:spPr>
        <p:txBody>
          <a:bodyPr wrap="square" lIns="0" tIns="0" rIns="0" bIns="0" rtlCol="0" anchor="ctr"/>
          <a:lstStyle/>
          <a:p>
            <a:pPr indent="0" marL="0">
              <a:buNone/>
            </a:pPr>
            <a:r>
              <a:rPr lang="en-US" sz="1500" b="1" dirty="0">
                <a:solidFill>
                  <a:schemeClr val="bg1"/>
                </a:solidFill>
              </a:rPr>
              <a:t>user-secrets</a:t>
            </a:r>
            <a:endParaRPr lang="en-US" sz="1500" dirty="0"/>
          </a:p>
        </p:txBody>
      </p:sp>
      <p:sp>
        <p:nvSpPr>
          <p:cNvPr id="12" name="Rôle user-secrets"/>
          <p:cNvSpPr txBox="1"/>
          <p:nvPr/>
        </p:nvSpPr>
        <p:spPr>
          <a:xfrm>
            <a:off x="3108960" y="3024835"/>
            <a:ext cx="2377440" cy="671170"/>
          </a:xfrm>
          <a:prstGeom prst="rect">
            <a:avLst/>
          </a:prstGeom>
          <a:noFill/>
          <a:ln/>
        </p:spPr>
        <p:txBody>
          <a:bodyPr wrap="square" lIns="0" tIns="0" rIns="0" bIns="0" rtlCol="0" anchor="ctr"/>
          <a:lstStyle/>
          <a:p>
            <a:pPr indent="0" marL="0">
              <a:buNone/>
            </a:pPr>
            <a:r>
              <a:rPr lang="en-US" sz="1300" dirty="0">
                <a:solidFill>
                  <a:schemeClr val="bg1"/>
                </a:solidFill>
              </a:rPr>
              <a:t>secrets locaux, hors du dépôt Git</a:t>
            </a:r>
            <a:endParaRPr lang="en-US" sz="1300" dirty="0"/>
          </a:p>
        </p:txBody>
      </p:sp>
      <p:sp>
        <p:nvSpPr>
          <p:cNvPr id="13" name="Couche appsettings.{Env}.json"/>
          <p:cNvSpPr/>
          <p:nvPr/>
        </p:nvSpPr>
        <p:spPr>
          <a:xfrm>
            <a:off x="548640" y="3805733"/>
            <a:ext cx="5120640" cy="671170"/>
          </a:xfrm>
          <a:prstGeom prst="roundRect">
            <a:avLst>
              <a:gd name="adj" fmla="val 10899"/>
            </a:avLst>
          </a:prstGeom>
          <a:solidFill>
            <a:srgbClr val="0040FF"/>
          </a:solidFill>
          <a:ln w="12700">
            <a:solidFill>
              <a:srgbClr val="0040FF"/>
            </a:solidFill>
            <a:prstDash val="solid"/>
          </a:ln>
        </p:spPr>
      </p:sp>
      <p:sp>
        <p:nvSpPr>
          <p:cNvPr id="14" name="Nom appsettings.{Env}.json"/>
          <p:cNvSpPr txBox="1"/>
          <p:nvPr/>
        </p:nvSpPr>
        <p:spPr>
          <a:xfrm>
            <a:off x="777240" y="3805733"/>
            <a:ext cx="2331720" cy="671170"/>
          </a:xfrm>
          <a:prstGeom prst="rect">
            <a:avLst/>
          </a:prstGeom>
          <a:noFill/>
          <a:ln/>
        </p:spPr>
        <p:txBody>
          <a:bodyPr wrap="square" lIns="0" tIns="0" rIns="0" bIns="0" rtlCol="0" anchor="ctr"/>
          <a:lstStyle/>
          <a:p>
            <a:pPr indent="0" marL="0">
              <a:buNone/>
            </a:pPr>
            <a:r>
              <a:rPr lang="en-US" sz="1500" b="1" dirty="0">
                <a:solidFill>
                  <a:schemeClr val="bg1"/>
                </a:solidFill>
              </a:rPr>
              <a:t>appsettings.{Env}.json</a:t>
            </a:r>
            <a:endParaRPr lang="en-US" sz="1500" dirty="0"/>
          </a:p>
        </p:txBody>
      </p:sp>
      <p:sp>
        <p:nvSpPr>
          <p:cNvPr id="15" name="Rôle appsettings.{Env}.json"/>
          <p:cNvSpPr txBox="1"/>
          <p:nvPr/>
        </p:nvSpPr>
        <p:spPr>
          <a:xfrm>
            <a:off x="3108960" y="3805733"/>
            <a:ext cx="2377440" cy="671170"/>
          </a:xfrm>
          <a:prstGeom prst="rect">
            <a:avLst/>
          </a:prstGeom>
          <a:noFill/>
          <a:ln/>
        </p:spPr>
        <p:txBody>
          <a:bodyPr wrap="square" lIns="0" tIns="0" rIns="0" bIns="0" rtlCol="0" anchor="ctr"/>
          <a:lstStyle/>
          <a:p>
            <a:pPr indent="0" marL="0">
              <a:buNone/>
            </a:pPr>
            <a:r>
              <a:rPr lang="en-US" sz="1300" dirty="0">
                <a:solidFill>
                  <a:schemeClr val="bg1"/>
                </a:solidFill>
              </a:rPr>
              <a:t>propre à Development, Production…</a:t>
            </a:r>
            <a:endParaRPr lang="en-US" sz="1300" dirty="0"/>
          </a:p>
        </p:txBody>
      </p:sp>
      <p:sp>
        <p:nvSpPr>
          <p:cNvPr id="16" name="Couche appsettings.json"/>
          <p:cNvSpPr/>
          <p:nvPr/>
        </p:nvSpPr>
        <p:spPr>
          <a:xfrm>
            <a:off x="548640" y="4586630"/>
            <a:ext cx="5120640" cy="671170"/>
          </a:xfrm>
          <a:prstGeom prst="roundRect">
            <a:avLst>
              <a:gd name="adj" fmla="val 10899"/>
            </a:avLst>
          </a:prstGeom>
          <a:solidFill>
            <a:srgbClr val="3366FF"/>
          </a:solidFill>
          <a:ln w="12700">
            <a:solidFill>
              <a:srgbClr val="3366FF"/>
            </a:solidFill>
            <a:prstDash val="solid"/>
          </a:ln>
        </p:spPr>
      </p:sp>
      <p:sp>
        <p:nvSpPr>
          <p:cNvPr id="17" name="Nom appsettings.json"/>
          <p:cNvSpPr txBox="1"/>
          <p:nvPr/>
        </p:nvSpPr>
        <p:spPr>
          <a:xfrm>
            <a:off x="777240" y="4586630"/>
            <a:ext cx="2331720" cy="671170"/>
          </a:xfrm>
          <a:prstGeom prst="rect">
            <a:avLst/>
          </a:prstGeom>
          <a:noFill/>
          <a:ln/>
        </p:spPr>
        <p:txBody>
          <a:bodyPr wrap="square" lIns="0" tIns="0" rIns="0" bIns="0" rtlCol="0" anchor="ctr"/>
          <a:lstStyle/>
          <a:p>
            <a:pPr indent="0" marL="0">
              <a:buNone/>
            </a:pPr>
            <a:r>
              <a:rPr lang="en-US" sz="1500" b="1" dirty="0">
                <a:solidFill>
                  <a:schemeClr val="bg1"/>
                </a:solidFill>
              </a:rPr>
              <a:t>appsettings.json</a:t>
            </a:r>
            <a:endParaRPr lang="en-US" sz="1500" dirty="0"/>
          </a:p>
        </p:txBody>
      </p:sp>
      <p:sp>
        <p:nvSpPr>
          <p:cNvPr id="18" name="Rôle appsettings.json"/>
          <p:cNvSpPr txBox="1"/>
          <p:nvPr/>
        </p:nvSpPr>
        <p:spPr>
          <a:xfrm>
            <a:off x="3108960" y="4586630"/>
            <a:ext cx="2377440" cy="671170"/>
          </a:xfrm>
          <a:prstGeom prst="rect">
            <a:avLst/>
          </a:prstGeom>
          <a:noFill/>
          <a:ln/>
        </p:spPr>
        <p:txBody>
          <a:bodyPr wrap="square" lIns="0" tIns="0" rIns="0" bIns="0" rtlCol="0" anchor="ctr"/>
          <a:lstStyle/>
          <a:p>
            <a:pPr indent="0" marL="0">
              <a:buNone/>
            </a:pPr>
            <a:r>
              <a:rPr lang="en-US" sz="1300" dirty="0">
                <a:solidFill>
                  <a:schemeClr val="bg1"/>
                </a:solidFill>
              </a:rPr>
              <a:t>valeurs par défaut, versionnées</a:t>
            </a:r>
            <a:endParaRPr lang="en-US" sz="1300" dirty="0"/>
          </a:p>
        </p:txBody>
      </p:sp>
      <p:pic>
        <p:nvPicPr>
          <p:cNvPr id="19" name="Sens" descr="sens">    </p:cNvPr>
          <p:cNvPicPr>
            <a:picLocks noChangeAspect="1"/>
          </p:cNvPicPr>
          <p:nvPr/>
        </p:nvPicPr>
        <p:blipFill>
          <a:blip r:embed="rId1"/>
          <a:stretch>
            <a:fillRect/>
          </a:stretch>
        </p:blipFill>
        <p:spPr>
          <a:xfrm>
            <a:off x="5779008" y="1463040"/>
            <a:ext cx="320040" cy="320040"/>
          </a:xfrm>
          <a:prstGeom prst="rect">
            <a:avLst/>
          </a:prstGeom>
        </p:spPr>
      </p:pic>
      <p:sp>
        <p:nvSpPr>
          <p:cNvPr id="20" name="Libellé sens"/>
          <p:cNvSpPr txBox="1"/>
          <p:nvPr/>
        </p:nvSpPr>
        <p:spPr>
          <a:xfrm>
            <a:off x="5715000" y="1828800"/>
            <a:ext cx="457200" cy="2743200"/>
          </a:xfrm>
          <a:prstGeom prst="rect">
            <a:avLst/>
          </a:prstGeom>
          <a:noFill/>
          <a:ln/>
        </p:spPr>
        <p:txBody>
          <a:bodyPr wrap="square" lIns="0" tIns="0" rIns="0" bIns="0" rtlCol="0" anchor="t" vert="vert270"/>
          <a:lstStyle/>
          <a:p>
            <a:pPr indent="0" marL="0">
              <a:buNone/>
            </a:pPr>
            <a:r>
              <a:rPr lang="en-US" sz="1100" dirty="0">
                <a:solidFill>
                  <a:schemeClr val="accent1"/>
                </a:solidFill>
              </a:rPr>
              <a:t>la dernière gagne</a:t>
            </a:r>
            <a:endParaRPr lang="en-US" sz="1100" dirty="0"/>
          </a:p>
        </p:txBody>
      </p:sp>
      <p:sp>
        <p:nvSpPr>
          <p:cNvPr id="21" name="Code C#"/>
          <p:cNvSpPr/>
          <p:nvPr/>
        </p:nvSpPr>
        <p:spPr>
          <a:xfrm>
            <a:off x="6309360" y="1417320"/>
            <a:ext cx="5349240" cy="2828798"/>
          </a:xfrm>
          <a:prstGeom prst="roundRect">
            <a:avLst>
              <a:gd name="adj" fmla="val 3232"/>
            </a:avLst>
          </a:prstGeom>
          <a:solidFill>
            <a:schemeClr val="tx2"/>
          </a:solidFill>
          <a:ln w="12700">
            <a:solidFill>
              <a:srgbClr val="000057"/>
            </a:solidFill>
            <a:prstDash val="solid"/>
          </a:ln>
        </p:spPr>
      </p:sp>
      <p:sp>
        <p:nvSpPr>
          <p:cNvPr id="22" name="Langage C#"/>
          <p:cNvSpPr txBox="1"/>
          <p:nvPr/>
        </p:nvSpPr>
        <p:spPr>
          <a:xfrm>
            <a:off x="6537960" y="1536192"/>
            <a:ext cx="4892040" cy="256032"/>
          </a:xfrm>
          <a:prstGeom prst="rect">
            <a:avLst/>
          </a:prstGeom>
          <a:noFill/>
          <a:ln/>
        </p:spPr>
        <p:txBody>
          <a:bodyPr wrap="square" lIns="0" tIns="0" rIns="0" bIns="0" rtlCol="0" anchor="t"/>
          <a:lstStyle/>
          <a:p>
            <a:pPr indent="0" marL="0">
              <a:buNone/>
            </a:pPr>
            <a:r>
              <a:rPr lang="en-US" sz="1100" b="1" dirty="0">
                <a:solidFill>
                  <a:schemeClr val="accent2"/>
                </a:solidFill>
              </a:rPr>
              <a:t>Options typées</a:t>
            </a:r>
            <a:endParaRPr lang="en-US" sz="1100" dirty="0"/>
          </a:p>
        </p:txBody>
      </p:sp>
      <p:sp>
        <p:nvSpPr>
          <p:cNvPr id="23" name="Contenu C#"/>
          <p:cNvSpPr txBox="1"/>
          <p:nvPr/>
        </p:nvSpPr>
        <p:spPr>
          <a:xfrm>
            <a:off x="6537960" y="1856232"/>
            <a:ext cx="4983480" cy="2280158"/>
          </a:xfrm>
          <a:prstGeom prst="rect">
            <a:avLst/>
          </a:prstGeom>
          <a:noFill/>
          <a:ln/>
        </p:spPr>
        <p:txBody>
          <a:bodyPr wrap="square" lIns="0" tIns="0" rIns="0" bIns="0" rtlCol="0" anchor="t"/>
          <a:lstStyle/>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public sealed class TicketsOptions</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[Range(1, 100)]</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public int PageSize { get; set; } = 20;</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builder.Services</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.AddOptions&lt;TicketsOptions&gt;()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.BindConfiguration("Tickets")</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.ValidateDataAnnotations()</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.ValidateOnStart();</a:t>
            </a:r>
            <a:endParaRPr lang="en-US" sz="1300" dirty="0"/>
          </a:p>
        </p:txBody>
      </p:sp>
      <p:sp>
        <p:nvSpPr>
          <p:cNvPr id="24" name="À retenir"/>
          <p:cNvSpPr/>
          <p:nvPr/>
        </p:nvSpPr>
        <p:spPr>
          <a:xfrm>
            <a:off x="548640" y="5440680"/>
            <a:ext cx="11109960" cy="685800"/>
          </a:xfrm>
          <a:prstGeom prst="roundRect">
            <a:avLst>
              <a:gd name="adj" fmla="val 13333"/>
            </a:avLst>
          </a:prstGeom>
          <a:solidFill>
            <a:schemeClr val="bg2"/>
          </a:solidFill>
          <a:ln w="12700">
            <a:solidFill>
              <a:srgbClr val="E1EAF1"/>
            </a:solidFill>
            <a:prstDash val="solid"/>
          </a:ln>
        </p:spPr>
      </p:sp>
      <p:pic>
        <p:nvPicPr>
          <p:cNvPr id="25" name="Icône à retenir" descr="À retenir">    </p:cNvPr>
          <p:cNvPicPr>
            <a:picLocks noChangeAspect="1"/>
          </p:cNvPicPr>
          <p:nvPr/>
        </p:nvPicPr>
        <p:blipFill>
          <a:blip r:embed="rId2"/>
          <a:stretch>
            <a:fillRect/>
          </a:stretch>
        </p:blipFill>
        <p:spPr>
          <a:xfrm>
            <a:off x="777240" y="5614416"/>
            <a:ext cx="338328" cy="338328"/>
          </a:xfrm>
          <a:prstGeom prst="rect">
            <a:avLst/>
          </a:prstGeom>
        </p:spPr>
      </p:pic>
      <p:sp>
        <p:nvSpPr>
          <p:cNvPr id="26" name="Texte à retenir"/>
          <p:cNvSpPr txBox="1"/>
          <p:nvPr/>
        </p:nvSpPr>
        <p:spPr>
          <a:xfrm>
            <a:off x="1325880" y="5440680"/>
            <a:ext cx="10149840" cy="685800"/>
          </a:xfrm>
          <a:prstGeom prst="rect">
            <a:avLst/>
          </a:prstGeom>
          <a:noFill/>
          <a:ln/>
        </p:spPr>
        <p:txBody>
          <a:bodyPr wrap="square" lIns="0" tIns="0" rIns="0" bIns="0" rtlCol="0" anchor="ctr"/>
          <a:lstStyle/>
          <a:p>
            <a:pPr indent="0" marL="0">
              <a:buNone/>
            </a:pPr>
            <a:r>
              <a:rPr lang="en-US" sz="1500" dirty="0">
                <a:solidFill>
                  <a:schemeClr val="tx2"/>
                </a:solidFill>
              </a:rPr>
              <a:t>Une chaîne de connexion ne va jamais dans </a:t>
            </a:r>
            <a:r>
              <a:rPr lang="en-US" sz="1500" dirty="0">
                <a:solidFill>
                  <a:schemeClr val="tx2"/>
                </a:solidFill>
                <a:latin typeface="Courier New" pitchFamily="34" charset="0"/>
                <a:ea typeface="Courier New" pitchFamily="34" charset="-122"/>
                <a:cs typeface="Courier New" pitchFamily="34" charset="-120"/>
              </a:rPr>
              <a:t>appsettings.json</a:t>
            </a:r>
            <a:r>
              <a:rPr lang="en-US" sz="1500" dirty="0">
                <a:solidFill>
                  <a:schemeClr val="tx2"/>
                </a:solidFill>
              </a:rPr>
              <a:t> : user-secrets en local, variable d'environnement sur un serveur.</a:t>
            </a:r>
            <a:endParaRPr lang="en-US" sz="15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Grand hexagone"/>
          <p:cNvSpPr/>
          <p:nvPr/>
        </p:nvSpPr>
        <p:spPr>
          <a:xfrm>
            <a:off x="822960" y="1965960"/>
            <a:ext cx="3108960" cy="2692438"/>
          </a:xfrm>
          <a:custGeom>
            <a:avLst/>
            <a:gdLst/>
            <a:ahLst/>
            <a:cxnLst/>
            <a:rect l="l" t="t" r="r" b="b"/>
            <a:pathLst>
              <a:path w="3108960" h="2692438">
                <a:moveTo>
                  <a:pt x="0" y="1346219"/>
                </a:moveTo>
                <a:lnTo>
                  <a:pt x="777240" y="0"/>
                </a:lnTo>
                <a:lnTo>
                  <a:pt x="2331720" y="0"/>
                </a:lnTo>
                <a:lnTo>
                  <a:pt x="3108960" y="1346219"/>
                </a:lnTo>
                <a:lnTo>
                  <a:pt x="2331720" y="2692438"/>
                </a:lnTo>
                <a:lnTo>
                  <a:pt x="777240" y="2692438"/>
                </a:lnTo>
                <a:close/>
              </a:path>
            </a:pathLst>
          </a:custGeom>
          <a:solidFill>
            <a:srgbClr val="FFFF00"/>
          </a:solidFill>
          <a:ln w="12700">
            <a:solidFill>
              <a:srgbClr val="FFFF00">
                <a:alpha val="0"/>
              </a:srgbClr>
            </a:solidFill>
            <a:prstDash val="solid"/>
          </a:ln>
        </p:spPr>
      </p:sp>
      <p:sp>
        <p:nvSpPr>
          <p:cNvPr id="3" name="Numéro de partie"/>
          <p:cNvSpPr txBox="1"/>
          <p:nvPr/>
        </p:nvSpPr>
        <p:spPr>
          <a:xfrm>
            <a:off x="822960" y="1965960"/>
            <a:ext cx="3108960" cy="2688336"/>
          </a:xfrm>
          <a:prstGeom prst="rect">
            <a:avLst/>
          </a:prstGeom>
          <a:noFill/>
          <a:ln/>
        </p:spPr>
        <p:txBody>
          <a:bodyPr wrap="square" lIns="0" tIns="0" rIns="0" bIns="0" rtlCol="0" anchor="ctr"/>
          <a:lstStyle/>
          <a:p>
            <a:pPr algn="ctr" indent="0" marL="0">
              <a:buNone/>
            </a:pPr>
            <a:r>
              <a:rPr lang="en-US" sz="7200" b="1" dirty="0">
                <a:solidFill>
                  <a:schemeClr val="tx2"/>
                </a:solidFill>
              </a:rPr>
              <a:t>3</a:t>
            </a:r>
            <a:endParaRPr lang="en-US" sz="7200" dirty="0"/>
          </a:p>
        </p:txBody>
      </p:sp>
      <p:sp>
        <p:nvSpPr>
          <p:cNvPr id="4" name="Hexagone décoratif"/>
          <p:cNvSpPr/>
          <p:nvPr/>
        </p:nvSpPr>
        <p:spPr>
          <a:xfrm>
            <a:off x="3429000" y="1234440"/>
            <a:ext cx="914400" cy="791894"/>
          </a:xfrm>
          <a:custGeom>
            <a:avLst/>
            <a:gdLst/>
            <a:ahLst/>
            <a:cxnLst/>
            <a:rect l="l" t="t" r="r" b="b"/>
            <a:pathLst>
              <a:path w="914400" h="791894">
                <a:moveTo>
                  <a:pt x="0" y="395947"/>
                </a:moveTo>
                <a:lnTo>
                  <a:pt x="228600" y="0"/>
                </a:lnTo>
                <a:lnTo>
                  <a:pt x="685800" y="0"/>
                </a:lnTo>
                <a:lnTo>
                  <a:pt x="914400" y="395947"/>
                </a:lnTo>
                <a:lnTo>
                  <a:pt x="685800" y="791894"/>
                </a:lnTo>
                <a:lnTo>
                  <a:pt x="228600" y="791894"/>
                </a:lnTo>
                <a:close/>
              </a:path>
            </a:pathLst>
          </a:custGeom>
          <a:solidFill>
            <a:srgbClr val="001793">
              <a:alpha val="70000"/>
            </a:srgbClr>
          </a:solidFill>
          <a:ln w="12700">
            <a:solidFill>
              <a:srgbClr val="001793">
                <a:alpha val="0"/>
              </a:srgbClr>
            </a:solidFill>
            <a:prstDash val="solid"/>
          </a:ln>
        </p:spPr>
      </p:sp>
      <p:sp>
        <p:nvSpPr>
          <p:cNvPr id="5" name="Hexagone décoratif"/>
          <p:cNvSpPr/>
          <p:nvPr/>
        </p:nvSpPr>
        <p:spPr>
          <a:xfrm>
            <a:off x="320040" y="4526280"/>
            <a:ext cx="1097280" cy="950272"/>
          </a:xfrm>
          <a:custGeom>
            <a:avLst/>
            <a:gdLst/>
            <a:ahLst/>
            <a:cxnLst/>
            <a:rect l="l" t="t" r="r" b="b"/>
            <a:pathLst>
              <a:path w="1097280" h="950272">
                <a:moveTo>
                  <a:pt x="0" y="475136"/>
                </a:moveTo>
                <a:lnTo>
                  <a:pt x="274320" y="0"/>
                </a:lnTo>
                <a:lnTo>
                  <a:pt x="822960" y="0"/>
                </a:lnTo>
                <a:lnTo>
                  <a:pt x="1097280" y="475136"/>
                </a:lnTo>
                <a:lnTo>
                  <a:pt x="822960" y="950272"/>
                </a:lnTo>
                <a:lnTo>
                  <a:pt x="274320" y="950272"/>
                </a:lnTo>
                <a:close/>
              </a:path>
            </a:pathLst>
          </a:custGeom>
          <a:solidFill>
            <a:srgbClr val="000D78">
              <a:alpha val="90000"/>
            </a:srgbClr>
          </a:solidFill>
          <a:ln w="12700">
            <a:solidFill>
              <a:srgbClr val="000D78">
                <a:alpha val="0"/>
              </a:srgbClr>
            </a:solidFill>
            <a:prstDash val="solid"/>
          </a:ln>
        </p:spPr>
      </p:sp>
      <p:sp>
        <p:nvSpPr>
          <p:cNvPr id="6" name="Hexagone décoratif"/>
          <p:cNvSpPr/>
          <p:nvPr/>
        </p:nvSpPr>
        <p:spPr>
          <a:xfrm>
            <a:off x="10607040" y="640080"/>
            <a:ext cx="1280160" cy="1108651"/>
          </a:xfrm>
          <a:custGeom>
            <a:avLst/>
            <a:gdLst/>
            <a:ahLst/>
            <a:cxnLst/>
            <a:rect l="l" t="t" r="r" b="b"/>
            <a:pathLst>
              <a:path w="1280160" h="1108651">
                <a:moveTo>
                  <a:pt x="0" y="554326"/>
                </a:moveTo>
                <a:lnTo>
                  <a:pt x="320040" y="0"/>
                </a:lnTo>
                <a:lnTo>
                  <a:pt x="960120" y="0"/>
                </a:lnTo>
                <a:lnTo>
                  <a:pt x="1280160" y="554326"/>
                </a:lnTo>
                <a:lnTo>
                  <a:pt x="960120" y="1108651"/>
                </a:lnTo>
                <a:lnTo>
                  <a:pt x="320040" y="1108651"/>
                </a:lnTo>
                <a:close/>
              </a:path>
            </a:pathLst>
          </a:custGeom>
          <a:solidFill>
            <a:srgbClr val="001793">
              <a:alpha val="55000"/>
            </a:srgbClr>
          </a:solidFill>
          <a:ln w="12700">
            <a:solidFill>
              <a:srgbClr val="001793">
                <a:alpha val="0"/>
              </a:srgbClr>
            </a:solidFill>
            <a:prstDash val="solid"/>
          </a:ln>
        </p:spPr>
      </p:sp>
      <p:sp>
        <p:nvSpPr>
          <p:cNvPr id="7" name="Surtitre"/>
          <p:cNvSpPr txBox="1"/>
          <p:nvPr/>
        </p:nvSpPr>
        <p:spPr>
          <a:xfrm>
            <a:off x="4572000" y="2057400"/>
            <a:ext cx="6400800" cy="365760"/>
          </a:xfrm>
          <a:prstGeom prst="rect">
            <a:avLst/>
          </a:prstGeom>
          <a:noFill/>
          <a:ln/>
        </p:spPr>
        <p:txBody>
          <a:bodyPr wrap="square" lIns="0" tIns="0" rIns="0" bIns="0" rtlCol="0" anchor="t"/>
          <a:lstStyle/>
          <a:p>
            <a:pPr indent="0" marL="0">
              <a:buNone/>
            </a:pPr>
            <a:r>
              <a:rPr lang="en-US" sz="1600" b="1" spc="200" kern="0" dirty="0">
                <a:solidFill>
                  <a:schemeClr val="accent2"/>
                </a:solidFill>
              </a:rPr>
              <a:t>PARTIE 3</a:t>
            </a:r>
            <a:endParaRPr lang="en-US" sz="1600" dirty="0"/>
          </a:p>
        </p:txBody>
      </p:sp>
      <p:sp>
        <p:nvSpPr>
          <p:cNvPr id="8" name="Text 0"/>
          <p:cNvSpPr/>
          <p:nvPr>
            <p:ph idx="100" type="title" hasCustomPrompt="1"/>
          </p:nvPr>
        </p:nvSpPr>
        <p:spPr>
          <a:xfrm>
            <a:off x="4572000" y="2514600"/>
            <a:ext cx="6949440" cy="1691640"/>
          </a:xfrm>
          <a:prstGeom prst="rect">
            <a:avLst/>
          </a:prstGeom>
          <a:noFill/>
          <a:ln/>
        </p:spPr>
        <p:txBody>
          <a:bodyPr wrap="square" lIns="0" tIns="0" rIns="0" bIns="0" rtlCol="0" anchor="t"/>
          <a:lstStyle/>
          <a:p>
            <a:pPr algn="l" indent="0" marL="0">
              <a:buNone/>
            </a:pPr>
            <a:r>
              <a:rPr lang="en-US" sz="3400" b="1" dirty="0">
                <a:solidFill>
                  <a:schemeClr val="bg1"/>
                </a:solidFill>
              </a:rPr>
              <a:t>Les Minimal APIs</a:t>
            </a:r>
            <a:endParaRPr lang="en-US" sz="3400" dirty="0"/>
          </a:p>
        </p:txBody>
      </p:sp>
      <p:sp>
        <p:nvSpPr>
          <p:cNvPr id="9" name="Text 0"/>
          <p:cNvSpPr/>
          <p:nvPr>
            <p:ph idx="101" type="body" hasCustomPrompt="1"/>
          </p:nvPr>
        </p:nvSpPr>
        <p:spPr>
          <a:xfrm>
            <a:off x="4572000" y="4297680"/>
            <a:ext cx="6949440" cy="914400"/>
          </a:xfrm>
          <a:prstGeom prst="rect">
            <a:avLst/>
          </a:prstGeom>
          <a:noFill/>
          <a:ln/>
        </p:spPr>
        <p:txBody>
          <a:bodyPr wrap="square" lIns="0" tIns="0" rIns="0" bIns="0" rtlCol="0" anchor="t"/>
          <a:lstStyle/>
          <a:p>
            <a:pPr algn="l" indent="0" marL="0">
              <a:buNone/>
            </a:pPr>
            <a:r>
              <a:rPr lang="en-US" sz="1800" dirty="0">
                <a:solidFill>
                  <a:schemeClr val="bg2"/>
                </a:solidFill>
              </a:rPr>
              <a:t>Une route, une fonction, des paramètres liés par convention</a:t>
            </a:r>
            <a:endParaRPr lang="en-US" sz="1800" dirty="0"/>
          </a:p>
        </p:txBody>
      </p:sp>
      <p:sp>
        <p:nvSpPr>
          <p:cNvPr id="25" name="Slide Number Placeholder 0"/>
          <p:cNvSpPr>
            <a:spLocks noGrp="1"/>
          </p:cNvSpPr>
          <p:nvPr>
            <p:ph type="sldNum" sz="quarter" idx="4294967295"/>
          </p:nvPr>
        </p:nvSpPr>
        <p:spPr>
          <a:xfrm>
            <a:off x="10241280" y="61722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artie"/>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MINIMAL APIS</a:t>
            </a:r>
            <a:endParaRPr lang="en-US" sz="11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Une route, une fonction</a:t>
            </a:r>
            <a:endParaRPr lang="en-US" sz="2800" dirty="0"/>
          </a:p>
        </p:txBody>
      </p:sp>
      <p:sp>
        <p:nvSpPr>
          <p:cNvPr id="4" name="Points"/>
          <p:cNvSpPr txBox="1"/>
          <p:nvPr/>
        </p:nvSpPr>
        <p:spPr>
          <a:xfrm>
            <a:off x="548640" y="1463040"/>
            <a:ext cx="3840480" cy="45720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Les paramètres sont liés par convention : route, query string, corps JSON, services.</a:t>
            </a:r>
            <a:endParaRPr lang="en-US" sz="1500" dirty="0"/>
          </a:p>
          <a:p>
            <a:pPr marL="342900" indent="-342900">
              <a:spcAft>
                <a:spcPts val="900"/>
              </a:spcAft>
              <a:buSzPct val="100000"/>
              <a:buChar char="•"/>
            </a:pPr>
            <a:r>
              <a:rPr lang="en-US" sz="1500" dirty="0">
                <a:solidFill>
                  <a:schemeClr val="tx1"/>
                </a:solidFill>
                <a:latin typeface="Courier New" pitchFamily="34" charset="0"/>
                <a:ea typeface="Courier New" pitchFamily="34" charset="-122"/>
                <a:cs typeface="Courier New" pitchFamily="34" charset="-120"/>
              </a:rPr>
              <a:t>TypedResults</a:t>
            </a:r>
            <a:r>
              <a:rPr lang="en-US" sz="1500" dirty="0">
                <a:solidFill>
                  <a:schemeClr val="tx1"/>
                </a:solidFill>
              </a:rPr>
              <a:t> décrit les réponses possibles, OpenAPI compris.</a:t>
            </a:r>
            <a:endParaRPr lang="en-US" sz="1500" dirty="0"/>
          </a:p>
          <a:p>
            <a:pPr marL="342900" indent="-342900">
              <a:spcAft>
                <a:spcPts val="900"/>
              </a:spcAft>
              <a:buSzPct val="100000"/>
              <a:buChar char="•"/>
            </a:pPr>
            <a:r>
              <a:rPr lang="en-US" sz="1500" dirty="0">
                <a:solidFill>
                  <a:schemeClr val="tx1"/>
                </a:solidFill>
                <a:latin typeface="Courier New" pitchFamily="34" charset="0"/>
                <a:ea typeface="Courier New" pitchFamily="34" charset="-122"/>
                <a:cs typeface="Courier New" pitchFamily="34" charset="-120"/>
              </a:rPr>
              <a:t>MapGroup</a:t>
            </a:r>
            <a:r>
              <a:rPr lang="en-US" sz="1500" dirty="0">
                <a:solidFill>
                  <a:schemeClr val="tx1"/>
                </a:solidFill>
              </a:rPr>
              <a:t> partage un préfixe et des réglages.</a:t>
            </a:r>
            <a:endParaRPr lang="en-US" sz="1500" dirty="0"/>
          </a:p>
          <a:p>
            <a:pPr marL="342900" indent="-342900">
              <a:spcAft>
                <a:spcPts val="900"/>
              </a:spcAft>
              <a:buSzPct val="100000"/>
              <a:buChar char="•"/>
            </a:pPr>
            <a:r>
              <a:rPr lang="en-US" sz="1500" dirty="0">
                <a:solidFill>
                  <a:schemeClr val="tx1"/>
                </a:solidFill>
              </a:rPr>
              <a:t>≈ Axum, FastAPI ou Express ; les Controllers MVC existent aussi.</a:t>
            </a:r>
            <a:endParaRPr lang="en-US" sz="1500" dirty="0"/>
          </a:p>
        </p:txBody>
      </p:sp>
      <p:sp>
        <p:nvSpPr>
          <p:cNvPr id="5" name="Code C#"/>
          <p:cNvSpPr/>
          <p:nvPr/>
        </p:nvSpPr>
        <p:spPr>
          <a:xfrm>
            <a:off x="4663440" y="1417320"/>
            <a:ext cx="6995160" cy="3802888"/>
          </a:xfrm>
          <a:prstGeom prst="roundRect">
            <a:avLst>
              <a:gd name="adj" fmla="val 2404"/>
            </a:avLst>
          </a:prstGeom>
          <a:solidFill>
            <a:schemeClr val="tx2"/>
          </a:solidFill>
          <a:ln w="12700">
            <a:solidFill>
              <a:srgbClr val="000057"/>
            </a:solidFill>
            <a:prstDash val="solid"/>
          </a:ln>
        </p:spPr>
      </p:sp>
      <p:sp>
        <p:nvSpPr>
          <p:cNvPr id="6" name="Langage C#"/>
          <p:cNvSpPr txBox="1"/>
          <p:nvPr/>
        </p:nvSpPr>
        <p:spPr>
          <a:xfrm>
            <a:off x="4892040" y="1536192"/>
            <a:ext cx="6537960" cy="256032"/>
          </a:xfrm>
          <a:prstGeom prst="rect">
            <a:avLst/>
          </a:prstGeom>
          <a:noFill/>
          <a:ln/>
        </p:spPr>
        <p:txBody>
          <a:bodyPr wrap="square" lIns="0" tIns="0" rIns="0" bIns="0" rtlCol="0" anchor="t"/>
          <a:lstStyle/>
          <a:p>
            <a:pPr indent="0" marL="0">
              <a:buNone/>
            </a:pPr>
            <a:r>
              <a:rPr lang="en-US" sz="1100" b="1" dirty="0">
                <a:solidFill>
                  <a:schemeClr val="accent2"/>
                </a:solidFill>
              </a:rPr>
              <a:t>C#</a:t>
            </a:r>
            <a:endParaRPr lang="en-US" sz="1100" dirty="0"/>
          </a:p>
        </p:txBody>
      </p:sp>
      <p:sp>
        <p:nvSpPr>
          <p:cNvPr id="7" name="Contenu C#"/>
          <p:cNvSpPr txBox="1"/>
          <p:nvPr/>
        </p:nvSpPr>
        <p:spPr>
          <a:xfrm>
            <a:off x="4892040" y="1856232"/>
            <a:ext cx="6629400" cy="3254248"/>
          </a:xfrm>
          <a:prstGeom prst="rect">
            <a:avLst/>
          </a:prstGeom>
          <a:noFill/>
          <a:ln/>
        </p:spPr>
        <p:txBody>
          <a:bodyPr wrap="square" lIns="0" tIns="0" rIns="0" bIns="0" rtlCol="0" anchor="t"/>
          <a:lstStyle/>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var tickets = app.MapGroup("/tickets");</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tickets.MapGet("/{id:int}", async (int id,</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ITicketRepository repo, CancellationToken ct) =&gt;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await repo.GetAsync(id, ct) is { } 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 TypedResults.Ok(t.ToResponse())</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 Results.NotFound())</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.WithName("GetTicket");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tickets.MapPost("/", async (CreateTicketRequest req,</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ITicketRepository repo, CancellationToken ct) =&gt;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var t = await repo.CreateAsync(req, ct);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return TypedResults.CreatedAtRoute(</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t.ToResponse(), "GetTicket", new { id = t.Id });</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Partie"/>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MINIMAL APIS</a:t>
            </a:r>
            <a:endParaRPr lang="en-US" sz="11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Validation, erreurs et documentation</a:t>
            </a:r>
            <a:endParaRPr lang="en-US" sz="2800" dirty="0"/>
          </a:p>
        </p:txBody>
      </p:sp>
      <p:sp>
        <p:nvSpPr>
          <p:cNvPr id="4" name="Carte Validation"/>
          <p:cNvSpPr/>
          <p:nvPr/>
        </p:nvSpPr>
        <p:spPr>
          <a:xfrm>
            <a:off x="548640" y="1463040"/>
            <a:ext cx="3581400" cy="3794760"/>
          </a:xfrm>
          <a:prstGeom prst="roundRect">
            <a:avLst>
              <a:gd name="adj" fmla="val 3064"/>
            </a:avLst>
          </a:prstGeom>
          <a:solidFill>
            <a:schemeClr val="bg2"/>
          </a:solidFill>
          <a:ln w="12700">
            <a:solidFill>
              <a:srgbClr val="E1EAF1"/>
            </a:solidFill>
            <a:prstDash val="solid"/>
          </a:ln>
        </p:spPr>
      </p:sp>
      <p:sp>
        <p:nvSpPr>
          <p:cNvPr id="5" name="Pastille Validation"/>
          <p:cNvSpPr/>
          <p:nvPr/>
        </p:nvSpPr>
        <p:spPr>
          <a:xfrm>
            <a:off x="822960" y="1737360"/>
            <a:ext cx="777240" cy="673110"/>
          </a:xfrm>
          <a:custGeom>
            <a:avLst/>
            <a:gdLst/>
            <a:ahLst/>
            <a:cxnLst/>
            <a:rect l="l" t="t" r="r" b="b"/>
            <a:pathLst>
              <a:path w="777240" h="673110">
                <a:moveTo>
                  <a:pt x="0" y="336555"/>
                </a:moveTo>
                <a:lnTo>
                  <a:pt x="194310" y="0"/>
                </a:lnTo>
                <a:lnTo>
                  <a:pt x="582930" y="0"/>
                </a:lnTo>
                <a:lnTo>
                  <a:pt x="777240" y="336555"/>
                </a:lnTo>
                <a:lnTo>
                  <a:pt x="582930" y="673110"/>
                </a:lnTo>
                <a:lnTo>
                  <a:pt x="194310" y="673110"/>
                </a:lnTo>
                <a:close/>
              </a:path>
            </a:pathLst>
          </a:custGeom>
          <a:solidFill>
            <a:srgbClr val="0040FF"/>
          </a:solidFill>
          <a:ln w="12700">
            <a:solidFill>
              <a:srgbClr val="0040FF">
                <a:alpha val="0"/>
              </a:srgbClr>
            </a:solidFill>
            <a:prstDash val="solid"/>
          </a:ln>
        </p:spPr>
      </p:sp>
      <p:pic>
        <p:nvPicPr>
          <p:cNvPr id="6" name="Icône Validation" descr="Validation">    </p:cNvPr>
          <p:cNvPicPr>
            <a:picLocks noChangeAspect="1"/>
          </p:cNvPicPr>
          <p:nvPr/>
        </p:nvPicPr>
        <p:blipFill>
          <a:blip r:embed="rId1"/>
          <a:stretch>
            <a:fillRect/>
          </a:stretch>
        </p:blipFill>
        <p:spPr>
          <a:xfrm>
            <a:off x="1028700" y="1891025"/>
            <a:ext cx="365760" cy="365760"/>
          </a:xfrm>
          <a:prstGeom prst="rect">
            <a:avLst/>
          </a:prstGeom>
        </p:spPr>
      </p:pic>
      <p:sp>
        <p:nvSpPr>
          <p:cNvPr id="7" name="Titre Validation"/>
          <p:cNvSpPr txBox="1"/>
          <p:nvPr/>
        </p:nvSpPr>
        <p:spPr>
          <a:xfrm>
            <a:off x="1737360" y="1737360"/>
            <a:ext cx="2209800" cy="685800"/>
          </a:xfrm>
          <a:prstGeom prst="rect">
            <a:avLst/>
          </a:prstGeom>
          <a:noFill/>
          <a:ln/>
        </p:spPr>
        <p:txBody>
          <a:bodyPr wrap="square" lIns="0" tIns="0" rIns="0" bIns="0" rtlCol="0" anchor="ctr"/>
          <a:lstStyle/>
          <a:p>
            <a:pPr indent="0" marL="0">
              <a:buNone/>
            </a:pPr>
            <a:r>
              <a:rPr lang="en-US" sz="1600" b="1" dirty="0">
                <a:solidFill>
                  <a:schemeClr val="tx2"/>
                </a:solidFill>
              </a:rPr>
              <a:t>Validation</a:t>
            </a:r>
            <a:endParaRPr lang="en-US" sz="1600" dirty="0"/>
          </a:p>
        </p:txBody>
      </p:sp>
      <p:sp>
        <p:nvSpPr>
          <p:cNvPr id="8" name="Détail Validation"/>
          <p:cNvSpPr txBox="1"/>
          <p:nvPr/>
        </p:nvSpPr>
        <p:spPr>
          <a:xfrm>
            <a:off x="822960" y="2606040"/>
            <a:ext cx="3078480" cy="251460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AddValidation()</a:t>
            </a:r>
            <a:r>
              <a:rPr lang="en-US" sz="1400" dirty="0">
                <a:solidFill>
                  <a:schemeClr val="tx1"/>
                </a:solidFill>
              </a:rPr>
              <a:t> (.NET 10) vérifie les DataAnnotations du corps : </a:t>
            </a:r>
            <a:r>
              <a:rPr lang="en-US" sz="1400" dirty="0">
                <a:solidFill>
                  <a:schemeClr val="tx1"/>
                </a:solidFill>
                <a:latin typeface="Courier New" pitchFamily="34" charset="0"/>
                <a:ea typeface="Courier New" pitchFamily="34" charset="-122"/>
                <a:cs typeface="Courier New" pitchFamily="34" charset="-120"/>
              </a:rPr>
              <a:t>[Required]</a:t>
            </a:r>
            <a:r>
              <a:rPr lang="en-US" sz="1400" dirty="0">
                <a:solidFill>
                  <a:schemeClr val="tx1"/>
                </a:solidFill>
              </a:rPr>
              <a:t>, </a:t>
            </a:r>
            <a:r>
              <a:rPr lang="en-US" sz="1400" dirty="0">
                <a:solidFill>
                  <a:schemeClr val="tx1"/>
                </a:solidFill>
                <a:latin typeface="Courier New" pitchFamily="34" charset="0"/>
                <a:ea typeface="Courier New" pitchFamily="34" charset="-122"/>
                <a:cs typeface="Courier New" pitchFamily="34" charset="-120"/>
              </a:rPr>
              <a:t>[StringLength]</a:t>
            </a:r>
            <a:r>
              <a:rPr lang="en-US" sz="1400" dirty="0">
                <a:solidFill>
                  <a:schemeClr val="tx1"/>
                </a:solidFill>
              </a:rPr>
              <a:t>. Un corps invalide reçoit un 400 sans atteindre votre code.</a:t>
            </a:r>
            <a:endParaRPr lang="en-US" sz="1400" dirty="0"/>
          </a:p>
        </p:txBody>
      </p:sp>
      <p:sp>
        <p:nvSpPr>
          <p:cNvPr id="9" name="Carte ProblemDetails"/>
          <p:cNvSpPr/>
          <p:nvPr/>
        </p:nvSpPr>
        <p:spPr>
          <a:xfrm>
            <a:off x="4312920" y="1463040"/>
            <a:ext cx="3581400" cy="3794760"/>
          </a:xfrm>
          <a:prstGeom prst="roundRect">
            <a:avLst>
              <a:gd name="adj" fmla="val 3064"/>
            </a:avLst>
          </a:prstGeom>
          <a:solidFill>
            <a:schemeClr val="bg2"/>
          </a:solidFill>
          <a:ln w="12700">
            <a:solidFill>
              <a:srgbClr val="E1EAF1"/>
            </a:solidFill>
            <a:prstDash val="solid"/>
          </a:ln>
        </p:spPr>
      </p:sp>
      <p:sp>
        <p:nvSpPr>
          <p:cNvPr id="10" name="Pastille ProblemDetails"/>
          <p:cNvSpPr/>
          <p:nvPr/>
        </p:nvSpPr>
        <p:spPr>
          <a:xfrm>
            <a:off x="4587240" y="1737360"/>
            <a:ext cx="777240" cy="673110"/>
          </a:xfrm>
          <a:custGeom>
            <a:avLst/>
            <a:gdLst/>
            <a:ahLst/>
            <a:cxnLst/>
            <a:rect l="l" t="t" r="r" b="b"/>
            <a:pathLst>
              <a:path w="777240" h="673110">
                <a:moveTo>
                  <a:pt x="0" y="336555"/>
                </a:moveTo>
                <a:lnTo>
                  <a:pt x="194310" y="0"/>
                </a:lnTo>
                <a:lnTo>
                  <a:pt x="582930" y="0"/>
                </a:lnTo>
                <a:lnTo>
                  <a:pt x="777240" y="336555"/>
                </a:lnTo>
                <a:lnTo>
                  <a:pt x="582930" y="673110"/>
                </a:lnTo>
                <a:lnTo>
                  <a:pt x="194310" y="673110"/>
                </a:lnTo>
                <a:close/>
              </a:path>
            </a:pathLst>
          </a:custGeom>
          <a:solidFill>
            <a:srgbClr val="0040FF"/>
          </a:solidFill>
          <a:ln w="12700">
            <a:solidFill>
              <a:srgbClr val="0040FF">
                <a:alpha val="0"/>
              </a:srgbClr>
            </a:solidFill>
            <a:prstDash val="solid"/>
          </a:ln>
        </p:spPr>
      </p:sp>
      <p:pic>
        <p:nvPicPr>
          <p:cNvPr id="11" name="Icône ProblemDetails" descr="ProblemDetails">    </p:cNvPr>
          <p:cNvPicPr>
            <a:picLocks noChangeAspect="1"/>
          </p:cNvPicPr>
          <p:nvPr/>
        </p:nvPicPr>
        <p:blipFill>
          <a:blip r:embed="rId2"/>
          <a:stretch>
            <a:fillRect/>
          </a:stretch>
        </p:blipFill>
        <p:spPr>
          <a:xfrm>
            <a:off x="4792980" y="1891025"/>
            <a:ext cx="365760" cy="365760"/>
          </a:xfrm>
          <a:prstGeom prst="rect">
            <a:avLst/>
          </a:prstGeom>
        </p:spPr>
      </p:pic>
      <p:sp>
        <p:nvSpPr>
          <p:cNvPr id="12" name="Titre ProblemDetails"/>
          <p:cNvSpPr txBox="1"/>
          <p:nvPr/>
        </p:nvSpPr>
        <p:spPr>
          <a:xfrm>
            <a:off x="5501640" y="1737360"/>
            <a:ext cx="2209800" cy="685800"/>
          </a:xfrm>
          <a:prstGeom prst="rect">
            <a:avLst/>
          </a:prstGeom>
          <a:noFill/>
          <a:ln/>
        </p:spPr>
        <p:txBody>
          <a:bodyPr wrap="square" lIns="0" tIns="0" rIns="0" bIns="0" rtlCol="0" anchor="ctr"/>
          <a:lstStyle/>
          <a:p>
            <a:pPr indent="0" marL="0">
              <a:buNone/>
            </a:pPr>
            <a:r>
              <a:rPr lang="en-US" sz="1600" b="1" dirty="0">
                <a:solidFill>
                  <a:schemeClr val="tx2"/>
                </a:solidFill>
              </a:rPr>
              <a:t>ProblemDetails</a:t>
            </a:r>
            <a:endParaRPr lang="en-US" sz="1600" dirty="0"/>
          </a:p>
        </p:txBody>
      </p:sp>
      <p:sp>
        <p:nvSpPr>
          <p:cNvPr id="13" name="Détail ProblemDetails"/>
          <p:cNvSpPr txBox="1"/>
          <p:nvPr/>
        </p:nvSpPr>
        <p:spPr>
          <a:xfrm>
            <a:off x="4587240" y="2606040"/>
            <a:ext cx="3078480" cy="2514600"/>
          </a:xfrm>
          <a:prstGeom prst="rect">
            <a:avLst/>
          </a:prstGeom>
          <a:noFill/>
          <a:ln/>
        </p:spPr>
        <p:txBody>
          <a:bodyPr wrap="square" lIns="0" tIns="0" rIns="0" bIns="0" rtlCol="0" anchor="t"/>
          <a:lstStyle/>
          <a:p>
            <a:pPr indent="0" marL="0">
              <a:buNone/>
            </a:pPr>
            <a:r>
              <a:rPr lang="en-US" sz="1400" dirty="0">
                <a:solidFill>
                  <a:schemeClr val="tx1"/>
                </a:solidFill>
              </a:rPr>
              <a:t>Le format JSON standard des erreurs HTTP (RFC 9457) : </a:t>
            </a:r>
            <a:r>
              <a:rPr lang="en-US" sz="1400" dirty="0">
                <a:solidFill>
                  <a:schemeClr val="tx1"/>
                </a:solidFill>
                <a:latin typeface="Courier New" pitchFamily="34" charset="0"/>
                <a:ea typeface="Courier New" pitchFamily="34" charset="-122"/>
                <a:cs typeface="Courier New" pitchFamily="34" charset="-120"/>
              </a:rPr>
              <a:t>type</a:t>
            </a:r>
            <a:r>
              <a:rPr lang="en-US" sz="1400" dirty="0">
                <a:solidFill>
                  <a:schemeClr val="tx1"/>
                </a:solidFill>
              </a:rPr>
              <a:t>, </a:t>
            </a:r>
            <a:r>
              <a:rPr lang="en-US" sz="1400" dirty="0">
                <a:solidFill>
                  <a:schemeClr val="tx1"/>
                </a:solidFill>
                <a:latin typeface="Courier New" pitchFamily="34" charset="0"/>
                <a:ea typeface="Courier New" pitchFamily="34" charset="-122"/>
                <a:cs typeface="Courier New" pitchFamily="34" charset="-120"/>
              </a:rPr>
              <a:t>title</a:t>
            </a:r>
            <a:r>
              <a:rPr lang="en-US" sz="1400" dirty="0">
                <a:solidFill>
                  <a:schemeClr val="tx1"/>
                </a:solidFill>
              </a:rPr>
              <a:t>, </a:t>
            </a:r>
            <a:r>
              <a:rPr lang="en-US" sz="1400" dirty="0">
                <a:solidFill>
                  <a:schemeClr val="tx1"/>
                </a:solidFill>
                <a:latin typeface="Courier New" pitchFamily="34" charset="0"/>
                <a:ea typeface="Courier New" pitchFamily="34" charset="-122"/>
                <a:cs typeface="Courier New" pitchFamily="34" charset="-120"/>
              </a:rPr>
              <a:t>status</a:t>
            </a:r>
            <a:r>
              <a:rPr lang="en-US" sz="1400" dirty="0">
                <a:solidFill>
                  <a:schemeClr val="tx1"/>
                </a:solidFill>
              </a:rPr>
              <a:t>, </a:t>
            </a:r>
            <a:r>
              <a:rPr lang="en-US" sz="1400" dirty="0">
                <a:solidFill>
                  <a:schemeClr val="tx1"/>
                </a:solidFill>
                <a:latin typeface="Courier New" pitchFamily="34" charset="0"/>
                <a:ea typeface="Courier New" pitchFamily="34" charset="-122"/>
                <a:cs typeface="Courier New" pitchFamily="34" charset="-120"/>
              </a:rPr>
              <a:t>detail</a:t>
            </a:r>
            <a:r>
              <a:rPr lang="en-US" sz="1400" dirty="0">
                <a:solidFill>
                  <a:schemeClr val="tx1"/>
                </a:solidFill>
              </a:rPr>
              <a:t>. </a:t>
            </a:r>
            <a:r>
              <a:rPr lang="en-US" sz="1400" dirty="0">
                <a:solidFill>
                  <a:schemeClr val="tx1"/>
                </a:solidFill>
                <a:latin typeface="Courier New" pitchFamily="34" charset="0"/>
                <a:ea typeface="Courier New" pitchFamily="34" charset="-122"/>
                <a:cs typeface="Courier New" pitchFamily="34" charset="-120"/>
              </a:rPr>
              <a:t>AddProblemDetails()</a:t>
            </a:r>
            <a:r>
              <a:rPr lang="en-US" sz="1400" dirty="0">
                <a:solidFill>
                  <a:schemeClr val="tx1"/>
                </a:solidFill>
              </a:rPr>
              <a:t> l'active partout.</a:t>
            </a:r>
            <a:endParaRPr lang="en-US" sz="1400" dirty="0"/>
          </a:p>
        </p:txBody>
      </p:sp>
      <p:sp>
        <p:nvSpPr>
          <p:cNvPr id="14" name="Carte OpenAPI et Scalar"/>
          <p:cNvSpPr/>
          <p:nvPr/>
        </p:nvSpPr>
        <p:spPr>
          <a:xfrm>
            <a:off x="8077200" y="1463040"/>
            <a:ext cx="3581400" cy="3794760"/>
          </a:xfrm>
          <a:prstGeom prst="roundRect">
            <a:avLst>
              <a:gd name="adj" fmla="val 3064"/>
            </a:avLst>
          </a:prstGeom>
          <a:solidFill>
            <a:schemeClr val="bg2"/>
          </a:solidFill>
          <a:ln w="12700">
            <a:solidFill>
              <a:srgbClr val="E1EAF1"/>
            </a:solidFill>
            <a:prstDash val="solid"/>
          </a:ln>
        </p:spPr>
      </p:sp>
      <p:sp>
        <p:nvSpPr>
          <p:cNvPr id="15" name="Pastille OpenAPI et Scalar"/>
          <p:cNvSpPr/>
          <p:nvPr/>
        </p:nvSpPr>
        <p:spPr>
          <a:xfrm>
            <a:off x="8351520" y="1737360"/>
            <a:ext cx="777240" cy="673110"/>
          </a:xfrm>
          <a:custGeom>
            <a:avLst/>
            <a:gdLst/>
            <a:ahLst/>
            <a:cxnLst/>
            <a:rect l="l" t="t" r="r" b="b"/>
            <a:pathLst>
              <a:path w="777240" h="673110">
                <a:moveTo>
                  <a:pt x="0" y="336555"/>
                </a:moveTo>
                <a:lnTo>
                  <a:pt x="194310" y="0"/>
                </a:lnTo>
                <a:lnTo>
                  <a:pt x="582930" y="0"/>
                </a:lnTo>
                <a:lnTo>
                  <a:pt x="777240" y="336555"/>
                </a:lnTo>
                <a:lnTo>
                  <a:pt x="582930" y="673110"/>
                </a:lnTo>
                <a:lnTo>
                  <a:pt x="194310" y="673110"/>
                </a:lnTo>
                <a:close/>
              </a:path>
            </a:pathLst>
          </a:custGeom>
          <a:solidFill>
            <a:srgbClr val="0040FF"/>
          </a:solidFill>
          <a:ln w="12700">
            <a:solidFill>
              <a:srgbClr val="0040FF">
                <a:alpha val="0"/>
              </a:srgbClr>
            </a:solidFill>
            <a:prstDash val="solid"/>
          </a:ln>
        </p:spPr>
      </p:sp>
      <p:pic>
        <p:nvPicPr>
          <p:cNvPr id="16" name="Icône OpenAPI et Scalar" descr="OpenAPI et Scalar">    </p:cNvPr>
          <p:cNvPicPr>
            <a:picLocks noChangeAspect="1"/>
          </p:cNvPicPr>
          <p:nvPr/>
        </p:nvPicPr>
        <p:blipFill>
          <a:blip r:embed="rId3"/>
          <a:stretch>
            <a:fillRect/>
          </a:stretch>
        </p:blipFill>
        <p:spPr>
          <a:xfrm>
            <a:off x="8557260" y="1891025"/>
            <a:ext cx="365760" cy="365760"/>
          </a:xfrm>
          <a:prstGeom prst="rect">
            <a:avLst/>
          </a:prstGeom>
        </p:spPr>
      </p:pic>
      <p:sp>
        <p:nvSpPr>
          <p:cNvPr id="17" name="Titre OpenAPI et Scalar"/>
          <p:cNvSpPr txBox="1"/>
          <p:nvPr/>
        </p:nvSpPr>
        <p:spPr>
          <a:xfrm>
            <a:off x="9265920" y="1737360"/>
            <a:ext cx="2209800" cy="685800"/>
          </a:xfrm>
          <a:prstGeom prst="rect">
            <a:avLst/>
          </a:prstGeom>
          <a:noFill/>
          <a:ln/>
        </p:spPr>
        <p:txBody>
          <a:bodyPr wrap="square" lIns="0" tIns="0" rIns="0" bIns="0" rtlCol="0" anchor="ctr"/>
          <a:lstStyle/>
          <a:p>
            <a:pPr indent="0" marL="0">
              <a:buNone/>
            </a:pPr>
            <a:r>
              <a:rPr lang="en-US" sz="1600" b="1" dirty="0">
                <a:solidFill>
                  <a:schemeClr val="tx2"/>
                </a:solidFill>
              </a:rPr>
              <a:t>OpenAPI et Scalar</a:t>
            </a:r>
            <a:endParaRPr lang="en-US" sz="1600" dirty="0"/>
          </a:p>
        </p:txBody>
      </p:sp>
      <p:sp>
        <p:nvSpPr>
          <p:cNvPr id="18" name="Détail OpenAPI et Scalar"/>
          <p:cNvSpPr txBox="1"/>
          <p:nvPr/>
        </p:nvSpPr>
        <p:spPr>
          <a:xfrm>
            <a:off x="8351520" y="2606040"/>
            <a:ext cx="3078480" cy="251460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AddOpenApi()</a:t>
            </a:r>
            <a:r>
              <a:rPr lang="en-US" sz="1400" dirty="0">
                <a:solidFill>
                  <a:schemeClr val="tx1"/>
                </a:solidFill>
              </a:rPr>
              <a:t> génère le document, </a:t>
            </a:r>
            <a:r>
              <a:rPr lang="en-US" sz="1400" dirty="0">
                <a:solidFill>
                  <a:schemeClr val="tx1"/>
                </a:solidFill>
                <a:latin typeface="Courier New" pitchFamily="34" charset="0"/>
                <a:ea typeface="Courier New" pitchFamily="34" charset="-122"/>
                <a:cs typeface="Courier New" pitchFamily="34" charset="-120"/>
              </a:rPr>
              <a:t>MapScalarApiReference()</a:t>
            </a:r>
            <a:r>
              <a:rPr lang="en-US" sz="1400" dirty="0">
                <a:solidFill>
                  <a:schemeClr val="tx1"/>
                </a:solidFill>
              </a:rPr>
              <a:t> une page pour appeler l'API depuis le navigateur.</a:t>
            </a:r>
            <a:endParaRPr lang="en-US" sz="1400" dirty="0"/>
          </a:p>
        </p:txBody>
      </p:sp>
      <p:sp>
        <p:nvSpPr>
          <p:cNvPr id="19" name="À retenir"/>
          <p:cNvSpPr/>
          <p:nvPr/>
        </p:nvSpPr>
        <p:spPr>
          <a:xfrm>
            <a:off x="548640" y="5440680"/>
            <a:ext cx="11109960" cy="685800"/>
          </a:xfrm>
          <a:prstGeom prst="roundRect">
            <a:avLst>
              <a:gd name="adj" fmla="val 13333"/>
            </a:avLst>
          </a:prstGeom>
          <a:solidFill>
            <a:schemeClr val="bg2"/>
          </a:solidFill>
          <a:ln w="12700">
            <a:solidFill>
              <a:srgbClr val="E1EAF1"/>
            </a:solidFill>
            <a:prstDash val="solid"/>
          </a:ln>
        </p:spPr>
      </p:sp>
      <p:pic>
        <p:nvPicPr>
          <p:cNvPr id="20" name="Icône à retenir" descr="À retenir">    </p:cNvPr>
          <p:cNvPicPr>
            <a:picLocks noChangeAspect="1"/>
          </p:cNvPicPr>
          <p:nvPr/>
        </p:nvPicPr>
        <p:blipFill>
          <a:blip r:embed="rId4"/>
          <a:stretch>
            <a:fillRect/>
          </a:stretch>
        </p:blipFill>
        <p:spPr>
          <a:xfrm>
            <a:off x="777240" y="5614416"/>
            <a:ext cx="338328" cy="338328"/>
          </a:xfrm>
          <a:prstGeom prst="rect">
            <a:avLst/>
          </a:prstGeom>
        </p:spPr>
      </p:pic>
      <p:sp>
        <p:nvSpPr>
          <p:cNvPr id="21" name="Texte à retenir"/>
          <p:cNvSpPr txBox="1"/>
          <p:nvPr/>
        </p:nvSpPr>
        <p:spPr>
          <a:xfrm>
            <a:off x="1325880" y="5440680"/>
            <a:ext cx="10149840" cy="685800"/>
          </a:xfrm>
          <a:prstGeom prst="rect">
            <a:avLst/>
          </a:prstGeom>
          <a:noFill/>
          <a:ln/>
        </p:spPr>
        <p:txBody>
          <a:bodyPr wrap="square" lIns="0" tIns="0" rIns="0" bIns="0" rtlCol="0" anchor="ctr"/>
          <a:lstStyle/>
          <a:p>
            <a:pPr indent="0" marL="0">
              <a:buNone/>
            </a:pPr>
            <a:r>
              <a:rPr lang="en-US" sz="1500" dirty="0">
                <a:solidFill>
                  <a:schemeClr val="tx2"/>
                </a:solidFill>
              </a:rPr>
              <a:t>Séparez les contrats (ce que l'API expose) des entités (ce que stocke la base) : le schéma peut évoluer sans casser les clients.</a:t>
            </a:r>
            <a:endParaRPr lang="en-US" sz="15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Grand hexagone"/>
          <p:cNvSpPr/>
          <p:nvPr/>
        </p:nvSpPr>
        <p:spPr>
          <a:xfrm>
            <a:off x="822960" y="1965960"/>
            <a:ext cx="3108960" cy="2692438"/>
          </a:xfrm>
          <a:custGeom>
            <a:avLst/>
            <a:gdLst/>
            <a:ahLst/>
            <a:cxnLst/>
            <a:rect l="l" t="t" r="r" b="b"/>
            <a:pathLst>
              <a:path w="3108960" h="2692438">
                <a:moveTo>
                  <a:pt x="0" y="1346219"/>
                </a:moveTo>
                <a:lnTo>
                  <a:pt x="777240" y="0"/>
                </a:lnTo>
                <a:lnTo>
                  <a:pt x="2331720" y="0"/>
                </a:lnTo>
                <a:lnTo>
                  <a:pt x="3108960" y="1346219"/>
                </a:lnTo>
                <a:lnTo>
                  <a:pt x="2331720" y="2692438"/>
                </a:lnTo>
                <a:lnTo>
                  <a:pt x="777240" y="2692438"/>
                </a:lnTo>
                <a:close/>
              </a:path>
            </a:pathLst>
          </a:custGeom>
          <a:solidFill>
            <a:srgbClr val="FFFF00"/>
          </a:solidFill>
          <a:ln w="12700">
            <a:solidFill>
              <a:srgbClr val="FFFF00">
                <a:alpha val="0"/>
              </a:srgbClr>
            </a:solidFill>
            <a:prstDash val="solid"/>
          </a:ln>
        </p:spPr>
      </p:sp>
      <p:sp>
        <p:nvSpPr>
          <p:cNvPr id="3" name="Numéro de partie"/>
          <p:cNvSpPr txBox="1"/>
          <p:nvPr/>
        </p:nvSpPr>
        <p:spPr>
          <a:xfrm>
            <a:off x="822960" y="1965960"/>
            <a:ext cx="3108960" cy="2688336"/>
          </a:xfrm>
          <a:prstGeom prst="rect">
            <a:avLst/>
          </a:prstGeom>
          <a:noFill/>
          <a:ln/>
        </p:spPr>
        <p:txBody>
          <a:bodyPr wrap="square" lIns="0" tIns="0" rIns="0" bIns="0" rtlCol="0" anchor="ctr"/>
          <a:lstStyle/>
          <a:p>
            <a:pPr algn="ctr" indent="0" marL="0">
              <a:buNone/>
            </a:pPr>
            <a:r>
              <a:rPr lang="en-US" sz="7200" b="1" dirty="0">
                <a:solidFill>
                  <a:schemeClr val="tx2"/>
                </a:solidFill>
              </a:rPr>
              <a:t>4</a:t>
            </a:r>
            <a:endParaRPr lang="en-US" sz="7200" dirty="0"/>
          </a:p>
        </p:txBody>
      </p:sp>
      <p:sp>
        <p:nvSpPr>
          <p:cNvPr id="4" name="Hexagone décoratif"/>
          <p:cNvSpPr/>
          <p:nvPr/>
        </p:nvSpPr>
        <p:spPr>
          <a:xfrm>
            <a:off x="3429000" y="1234440"/>
            <a:ext cx="914400" cy="791894"/>
          </a:xfrm>
          <a:custGeom>
            <a:avLst/>
            <a:gdLst/>
            <a:ahLst/>
            <a:cxnLst/>
            <a:rect l="l" t="t" r="r" b="b"/>
            <a:pathLst>
              <a:path w="914400" h="791894">
                <a:moveTo>
                  <a:pt x="0" y="395947"/>
                </a:moveTo>
                <a:lnTo>
                  <a:pt x="228600" y="0"/>
                </a:lnTo>
                <a:lnTo>
                  <a:pt x="685800" y="0"/>
                </a:lnTo>
                <a:lnTo>
                  <a:pt x="914400" y="395947"/>
                </a:lnTo>
                <a:lnTo>
                  <a:pt x="685800" y="791894"/>
                </a:lnTo>
                <a:lnTo>
                  <a:pt x="228600" y="791894"/>
                </a:lnTo>
                <a:close/>
              </a:path>
            </a:pathLst>
          </a:custGeom>
          <a:solidFill>
            <a:srgbClr val="001793">
              <a:alpha val="70000"/>
            </a:srgbClr>
          </a:solidFill>
          <a:ln w="12700">
            <a:solidFill>
              <a:srgbClr val="001793">
                <a:alpha val="0"/>
              </a:srgbClr>
            </a:solidFill>
            <a:prstDash val="solid"/>
          </a:ln>
        </p:spPr>
      </p:sp>
      <p:sp>
        <p:nvSpPr>
          <p:cNvPr id="5" name="Hexagone décoratif"/>
          <p:cNvSpPr/>
          <p:nvPr/>
        </p:nvSpPr>
        <p:spPr>
          <a:xfrm>
            <a:off x="320040" y="4526280"/>
            <a:ext cx="1097280" cy="950272"/>
          </a:xfrm>
          <a:custGeom>
            <a:avLst/>
            <a:gdLst/>
            <a:ahLst/>
            <a:cxnLst/>
            <a:rect l="l" t="t" r="r" b="b"/>
            <a:pathLst>
              <a:path w="1097280" h="950272">
                <a:moveTo>
                  <a:pt x="0" y="475136"/>
                </a:moveTo>
                <a:lnTo>
                  <a:pt x="274320" y="0"/>
                </a:lnTo>
                <a:lnTo>
                  <a:pt x="822960" y="0"/>
                </a:lnTo>
                <a:lnTo>
                  <a:pt x="1097280" y="475136"/>
                </a:lnTo>
                <a:lnTo>
                  <a:pt x="822960" y="950272"/>
                </a:lnTo>
                <a:lnTo>
                  <a:pt x="274320" y="950272"/>
                </a:lnTo>
                <a:close/>
              </a:path>
            </a:pathLst>
          </a:custGeom>
          <a:solidFill>
            <a:srgbClr val="000D78">
              <a:alpha val="90000"/>
            </a:srgbClr>
          </a:solidFill>
          <a:ln w="12700">
            <a:solidFill>
              <a:srgbClr val="000D78">
                <a:alpha val="0"/>
              </a:srgbClr>
            </a:solidFill>
            <a:prstDash val="solid"/>
          </a:ln>
        </p:spPr>
      </p:sp>
      <p:sp>
        <p:nvSpPr>
          <p:cNvPr id="6" name="Hexagone décoratif"/>
          <p:cNvSpPr/>
          <p:nvPr/>
        </p:nvSpPr>
        <p:spPr>
          <a:xfrm>
            <a:off x="10607040" y="640080"/>
            <a:ext cx="1280160" cy="1108651"/>
          </a:xfrm>
          <a:custGeom>
            <a:avLst/>
            <a:gdLst/>
            <a:ahLst/>
            <a:cxnLst/>
            <a:rect l="l" t="t" r="r" b="b"/>
            <a:pathLst>
              <a:path w="1280160" h="1108651">
                <a:moveTo>
                  <a:pt x="0" y="554326"/>
                </a:moveTo>
                <a:lnTo>
                  <a:pt x="320040" y="0"/>
                </a:lnTo>
                <a:lnTo>
                  <a:pt x="960120" y="0"/>
                </a:lnTo>
                <a:lnTo>
                  <a:pt x="1280160" y="554326"/>
                </a:lnTo>
                <a:lnTo>
                  <a:pt x="960120" y="1108651"/>
                </a:lnTo>
                <a:lnTo>
                  <a:pt x="320040" y="1108651"/>
                </a:lnTo>
                <a:close/>
              </a:path>
            </a:pathLst>
          </a:custGeom>
          <a:solidFill>
            <a:srgbClr val="001793">
              <a:alpha val="55000"/>
            </a:srgbClr>
          </a:solidFill>
          <a:ln w="12700">
            <a:solidFill>
              <a:srgbClr val="001793">
                <a:alpha val="0"/>
              </a:srgbClr>
            </a:solidFill>
            <a:prstDash val="solid"/>
          </a:ln>
        </p:spPr>
      </p:sp>
      <p:sp>
        <p:nvSpPr>
          <p:cNvPr id="7" name="Surtitre"/>
          <p:cNvSpPr txBox="1"/>
          <p:nvPr/>
        </p:nvSpPr>
        <p:spPr>
          <a:xfrm>
            <a:off x="4572000" y="2057400"/>
            <a:ext cx="6400800" cy="365760"/>
          </a:xfrm>
          <a:prstGeom prst="rect">
            <a:avLst/>
          </a:prstGeom>
          <a:noFill/>
          <a:ln/>
        </p:spPr>
        <p:txBody>
          <a:bodyPr wrap="square" lIns="0" tIns="0" rIns="0" bIns="0" rtlCol="0" anchor="t"/>
          <a:lstStyle/>
          <a:p>
            <a:pPr indent="0" marL="0">
              <a:buNone/>
            </a:pPr>
            <a:r>
              <a:rPr lang="en-US" sz="1600" b="1" spc="200" kern="0" dirty="0">
                <a:solidFill>
                  <a:schemeClr val="accent2"/>
                </a:solidFill>
              </a:rPr>
              <a:t>PARTIE 4</a:t>
            </a:r>
            <a:endParaRPr lang="en-US" sz="1600" dirty="0"/>
          </a:p>
        </p:txBody>
      </p:sp>
      <p:sp>
        <p:nvSpPr>
          <p:cNvPr id="8" name="Text 0"/>
          <p:cNvSpPr/>
          <p:nvPr>
            <p:ph idx="100" type="title" hasCustomPrompt="1"/>
          </p:nvPr>
        </p:nvSpPr>
        <p:spPr>
          <a:xfrm>
            <a:off x="4572000" y="2514600"/>
            <a:ext cx="6949440" cy="1691640"/>
          </a:xfrm>
          <a:prstGeom prst="rect">
            <a:avLst/>
          </a:prstGeom>
          <a:noFill/>
          <a:ln/>
        </p:spPr>
        <p:txBody>
          <a:bodyPr wrap="square" lIns="0" tIns="0" rIns="0" bIns="0" rtlCol="0" anchor="t"/>
          <a:lstStyle/>
          <a:p>
            <a:pPr algn="l" indent="0" marL="0">
              <a:buNone/>
            </a:pPr>
            <a:r>
              <a:rPr lang="en-US" sz="3400" b="1" dirty="0">
                <a:solidFill>
                  <a:schemeClr val="bg1"/>
                </a:solidFill>
              </a:rPr>
              <a:t>Entity Framework Core</a:t>
            </a:r>
            <a:endParaRPr lang="en-US" sz="3400" dirty="0"/>
          </a:p>
        </p:txBody>
      </p:sp>
      <p:sp>
        <p:nvSpPr>
          <p:cNvPr id="9" name="Text 0"/>
          <p:cNvSpPr/>
          <p:nvPr>
            <p:ph idx="101" type="body" hasCustomPrompt="1"/>
          </p:nvPr>
        </p:nvSpPr>
        <p:spPr>
          <a:xfrm>
            <a:off x="4572000" y="4297680"/>
            <a:ext cx="6949440" cy="914400"/>
          </a:xfrm>
          <a:prstGeom prst="rect">
            <a:avLst/>
          </a:prstGeom>
          <a:noFill/>
          <a:ln/>
        </p:spPr>
        <p:txBody>
          <a:bodyPr wrap="square" lIns="0" tIns="0" rIns="0" bIns="0" rtlCol="0" anchor="t"/>
          <a:lstStyle/>
          <a:p>
            <a:pPr algn="l" indent="0" marL="0">
              <a:buNone/>
            </a:pPr>
            <a:r>
              <a:rPr lang="en-US" sz="1800" dirty="0">
                <a:solidFill>
                  <a:schemeClr val="bg2"/>
                </a:solidFill>
              </a:rPr>
              <a:t>L'ORM de .NET : des classes C#, du SQL généré</a:t>
            </a:r>
            <a:endParaRPr lang="en-US" sz="1800" dirty="0"/>
          </a:p>
        </p:txBody>
      </p:sp>
      <p:sp>
        <p:nvSpPr>
          <p:cNvPr id="25" name="Slide Number Placeholder 0"/>
          <p:cNvSpPr>
            <a:spLocks noGrp="1"/>
          </p:cNvSpPr>
          <p:nvPr>
            <p:ph type="sldNum" sz="quarter" idx="4294967295"/>
          </p:nvPr>
        </p:nvSpPr>
        <p:spPr>
          <a:xfrm>
            <a:off x="10241280" y="61722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Partie"/>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EF CORE</a:t>
            </a:r>
            <a:endParaRPr lang="en-US" sz="11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Ce que fait un ORM, en une image</a:t>
            </a:r>
            <a:endParaRPr lang="en-US" sz="2800" dirty="0"/>
          </a:p>
        </p:txBody>
      </p:sp>
      <p:sp>
        <p:nvSpPr>
          <p:cNvPr id="4" name="Étape Entités"/>
          <p:cNvSpPr/>
          <p:nvPr/>
        </p:nvSpPr>
        <p:spPr>
          <a:xfrm>
            <a:off x="1042416" y="1600200"/>
            <a:ext cx="1234440" cy="1069056"/>
          </a:xfrm>
          <a:custGeom>
            <a:avLst/>
            <a:gdLst/>
            <a:ahLst/>
            <a:cxnLst/>
            <a:rect l="l" t="t" r="r" b="b"/>
            <a:pathLst>
              <a:path w="1234440" h="1069056">
                <a:moveTo>
                  <a:pt x="0" y="534528"/>
                </a:moveTo>
                <a:lnTo>
                  <a:pt x="308610" y="0"/>
                </a:lnTo>
                <a:lnTo>
                  <a:pt x="925830" y="0"/>
                </a:lnTo>
                <a:lnTo>
                  <a:pt x="1234440" y="534528"/>
                </a:lnTo>
                <a:lnTo>
                  <a:pt x="925830" y="1069056"/>
                </a:lnTo>
                <a:lnTo>
                  <a:pt x="308610" y="1069056"/>
                </a:lnTo>
                <a:close/>
              </a:path>
            </a:pathLst>
          </a:custGeom>
          <a:solidFill>
            <a:srgbClr val="000057"/>
          </a:solidFill>
          <a:ln w="12700">
            <a:solidFill>
              <a:srgbClr val="000057">
                <a:alpha val="0"/>
              </a:srgbClr>
            </a:solidFill>
            <a:prstDash val="solid"/>
          </a:ln>
        </p:spPr>
      </p:sp>
      <p:pic>
        <p:nvPicPr>
          <p:cNvPr id="5" name="Icône Entités" descr="Entités">    </p:cNvPr>
          <p:cNvPicPr>
            <a:picLocks noChangeAspect="1"/>
          </p:cNvPicPr>
          <p:nvPr/>
        </p:nvPicPr>
        <p:blipFill>
          <a:blip r:embed="rId1"/>
          <a:stretch>
            <a:fillRect/>
          </a:stretch>
        </p:blipFill>
        <p:spPr>
          <a:xfrm>
            <a:off x="1388059" y="1863136"/>
            <a:ext cx="543154" cy="543154"/>
          </a:xfrm>
          <a:prstGeom prst="rect">
            <a:avLst/>
          </a:prstGeom>
        </p:spPr>
      </p:pic>
      <p:sp>
        <p:nvSpPr>
          <p:cNvPr id="6" name="Titre Entités"/>
          <p:cNvSpPr txBox="1"/>
          <p:nvPr/>
        </p:nvSpPr>
        <p:spPr>
          <a:xfrm>
            <a:off x="594360" y="2852105"/>
            <a:ext cx="2130552" cy="411480"/>
          </a:xfrm>
          <a:prstGeom prst="rect">
            <a:avLst/>
          </a:prstGeom>
          <a:noFill/>
          <a:ln/>
        </p:spPr>
        <p:txBody>
          <a:bodyPr wrap="square" lIns="0" tIns="0" rIns="0" bIns="0" rtlCol="0" anchor="t"/>
          <a:lstStyle/>
          <a:p>
            <a:pPr algn="ctr" indent="0" marL="0">
              <a:buNone/>
            </a:pPr>
            <a:r>
              <a:rPr lang="en-US" sz="1600" b="1" dirty="0">
                <a:solidFill>
                  <a:schemeClr val="tx2"/>
                </a:solidFill>
              </a:rPr>
              <a:t>Entités</a:t>
            </a:r>
            <a:endParaRPr lang="en-US" sz="1600" dirty="0"/>
          </a:p>
        </p:txBody>
      </p:sp>
      <p:sp>
        <p:nvSpPr>
          <p:cNvPr id="7" name="Détail Entités"/>
          <p:cNvSpPr txBox="1"/>
          <p:nvPr/>
        </p:nvSpPr>
        <p:spPr>
          <a:xfrm>
            <a:off x="640080" y="3263585"/>
            <a:ext cx="2039112" cy="1188720"/>
          </a:xfrm>
          <a:prstGeom prst="rect">
            <a:avLst/>
          </a:prstGeom>
          <a:noFill/>
          <a:ln/>
        </p:spPr>
        <p:txBody>
          <a:bodyPr wrap="square" lIns="0" tIns="0" rIns="0" bIns="0" rtlCol="0" anchor="t"/>
          <a:lstStyle/>
          <a:p>
            <a:pPr algn="ctr" indent="0" marL="0">
              <a:buNone/>
            </a:pPr>
            <a:r>
              <a:rPr lang="en-US" sz="1300" dirty="0">
                <a:solidFill>
                  <a:schemeClr val="tx1"/>
                </a:solidFill>
              </a:rPr>
              <a:t>des classes C# simples : </a:t>
            </a:r>
            <a:r>
              <a:rPr lang="en-US" sz="1300" dirty="0">
                <a:solidFill>
                  <a:schemeClr val="tx1"/>
                </a:solidFill>
                <a:latin typeface="Courier New" pitchFamily="34" charset="0"/>
                <a:ea typeface="Courier New" pitchFamily="34" charset="-122"/>
                <a:cs typeface="Courier New" pitchFamily="34" charset="-120"/>
              </a:rPr>
              <a:t>Ticket</a:t>
            </a:r>
            <a:r>
              <a:rPr lang="en-US" sz="1300" dirty="0">
                <a:solidFill>
                  <a:schemeClr val="tx1"/>
                </a:solidFill>
              </a:rPr>
              <a:t>, </a:t>
            </a:r>
            <a:r>
              <a:rPr lang="en-US" sz="1300" dirty="0">
                <a:solidFill>
                  <a:schemeClr val="tx1"/>
                </a:solidFill>
                <a:latin typeface="Courier New" pitchFamily="34" charset="0"/>
                <a:ea typeface="Courier New" pitchFamily="34" charset="-122"/>
                <a:cs typeface="Courier New" pitchFamily="34" charset="-120"/>
              </a:rPr>
              <a:t>Comment</a:t>
            </a:r>
            <a:endParaRPr lang="en-US" sz="1300" dirty="0"/>
          </a:p>
        </p:txBody>
      </p:sp>
      <p:pic>
        <p:nvPicPr>
          <p:cNvPr id="8" name="Flèche 1" descr="puis">    </p:cNvPr>
          <p:cNvPicPr>
            <a:picLocks noChangeAspect="1"/>
          </p:cNvPicPr>
          <p:nvPr/>
        </p:nvPicPr>
        <p:blipFill>
          <a:blip r:embed="rId2"/>
          <a:stretch>
            <a:fillRect/>
          </a:stretch>
        </p:blipFill>
        <p:spPr>
          <a:xfrm>
            <a:off x="2624328" y="1988409"/>
            <a:ext cx="292608" cy="292608"/>
          </a:xfrm>
          <a:prstGeom prst="rect">
            <a:avLst/>
          </a:prstGeom>
        </p:spPr>
      </p:pic>
      <p:sp>
        <p:nvSpPr>
          <p:cNvPr id="9" name="Étape DbContext"/>
          <p:cNvSpPr/>
          <p:nvPr/>
        </p:nvSpPr>
        <p:spPr>
          <a:xfrm>
            <a:off x="3264408" y="1600200"/>
            <a:ext cx="1234440" cy="1069056"/>
          </a:xfrm>
          <a:custGeom>
            <a:avLst/>
            <a:gdLst/>
            <a:ahLst/>
            <a:cxnLst/>
            <a:rect l="l" t="t" r="r" b="b"/>
            <a:pathLst>
              <a:path w="1234440" h="1069056">
                <a:moveTo>
                  <a:pt x="0" y="534528"/>
                </a:moveTo>
                <a:lnTo>
                  <a:pt x="308610" y="0"/>
                </a:lnTo>
                <a:lnTo>
                  <a:pt x="925830" y="0"/>
                </a:lnTo>
                <a:lnTo>
                  <a:pt x="1234440" y="534528"/>
                </a:lnTo>
                <a:lnTo>
                  <a:pt x="925830" y="1069056"/>
                </a:lnTo>
                <a:lnTo>
                  <a:pt x="308610" y="1069056"/>
                </a:lnTo>
                <a:close/>
              </a:path>
            </a:pathLst>
          </a:custGeom>
          <a:solidFill>
            <a:srgbClr val="000057"/>
          </a:solidFill>
          <a:ln w="12700">
            <a:solidFill>
              <a:srgbClr val="000057">
                <a:alpha val="0"/>
              </a:srgbClr>
            </a:solidFill>
            <a:prstDash val="solid"/>
          </a:ln>
        </p:spPr>
      </p:sp>
      <p:pic>
        <p:nvPicPr>
          <p:cNvPr id="10" name="Icône DbContext" descr="DbContext">    </p:cNvPr>
          <p:cNvPicPr>
            <a:picLocks noChangeAspect="1"/>
          </p:cNvPicPr>
          <p:nvPr/>
        </p:nvPicPr>
        <p:blipFill>
          <a:blip r:embed="rId3"/>
          <a:stretch>
            <a:fillRect/>
          </a:stretch>
        </p:blipFill>
        <p:spPr>
          <a:xfrm>
            <a:off x="3610051" y="1863136"/>
            <a:ext cx="543154" cy="543154"/>
          </a:xfrm>
          <a:prstGeom prst="rect">
            <a:avLst/>
          </a:prstGeom>
        </p:spPr>
      </p:pic>
      <p:sp>
        <p:nvSpPr>
          <p:cNvPr id="11" name="Titre DbContext"/>
          <p:cNvSpPr txBox="1"/>
          <p:nvPr/>
        </p:nvSpPr>
        <p:spPr>
          <a:xfrm>
            <a:off x="2816352" y="2852105"/>
            <a:ext cx="2130552" cy="411480"/>
          </a:xfrm>
          <a:prstGeom prst="rect">
            <a:avLst/>
          </a:prstGeom>
          <a:noFill/>
          <a:ln/>
        </p:spPr>
        <p:txBody>
          <a:bodyPr wrap="square" lIns="0" tIns="0" rIns="0" bIns="0" rtlCol="0" anchor="t"/>
          <a:lstStyle/>
          <a:p>
            <a:pPr algn="ctr" indent="0" marL="0">
              <a:buNone/>
            </a:pPr>
            <a:r>
              <a:rPr lang="en-US" sz="1600" b="1" dirty="0">
                <a:solidFill>
                  <a:schemeClr val="tx2"/>
                </a:solidFill>
              </a:rPr>
              <a:t>DbContext</a:t>
            </a:r>
            <a:endParaRPr lang="en-US" sz="1600" dirty="0"/>
          </a:p>
        </p:txBody>
      </p:sp>
      <p:sp>
        <p:nvSpPr>
          <p:cNvPr id="12" name="Détail DbContext"/>
          <p:cNvSpPr txBox="1"/>
          <p:nvPr/>
        </p:nvSpPr>
        <p:spPr>
          <a:xfrm>
            <a:off x="2862072" y="3263585"/>
            <a:ext cx="2039112" cy="1188720"/>
          </a:xfrm>
          <a:prstGeom prst="rect">
            <a:avLst/>
          </a:prstGeom>
          <a:noFill/>
          <a:ln/>
        </p:spPr>
        <p:txBody>
          <a:bodyPr wrap="square" lIns="0" tIns="0" rIns="0" bIns="0" rtlCol="0" anchor="t"/>
          <a:lstStyle/>
          <a:p>
            <a:pPr algn="ctr" indent="0" marL="0">
              <a:buNone/>
            </a:pPr>
            <a:r>
              <a:rPr lang="en-US" sz="1300" dirty="0">
                <a:solidFill>
                  <a:schemeClr val="tx1"/>
                </a:solidFill>
              </a:rPr>
              <a:t>l'unité de travail, une session avec la base</a:t>
            </a:r>
            <a:endParaRPr lang="en-US" sz="1300" dirty="0"/>
          </a:p>
        </p:txBody>
      </p:sp>
      <p:pic>
        <p:nvPicPr>
          <p:cNvPr id="13" name="Flèche 2" descr="puis">    </p:cNvPr>
          <p:cNvPicPr>
            <a:picLocks noChangeAspect="1"/>
          </p:cNvPicPr>
          <p:nvPr/>
        </p:nvPicPr>
        <p:blipFill>
          <a:blip r:embed="rId4"/>
          <a:stretch>
            <a:fillRect/>
          </a:stretch>
        </p:blipFill>
        <p:spPr>
          <a:xfrm>
            <a:off x="4846320" y="1988409"/>
            <a:ext cx="292608" cy="292608"/>
          </a:xfrm>
          <a:prstGeom prst="rect">
            <a:avLst/>
          </a:prstGeom>
        </p:spPr>
      </p:pic>
      <p:sp>
        <p:nvSpPr>
          <p:cNvPr id="14" name="Étape LINQ"/>
          <p:cNvSpPr/>
          <p:nvPr/>
        </p:nvSpPr>
        <p:spPr>
          <a:xfrm>
            <a:off x="5486400" y="1600200"/>
            <a:ext cx="1234440" cy="1069056"/>
          </a:xfrm>
          <a:custGeom>
            <a:avLst/>
            <a:gdLst/>
            <a:ahLst/>
            <a:cxnLst/>
            <a:rect l="l" t="t" r="r" b="b"/>
            <a:pathLst>
              <a:path w="1234440" h="1069056">
                <a:moveTo>
                  <a:pt x="0" y="534528"/>
                </a:moveTo>
                <a:lnTo>
                  <a:pt x="308610" y="0"/>
                </a:lnTo>
                <a:lnTo>
                  <a:pt x="925830" y="0"/>
                </a:lnTo>
                <a:lnTo>
                  <a:pt x="1234440" y="534528"/>
                </a:lnTo>
                <a:lnTo>
                  <a:pt x="925830" y="1069056"/>
                </a:lnTo>
                <a:lnTo>
                  <a:pt x="308610" y="1069056"/>
                </a:lnTo>
                <a:close/>
              </a:path>
            </a:pathLst>
          </a:custGeom>
          <a:solidFill>
            <a:srgbClr val="000057"/>
          </a:solidFill>
          <a:ln w="12700">
            <a:solidFill>
              <a:srgbClr val="000057">
                <a:alpha val="0"/>
              </a:srgbClr>
            </a:solidFill>
            <a:prstDash val="solid"/>
          </a:ln>
        </p:spPr>
      </p:sp>
      <p:pic>
        <p:nvPicPr>
          <p:cNvPr id="15" name="Icône LINQ" descr="LINQ">    </p:cNvPr>
          <p:cNvPicPr>
            <a:picLocks noChangeAspect="1"/>
          </p:cNvPicPr>
          <p:nvPr/>
        </p:nvPicPr>
        <p:blipFill>
          <a:blip r:embed="rId5"/>
          <a:stretch>
            <a:fillRect/>
          </a:stretch>
        </p:blipFill>
        <p:spPr>
          <a:xfrm>
            <a:off x="5832043" y="1863136"/>
            <a:ext cx="543154" cy="543154"/>
          </a:xfrm>
          <a:prstGeom prst="rect">
            <a:avLst/>
          </a:prstGeom>
        </p:spPr>
      </p:pic>
      <p:sp>
        <p:nvSpPr>
          <p:cNvPr id="16" name="Titre LINQ"/>
          <p:cNvSpPr txBox="1"/>
          <p:nvPr/>
        </p:nvSpPr>
        <p:spPr>
          <a:xfrm>
            <a:off x="5038344" y="2852105"/>
            <a:ext cx="2130552" cy="411480"/>
          </a:xfrm>
          <a:prstGeom prst="rect">
            <a:avLst/>
          </a:prstGeom>
          <a:noFill/>
          <a:ln/>
        </p:spPr>
        <p:txBody>
          <a:bodyPr wrap="square" lIns="0" tIns="0" rIns="0" bIns="0" rtlCol="0" anchor="t"/>
          <a:lstStyle/>
          <a:p>
            <a:pPr algn="ctr" indent="0" marL="0">
              <a:buNone/>
            </a:pPr>
            <a:r>
              <a:rPr lang="en-US" sz="1600" b="1" dirty="0">
                <a:solidFill>
                  <a:schemeClr val="tx2"/>
                </a:solidFill>
              </a:rPr>
              <a:t>LINQ</a:t>
            </a:r>
            <a:endParaRPr lang="en-US" sz="1600" dirty="0"/>
          </a:p>
        </p:txBody>
      </p:sp>
      <p:sp>
        <p:nvSpPr>
          <p:cNvPr id="17" name="Détail LINQ"/>
          <p:cNvSpPr txBox="1"/>
          <p:nvPr/>
        </p:nvSpPr>
        <p:spPr>
          <a:xfrm>
            <a:off x="5084064" y="3263585"/>
            <a:ext cx="2039112" cy="1188720"/>
          </a:xfrm>
          <a:prstGeom prst="rect">
            <a:avLst/>
          </a:prstGeom>
          <a:noFill/>
          <a:ln/>
        </p:spPr>
        <p:txBody>
          <a:bodyPr wrap="square" lIns="0" tIns="0" rIns="0" bIns="0" rtlCol="0" anchor="t"/>
          <a:lstStyle/>
          <a:p>
            <a:pPr algn="ctr" indent="0" marL="0">
              <a:buNone/>
            </a:pPr>
            <a:r>
              <a:rPr lang="en-US" sz="1300" dirty="0">
                <a:solidFill>
                  <a:schemeClr val="tx1"/>
                </a:solidFill>
              </a:rPr>
              <a:t>requêtes typées sur </a:t>
            </a:r>
            <a:r>
              <a:rPr lang="en-US" sz="1300" dirty="0">
                <a:solidFill>
                  <a:schemeClr val="tx1"/>
                </a:solidFill>
                <a:latin typeface="Courier New" pitchFamily="34" charset="0"/>
                <a:ea typeface="Courier New" pitchFamily="34" charset="-122"/>
                <a:cs typeface="Courier New" pitchFamily="34" charset="-120"/>
              </a:rPr>
              <a:t>DbSet&lt;T&gt;</a:t>
            </a:r>
            <a:endParaRPr lang="en-US" sz="1300" dirty="0"/>
          </a:p>
        </p:txBody>
      </p:sp>
      <p:pic>
        <p:nvPicPr>
          <p:cNvPr id="18" name="Flèche 3" descr="puis">    </p:cNvPr>
          <p:cNvPicPr>
            <a:picLocks noChangeAspect="1"/>
          </p:cNvPicPr>
          <p:nvPr/>
        </p:nvPicPr>
        <p:blipFill>
          <a:blip r:embed="rId6"/>
          <a:stretch>
            <a:fillRect/>
          </a:stretch>
        </p:blipFill>
        <p:spPr>
          <a:xfrm>
            <a:off x="7068312" y="1988409"/>
            <a:ext cx="292608" cy="292608"/>
          </a:xfrm>
          <a:prstGeom prst="rect">
            <a:avLst/>
          </a:prstGeom>
        </p:spPr>
      </p:pic>
      <p:sp>
        <p:nvSpPr>
          <p:cNvPr id="19" name="Étape Fournisseur"/>
          <p:cNvSpPr/>
          <p:nvPr/>
        </p:nvSpPr>
        <p:spPr>
          <a:xfrm>
            <a:off x="7708392" y="1600200"/>
            <a:ext cx="1234440" cy="1069056"/>
          </a:xfrm>
          <a:custGeom>
            <a:avLst/>
            <a:gdLst/>
            <a:ahLst/>
            <a:cxnLst/>
            <a:rect l="l" t="t" r="r" b="b"/>
            <a:pathLst>
              <a:path w="1234440" h="1069056">
                <a:moveTo>
                  <a:pt x="0" y="534528"/>
                </a:moveTo>
                <a:lnTo>
                  <a:pt x="308610" y="0"/>
                </a:lnTo>
                <a:lnTo>
                  <a:pt x="925830" y="0"/>
                </a:lnTo>
                <a:lnTo>
                  <a:pt x="1234440" y="534528"/>
                </a:lnTo>
                <a:lnTo>
                  <a:pt x="925830" y="1069056"/>
                </a:lnTo>
                <a:lnTo>
                  <a:pt x="308610" y="1069056"/>
                </a:lnTo>
                <a:close/>
              </a:path>
            </a:pathLst>
          </a:custGeom>
          <a:solidFill>
            <a:srgbClr val="000057"/>
          </a:solidFill>
          <a:ln w="12700">
            <a:solidFill>
              <a:srgbClr val="000057">
                <a:alpha val="0"/>
              </a:srgbClr>
            </a:solidFill>
            <a:prstDash val="solid"/>
          </a:ln>
        </p:spPr>
      </p:sp>
      <p:pic>
        <p:nvPicPr>
          <p:cNvPr id="20" name="Icône Fournisseur" descr="Fournisseur">    </p:cNvPr>
          <p:cNvPicPr>
            <a:picLocks noChangeAspect="1"/>
          </p:cNvPicPr>
          <p:nvPr/>
        </p:nvPicPr>
        <p:blipFill>
          <a:blip r:embed="rId7"/>
          <a:stretch>
            <a:fillRect/>
          </a:stretch>
        </p:blipFill>
        <p:spPr>
          <a:xfrm>
            <a:off x="8054035" y="1863136"/>
            <a:ext cx="543154" cy="543154"/>
          </a:xfrm>
          <a:prstGeom prst="rect">
            <a:avLst/>
          </a:prstGeom>
        </p:spPr>
      </p:pic>
      <p:sp>
        <p:nvSpPr>
          <p:cNvPr id="21" name="Titre Fournisseur"/>
          <p:cNvSpPr txBox="1"/>
          <p:nvPr/>
        </p:nvSpPr>
        <p:spPr>
          <a:xfrm>
            <a:off x="7260336" y="2852105"/>
            <a:ext cx="2130552" cy="411480"/>
          </a:xfrm>
          <a:prstGeom prst="rect">
            <a:avLst/>
          </a:prstGeom>
          <a:noFill/>
          <a:ln/>
        </p:spPr>
        <p:txBody>
          <a:bodyPr wrap="square" lIns="0" tIns="0" rIns="0" bIns="0" rtlCol="0" anchor="t"/>
          <a:lstStyle/>
          <a:p>
            <a:pPr algn="ctr" indent="0" marL="0">
              <a:buNone/>
            </a:pPr>
            <a:r>
              <a:rPr lang="en-US" sz="1600" b="1" dirty="0">
                <a:solidFill>
                  <a:schemeClr val="tx2"/>
                </a:solidFill>
              </a:rPr>
              <a:t>Fournisseur</a:t>
            </a:r>
            <a:endParaRPr lang="en-US" sz="1600" dirty="0"/>
          </a:p>
        </p:txBody>
      </p:sp>
      <p:sp>
        <p:nvSpPr>
          <p:cNvPr id="22" name="Détail Fournisseur"/>
          <p:cNvSpPr txBox="1"/>
          <p:nvPr/>
        </p:nvSpPr>
        <p:spPr>
          <a:xfrm>
            <a:off x="7306056" y="3263585"/>
            <a:ext cx="2039112" cy="1188720"/>
          </a:xfrm>
          <a:prstGeom prst="rect">
            <a:avLst/>
          </a:prstGeom>
          <a:noFill/>
          <a:ln/>
        </p:spPr>
        <p:txBody>
          <a:bodyPr wrap="square" lIns="0" tIns="0" rIns="0" bIns="0" rtlCol="0" anchor="t"/>
          <a:lstStyle/>
          <a:p>
            <a:pPr algn="ctr" indent="0" marL="0">
              <a:buNone/>
            </a:pPr>
            <a:r>
              <a:rPr lang="en-US" sz="1300" dirty="0">
                <a:solidFill>
                  <a:schemeClr val="tx1"/>
                </a:solidFill>
              </a:rPr>
              <a:t>traduit en SQL Server (ou PostgreSQL, SQLite…)</a:t>
            </a:r>
            <a:endParaRPr lang="en-US" sz="1300" dirty="0"/>
          </a:p>
        </p:txBody>
      </p:sp>
      <p:pic>
        <p:nvPicPr>
          <p:cNvPr id="23" name="Flèche 4" descr="puis">    </p:cNvPr>
          <p:cNvPicPr>
            <a:picLocks noChangeAspect="1"/>
          </p:cNvPicPr>
          <p:nvPr/>
        </p:nvPicPr>
        <p:blipFill>
          <a:blip r:embed="rId8"/>
          <a:stretch>
            <a:fillRect/>
          </a:stretch>
        </p:blipFill>
        <p:spPr>
          <a:xfrm>
            <a:off x="9290304" y="1988409"/>
            <a:ext cx="292608" cy="292608"/>
          </a:xfrm>
          <a:prstGeom prst="rect">
            <a:avLst/>
          </a:prstGeom>
        </p:spPr>
      </p:pic>
      <p:sp>
        <p:nvSpPr>
          <p:cNvPr id="24" name="Étape SQL Server"/>
          <p:cNvSpPr/>
          <p:nvPr/>
        </p:nvSpPr>
        <p:spPr>
          <a:xfrm>
            <a:off x="9930384" y="1600200"/>
            <a:ext cx="1234440" cy="1069056"/>
          </a:xfrm>
          <a:custGeom>
            <a:avLst/>
            <a:gdLst/>
            <a:ahLst/>
            <a:cxnLst/>
            <a:rect l="l" t="t" r="r" b="b"/>
            <a:pathLst>
              <a:path w="1234440" h="1069056">
                <a:moveTo>
                  <a:pt x="0" y="534528"/>
                </a:moveTo>
                <a:lnTo>
                  <a:pt x="308610" y="0"/>
                </a:lnTo>
                <a:lnTo>
                  <a:pt x="925830" y="0"/>
                </a:lnTo>
                <a:lnTo>
                  <a:pt x="1234440" y="534528"/>
                </a:lnTo>
                <a:lnTo>
                  <a:pt x="925830" y="1069056"/>
                </a:lnTo>
                <a:lnTo>
                  <a:pt x="308610" y="1069056"/>
                </a:lnTo>
                <a:close/>
              </a:path>
            </a:pathLst>
          </a:custGeom>
          <a:solidFill>
            <a:srgbClr val="000057"/>
          </a:solidFill>
          <a:ln w="12700">
            <a:solidFill>
              <a:srgbClr val="000057">
                <a:alpha val="0"/>
              </a:srgbClr>
            </a:solidFill>
            <a:prstDash val="solid"/>
          </a:ln>
        </p:spPr>
      </p:sp>
      <p:pic>
        <p:nvPicPr>
          <p:cNvPr id="25" name="Icône SQL Server" descr="SQL Server">    </p:cNvPr>
          <p:cNvPicPr>
            <a:picLocks noChangeAspect="1"/>
          </p:cNvPicPr>
          <p:nvPr/>
        </p:nvPicPr>
        <p:blipFill>
          <a:blip r:embed="rId9"/>
          <a:stretch>
            <a:fillRect/>
          </a:stretch>
        </p:blipFill>
        <p:spPr>
          <a:xfrm>
            <a:off x="10276027" y="1863136"/>
            <a:ext cx="543154" cy="543154"/>
          </a:xfrm>
          <a:prstGeom prst="rect">
            <a:avLst/>
          </a:prstGeom>
        </p:spPr>
      </p:pic>
      <p:sp>
        <p:nvSpPr>
          <p:cNvPr id="26" name="Titre SQL Server"/>
          <p:cNvSpPr txBox="1"/>
          <p:nvPr/>
        </p:nvSpPr>
        <p:spPr>
          <a:xfrm>
            <a:off x="9482328" y="2852105"/>
            <a:ext cx="2130552" cy="411480"/>
          </a:xfrm>
          <a:prstGeom prst="rect">
            <a:avLst/>
          </a:prstGeom>
          <a:noFill/>
          <a:ln/>
        </p:spPr>
        <p:txBody>
          <a:bodyPr wrap="square" lIns="0" tIns="0" rIns="0" bIns="0" rtlCol="0" anchor="t"/>
          <a:lstStyle/>
          <a:p>
            <a:pPr algn="ctr" indent="0" marL="0">
              <a:buNone/>
            </a:pPr>
            <a:r>
              <a:rPr lang="en-US" sz="1600" b="1" dirty="0">
                <a:solidFill>
                  <a:schemeClr val="tx2"/>
                </a:solidFill>
              </a:rPr>
              <a:t>SQL Server</a:t>
            </a:r>
            <a:endParaRPr lang="en-US" sz="1600" dirty="0"/>
          </a:p>
        </p:txBody>
      </p:sp>
      <p:sp>
        <p:nvSpPr>
          <p:cNvPr id="27" name="Détail SQL Server"/>
          <p:cNvSpPr txBox="1"/>
          <p:nvPr/>
        </p:nvSpPr>
        <p:spPr>
          <a:xfrm>
            <a:off x="9528048" y="3263585"/>
            <a:ext cx="2039112" cy="1188720"/>
          </a:xfrm>
          <a:prstGeom prst="rect">
            <a:avLst/>
          </a:prstGeom>
          <a:noFill/>
          <a:ln/>
        </p:spPr>
        <p:txBody>
          <a:bodyPr wrap="square" lIns="0" tIns="0" rIns="0" bIns="0" rtlCol="0" anchor="t"/>
          <a:lstStyle/>
          <a:p>
            <a:pPr algn="ctr" indent="0" marL="0">
              <a:buNone/>
            </a:pPr>
            <a:r>
              <a:rPr lang="en-US" sz="1300" dirty="0">
                <a:solidFill>
                  <a:schemeClr val="tx1"/>
                </a:solidFill>
              </a:rPr>
              <a:t>tables créées par les migrations</a:t>
            </a:r>
            <a:endParaRPr lang="en-US" sz="1300" dirty="0"/>
          </a:p>
        </p:txBody>
      </p:sp>
      <p:sp>
        <p:nvSpPr>
          <p:cNvPr id="28" name="À retenir"/>
          <p:cNvSpPr/>
          <p:nvPr/>
        </p:nvSpPr>
        <p:spPr>
          <a:xfrm>
            <a:off x="548640" y="5440680"/>
            <a:ext cx="11109960" cy="685800"/>
          </a:xfrm>
          <a:prstGeom prst="roundRect">
            <a:avLst>
              <a:gd name="adj" fmla="val 13333"/>
            </a:avLst>
          </a:prstGeom>
          <a:solidFill>
            <a:schemeClr val="bg2"/>
          </a:solidFill>
          <a:ln w="12700">
            <a:solidFill>
              <a:srgbClr val="E1EAF1"/>
            </a:solidFill>
            <a:prstDash val="solid"/>
          </a:ln>
        </p:spPr>
      </p:sp>
      <p:pic>
        <p:nvPicPr>
          <p:cNvPr id="29" name="Icône à retenir" descr="À retenir">    </p:cNvPr>
          <p:cNvPicPr>
            <a:picLocks noChangeAspect="1"/>
          </p:cNvPicPr>
          <p:nvPr/>
        </p:nvPicPr>
        <p:blipFill>
          <a:blip r:embed="rId10"/>
          <a:stretch>
            <a:fillRect/>
          </a:stretch>
        </p:blipFill>
        <p:spPr>
          <a:xfrm>
            <a:off x="777240" y="5614416"/>
            <a:ext cx="338328" cy="338328"/>
          </a:xfrm>
          <a:prstGeom prst="rect">
            <a:avLst/>
          </a:prstGeom>
        </p:spPr>
      </p:pic>
      <p:sp>
        <p:nvSpPr>
          <p:cNvPr id="30" name="Texte à retenir"/>
          <p:cNvSpPr txBox="1"/>
          <p:nvPr/>
        </p:nvSpPr>
        <p:spPr>
          <a:xfrm>
            <a:off x="1325880" y="5440680"/>
            <a:ext cx="10149840" cy="685800"/>
          </a:xfrm>
          <a:prstGeom prst="rect">
            <a:avLst/>
          </a:prstGeom>
          <a:noFill/>
          <a:ln/>
        </p:spPr>
        <p:txBody>
          <a:bodyPr wrap="square" lIns="0" tIns="0" rIns="0" bIns="0" rtlCol="0" anchor="ctr"/>
          <a:lstStyle/>
          <a:p>
            <a:pPr indent="0" marL="0">
              <a:buNone/>
            </a:pPr>
            <a:r>
              <a:rPr lang="en-US" sz="1500" dirty="0">
                <a:solidFill>
                  <a:schemeClr val="tx2"/>
                </a:solidFill>
              </a:rPr>
              <a:t>≈ JPA/Hibernate, SQLAlchemy ou Prisma. Le </a:t>
            </a:r>
            <a:r>
              <a:rPr lang="en-US" sz="1500" dirty="0">
                <a:solidFill>
                  <a:schemeClr val="tx2"/>
                </a:solidFill>
                <a:latin typeface="Courier New" pitchFamily="34" charset="0"/>
                <a:ea typeface="Courier New" pitchFamily="34" charset="-122"/>
                <a:cs typeface="Courier New" pitchFamily="34" charset="-120"/>
              </a:rPr>
              <a:t>DbContext</a:t>
            </a:r>
            <a:r>
              <a:rPr lang="en-US" sz="1500" dirty="0">
                <a:solidFill>
                  <a:schemeClr val="tx2"/>
                </a:solidFill>
              </a:rPr>
              <a:t> est scoped : un par requête HTTP.</a:t>
            </a:r>
            <a:endParaRPr lang="en-US" sz="15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Partie"/>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EF CORE</a:t>
            </a:r>
            <a:endParaRPr lang="en-US" sz="11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Le modèle : conventions et configuration</a:t>
            </a:r>
            <a:endParaRPr lang="en-US" sz="2800" dirty="0"/>
          </a:p>
        </p:txBody>
      </p:sp>
      <p:sp>
        <p:nvSpPr>
          <p:cNvPr id="4" name="Points"/>
          <p:cNvSpPr txBox="1"/>
          <p:nvPr/>
        </p:nvSpPr>
        <p:spPr>
          <a:xfrm>
            <a:off x="548640" y="1463040"/>
            <a:ext cx="3840480" cy="45720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Par convention : </a:t>
            </a:r>
            <a:r>
              <a:rPr lang="en-US" sz="1500" dirty="0">
                <a:solidFill>
                  <a:schemeClr val="tx1"/>
                </a:solidFill>
                <a:latin typeface="Courier New" pitchFamily="34" charset="0"/>
                <a:ea typeface="Courier New" pitchFamily="34" charset="-122"/>
                <a:cs typeface="Courier New" pitchFamily="34" charset="-120"/>
              </a:rPr>
              <a:t>Id</a:t>
            </a:r>
            <a:r>
              <a:rPr lang="en-US" sz="1500" dirty="0">
                <a:solidFill>
                  <a:schemeClr val="tx1"/>
                </a:solidFill>
              </a:rPr>
              <a:t> est la clé, </a:t>
            </a:r>
            <a:r>
              <a:rPr lang="en-US" sz="1500" dirty="0">
                <a:solidFill>
                  <a:schemeClr val="tx1"/>
                </a:solidFill>
                <a:latin typeface="Courier New" pitchFamily="34" charset="0"/>
                <a:ea typeface="Courier New" pitchFamily="34" charset="-122"/>
                <a:cs typeface="Courier New" pitchFamily="34" charset="-120"/>
              </a:rPr>
              <a:t>TicketId</a:t>
            </a:r>
            <a:r>
              <a:rPr lang="en-US" sz="1500" dirty="0">
                <a:solidFill>
                  <a:schemeClr val="tx1"/>
                </a:solidFill>
              </a:rPr>
              <a:t> une clé étrangère, une </a:t>
            </a:r>
            <a:r>
              <a:rPr lang="en-US" sz="1500" dirty="0">
                <a:solidFill>
                  <a:schemeClr val="tx1"/>
                </a:solidFill>
                <a:latin typeface="Courier New" pitchFamily="34" charset="0"/>
                <a:ea typeface="Courier New" pitchFamily="34" charset="-122"/>
                <a:cs typeface="Courier New" pitchFamily="34" charset="-120"/>
              </a:rPr>
              <a:t>List&lt;Comment&gt;</a:t>
            </a:r>
            <a:r>
              <a:rPr lang="en-US" sz="1500" dirty="0">
                <a:solidFill>
                  <a:schemeClr val="tx1"/>
                </a:solidFill>
              </a:rPr>
              <a:t> une relation un-à-plusieurs.</a:t>
            </a:r>
            <a:endParaRPr lang="en-US" sz="1500" dirty="0"/>
          </a:p>
          <a:p>
            <a:pPr marL="342900" indent="-342900">
              <a:spcAft>
                <a:spcPts val="900"/>
              </a:spcAft>
              <a:buSzPct val="100000"/>
              <a:buChar char="•"/>
            </a:pPr>
            <a:r>
              <a:rPr lang="en-US" sz="1500" dirty="0">
                <a:solidFill>
                  <a:schemeClr val="tx1"/>
                </a:solidFill>
                <a:latin typeface="Courier New" pitchFamily="34" charset="0"/>
                <a:ea typeface="Courier New" pitchFamily="34" charset="-122"/>
                <a:cs typeface="Courier New" pitchFamily="34" charset="-120"/>
              </a:rPr>
              <a:t>OnModelCreating</a:t>
            </a:r>
            <a:r>
              <a:rPr lang="en-US" sz="1500" dirty="0">
                <a:solidFill>
                  <a:schemeClr val="tx1"/>
                </a:solidFill>
              </a:rPr>
              <a:t> précise le reste : longueurs, index, suppressions en cascade.</a:t>
            </a:r>
            <a:endParaRPr lang="en-US" sz="1500" dirty="0"/>
          </a:p>
          <a:p>
            <a:pPr marL="342900" indent="-342900">
              <a:spcAft>
                <a:spcPts val="900"/>
              </a:spcAft>
              <a:buSzPct val="100000"/>
              <a:buChar char="•"/>
            </a:pPr>
            <a:r>
              <a:rPr lang="en-US" sz="1500" dirty="0">
                <a:solidFill>
                  <a:schemeClr val="tx1"/>
                </a:solidFill>
              </a:rPr>
              <a:t>Pas d'attribut sur les entités : elles restent du C# simple.</a:t>
            </a:r>
            <a:endParaRPr lang="en-US" sz="1500" dirty="0"/>
          </a:p>
        </p:txBody>
      </p:sp>
      <p:sp>
        <p:nvSpPr>
          <p:cNvPr id="5" name="Code C#"/>
          <p:cNvSpPr/>
          <p:nvPr/>
        </p:nvSpPr>
        <p:spPr>
          <a:xfrm>
            <a:off x="4663440" y="1417320"/>
            <a:ext cx="6995160" cy="3608070"/>
          </a:xfrm>
          <a:prstGeom prst="roundRect">
            <a:avLst>
              <a:gd name="adj" fmla="val 2534"/>
            </a:avLst>
          </a:prstGeom>
          <a:solidFill>
            <a:schemeClr val="tx2"/>
          </a:solidFill>
          <a:ln w="12700">
            <a:solidFill>
              <a:srgbClr val="000057"/>
            </a:solidFill>
            <a:prstDash val="solid"/>
          </a:ln>
        </p:spPr>
      </p:sp>
      <p:sp>
        <p:nvSpPr>
          <p:cNvPr id="6" name="Langage C#"/>
          <p:cNvSpPr txBox="1"/>
          <p:nvPr/>
        </p:nvSpPr>
        <p:spPr>
          <a:xfrm>
            <a:off x="4892040" y="1536192"/>
            <a:ext cx="6537960" cy="256032"/>
          </a:xfrm>
          <a:prstGeom prst="rect">
            <a:avLst/>
          </a:prstGeom>
          <a:noFill/>
          <a:ln/>
        </p:spPr>
        <p:txBody>
          <a:bodyPr wrap="square" lIns="0" tIns="0" rIns="0" bIns="0" rtlCol="0" anchor="t"/>
          <a:lstStyle/>
          <a:p>
            <a:pPr indent="0" marL="0">
              <a:buNone/>
            </a:pPr>
            <a:r>
              <a:rPr lang="en-US" sz="1100" b="1" dirty="0">
                <a:solidFill>
                  <a:schemeClr val="accent2"/>
                </a:solidFill>
              </a:rPr>
              <a:t>C#</a:t>
            </a:r>
            <a:endParaRPr lang="en-US" sz="1100" dirty="0"/>
          </a:p>
        </p:txBody>
      </p:sp>
      <p:sp>
        <p:nvSpPr>
          <p:cNvPr id="7" name="Contenu C#"/>
          <p:cNvSpPr txBox="1"/>
          <p:nvPr/>
        </p:nvSpPr>
        <p:spPr>
          <a:xfrm>
            <a:off x="4892040" y="1856232"/>
            <a:ext cx="6629400" cy="3059430"/>
          </a:xfrm>
          <a:prstGeom prst="rect">
            <a:avLst/>
          </a:prstGeom>
          <a:noFill/>
          <a:ln/>
        </p:spPr>
        <p:txBody>
          <a:bodyPr wrap="square" lIns="0" tIns="0" rIns="0" bIns="0" rtlCol="0" anchor="t"/>
          <a:lstStyle/>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public sealed class Ticket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public int Id { get; set; }</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public string Title { get; set; } = "";</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public List&lt;Comment&gt; Comments { get; set; } = [];</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protected override void OnModelCreating(ModelBuilder b) =&gt;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b.Entity&lt;Ticket&gt;(ticket =&gt;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ticket.Property(t =&gt; t.Title).HasMaxLength(200);</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ticket.HasMany(t =&gt; t.Comments)</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.WithOne(c =&gt; c.Ticket)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.OnDelete(DeleteBehavior.Cascade);</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Partie"/>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EF CORE</a:t>
            </a:r>
            <a:endParaRPr lang="en-US" sz="11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Les migrations versionnent le schéma</a:t>
            </a:r>
            <a:endParaRPr lang="en-US" sz="2800" dirty="0"/>
          </a:p>
        </p:txBody>
      </p:sp>
      <p:sp>
        <p:nvSpPr>
          <p:cNvPr id="4" name="Étape Modifier le modèle"/>
          <p:cNvSpPr/>
          <p:nvPr/>
        </p:nvSpPr>
        <p:spPr>
          <a:xfrm>
            <a:off x="1042416" y="1600200"/>
            <a:ext cx="1234440" cy="1069056"/>
          </a:xfrm>
          <a:custGeom>
            <a:avLst/>
            <a:gdLst/>
            <a:ahLst/>
            <a:cxnLst/>
            <a:rect l="l" t="t" r="r" b="b"/>
            <a:pathLst>
              <a:path w="1234440" h="1069056">
                <a:moveTo>
                  <a:pt x="0" y="534528"/>
                </a:moveTo>
                <a:lnTo>
                  <a:pt x="308610" y="0"/>
                </a:lnTo>
                <a:lnTo>
                  <a:pt x="925830" y="0"/>
                </a:lnTo>
                <a:lnTo>
                  <a:pt x="1234440" y="534528"/>
                </a:lnTo>
                <a:lnTo>
                  <a:pt x="925830" y="1069056"/>
                </a:lnTo>
                <a:lnTo>
                  <a:pt x="308610" y="1069056"/>
                </a:lnTo>
                <a:close/>
              </a:path>
            </a:pathLst>
          </a:custGeom>
          <a:solidFill>
            <a:srgbClr val="000057"/>
          </a:solidFill>
          <a:ln w="12700">
            <a:solidFill>
              <a:srgbClr val="000057">
                <a:alpha val="0"/>
              </a:srgbClr>
            </a:solidFill>
            <a:prstDash val="solid"/>
          </a:ln>
        </p:spPr>
      </p:sp>
      <p:pic>
        <p:nvPicPr>
          <p:cNvPr id="5" name="Icône Modifier le modèle" descr="Modifier le modèle">    </p:cNvPr>
          <p:cNvPicPr>
            <a:picLocks noChangeAspect="1"/>
          </p:cNvPicPr>
          <p:nvPr/>
        </p:nvPicPr>
        <p:blipFill>
          <a:blip r:embed="rId1"/>
          <a:stretch>
            <a:fillRect/>
          </a:stretch>
        </p:blipFill>
        <p:spPr>
          <a:xfrm>
            <a:off x="1388059" y="1863136"/>
            <a:ext cx="543154" cy="543154"/>
          </a:xfrm>
          <a:prstGeom prst="rect">
            <a:avLst/>
          </a:prstGeom>
        </p:spPr>
      </p:pic>
      <p:sp>
        <p:nvSpPr>
          <p:cNvPr id="6" name="Titre Modifier le modèle"/>
          <p:cNvSpPr txBox="1"/>
          <p:nvPr/>
        </p:nvSpPr>
        <p:spPr>
          <a:xfrm>
            <a:off x="594360" y="2852105"/>
            <a:ext cx="2130552" cy="411480"/>
          </a:xfrm>
          <a:prstGeom prst="rect">
            <a:avLst/>
          </a:prstGeom>
          <a:noFill/>
          <a:ln/>
        </p:spPr>
        <p:txBody>
          <a:bodyPr wrap="square" lIns="0" tIns="0" rIns="0" bIns="0" rtlCol="0" anchor="t"/>
          <a:lstStyle/>
          <a:p>
            <a:pPr algn="ctr" indent="0" marL="0">
              <a:buNone/>
            </a:pPr>
            <a:r>
              <a:rPr lang="en-US" sz="1600" b="1" dirty="0">
                <a:solidFill>
                  <a:schemeClr val="tx2"/>
                </a:solidFill>
              </a:rPr>
              <a:t>Modifier le modèle</a:t>
            </a:r>
            <a:endParaRPr lang="en-US" sz="1600" dirty="0"/>
          </a:p>
        </p:txBody>
      </p:sp>
      <p:sp>
        <p:nvSpPr>
          <p:cNvPr id="7" name="Détail Modifier le modèle"/>
          <p:cNvSpPr txBox="1"/>
          <p:nvPr/>
        </p:nvSpPr>
        <p:spPr>
          <a:xfrm>
            <a:off x="640080" y="3263585"/>
            <a:ext cx="2039112" cy="1188720"/>
          </a:xfrm>
          <a:prstGeom prst="rect">
            <a:avLst/>
          </a:prstGeom>
          <a:noFill/>
          <a:ln/>
        </p:spPr>
        <p:txBody>
          <a:bodyPr wrap="square" lIns="0" tIns="0" rIns="0" bIns="0" rtlCol="0" anchor="t"/>
          <a:lstStyle/>
          <a:p>
            <a:pPr algn="ctr" indent="0" marL="0">
              <a:buNone/>
            </a:pPr>
            <a:r>
              <a:rPr lang="en-US" sz="1300" dirty="0">
                <a:solidFill>
                  <a:schemeClr val="tx1"/>
                </a:solidFill>
              </a:rPr>
              <a:t>ajouter </a:t>
            </a:r>
            <a:r>
              <a:rPr lang="en-US" sz="1300" dirty="0">
                <a:solidFill>
                  <a:schemeClr val="tx1"/>
                </a:solidFill>
                <a:latin typeface="Courier New" pitchFamily="34" charset="0"/>
                <a:ea typeface="Courier New" pitchFamily="34" charset="-122"/>
                <a:cs typeface="Courier New" pitchFamily="34" charset="-120"/>
              </a:rPr>
              <a:t>ClosedAt</a:t>
            </a:r>
            <a:r>
              <a:rPr lang="en-US" sz="1300" dirty="0">
                <a:solidFill>
                  <a:schemeClr val="tx1"/>
                </a:solidFill>
              </a:rPr>
              <a:t> à </a:t>
            </a:r>
            <a:r>
              <a:rPr lang="en-US" sz="1300" dirty="0">
                <a:solidFill>
                  <a:schemeClr val="tx1"/>
                </a:solidFill>
                <a:latin typeface="Courier New" pitchFamily="34" charset="0"/>
                <a:ea typeface="Courier New" pitchFamily="34" charset="-122"/>
                <a:cs typeface="Courier New" pitchFamily="34" charset="-120"/>
              </a:rPr>
              <a:t>Ticket</a:t>
            </a:r>
            <a:endParaRPr lang="en-US" sz="1300" dirty="0"/>
          </a:p>
        </p:txBody>
      </p:sp>
      <p:pic>
        <p:nvPicPr>
          <p:cNvPr id="8" name="Flèche 1" descr="puis">    </p:cNvPr>
          <p:cNvPicPr>
            <a:picLocks noChangeAspect="1"/>
          </p:cNvPicPr>
          <p:nvPr/>
        </p:nvPicPr>
        <p:blipFill>
          <a:blip r:embed="rId2"/>
          <a:stretch>
            <a:fillRect/>
          </a:stretch>
        </p:blipFill>
        <p:spPr>
          <a:xfrm>
            <a:off x="2624328" y="1988409"/>
            <a:ext cx="292608" cy="292608"/>
          </a:xfrm>
          <a:prstGeom prst="rect">
            <a:avLst/>
          </a:prstGeom>
        </p:spPr>
      </p:pic>
      <p:sp>
        <p:nvSpPr>
          <p:cNvPr id="9" name="Étape Créer la migration"/>
          <p:cNvSpPr/>
          <p:nvPr/>
        </p:nvSpPr>
        <p:spPr>
          <a:xfrm>
            <a:off x="3264408" y="1600200"/>
            <a:ext cx="1234440" cy="1069056"/>
          </a:xfrm>
          <a:custGeom>
            <a:avLst/>
            <a:gdLst/>
            <a:ahLst/>
            <a:cxnLst/>
            <a:rect l="l" t="t" r="r" b="b"/>
            <a:pathLst>
              <a:path w="1234440" h="1069056">
                <a:moveTo>
                  <a:pt x="0" y="534528"/>
                </a:moveTo>
                <a:lnTo>
                  <a:pt x="308610" y="0"/>
                </a:lnTo>
                <a:lnTo>
                  <a:pt x="925830" y="0"/>
                </a:lnTo>
                <a:lnTo>
                  <a:pt x="1234440" y="534528"/>
                </a:lnTo>
                <a:lnTo>
                  <a:pt x="925830" y="1069056"/>
                </a:lnTo>
                <a:lnTo>
                  <a:pt x="308610" y="1069056"/>
                </a:lnTo>
                <a:close/>
              </a:path>
            </a:pathLst>
          </a:custGeom>
          <a:solidFill>
            <a:srgbClr val="000057"/>
          </a:solidFill>
          <a:ln w="12700">
            <a:solidFill>
              <a:srgbClr val="000057">
                <a:alpha val="0"/>
              </a:srgbClr>
            </a:solidFill>
            <a:prstDash val="solid"/>
          </a:ln>
        </p:spPr>
      </p:sp>
      <p:pic>
        <p:nvPicPr>
          <p:cNvPr id="10" name="Icône Créer la migration" descr="Créer la migration">    </p:cNvPr>
          <p:cNvPicPr>
            <a:picLocks noChangeAspect="1"/>
          </p:cNvPicPr>
          <p:nvPr/>
        </p:nvPicPr>
        <p:blipFill>
          <a:blip r:embed="rId3"/>
          <a:stretch>
            <a:fillRect/>
          </a:stretch>
        </p:blipFill>
        <p:spPr>
          <a:xfrm>
            <a:off x="3610051" y="1863136"/>
            <a:ext cx="543154" cy="543154"/>
          </a:xfrm>
          <a:prstGeom prst="rect">
            <a:avLst/>
          </a:prstGeom>
        </p:spPr>
      </p:pic>
      <p:sp>
        <p:nvSpPr>
          <p:cNvPr id="11" name="Titre Créer la migration"/>
          <p:cNvSpPr txBox="1"/>
          <p:nvPr/>
        </p:nvSpPr>
        <p:spPr>
          <a:xfrm>
            <a:off x="2816352" y="2852105"/>
            <a:ext cx="2130552" cy="411480"/>
          </a:xfrm>
          <a:prstGeom prst="rect">
            <a:avLst/>
          </a:prstGeom>
          <a:noFill/>
          <a:ln/>
        </p:spPr>
        <p:txBody>
          <a:bodyPr wrap="square" lIns="0" tIns="0" rIns="0" bIns="0" rtlCol="0" anchor="t"/>
          <a:lstStyle/>
          <a:p>
            <a:pPr algn="ctr" indent="0" marL="0">
              <a:buNone/>
            </a:pPr>
            <a:r>
              <a:rPr lang="en-US" sz="1600" b="1" dirty="0">
                <a:solidFill>
                  <a:schemeClr val="tx2"/>
                </a:solidFill>
              </a:rPr>
              <a:t>Créer la migration</a:t>
            </a:r>
            <a:endParaRPr lang="en-US" sz="1600" dirty="0"/>
          </a:p>
        </p:txBody>
      </p:sp>
      <p:sp>
        <p:nvSpPr>
          <p:cNvPr id="12" name="Détail Créer la migration"/>
          <p:cNvSpPr txBox="1"/>
          <p:nvPr/>
        </p:nvSpPr>
        <p:spPr>
          <a:xfrm>
            <a:off x="2862072" y="3263585"/>
            <a:ext cx="2039112" cy="1188720"/>
          </a:xfrm>
          <a:prstGeom prst="rect">
            <a:avLst/>
          </a:prstGeom>
          <a:noFill/>
          <a:ln/>
        </p:spPr>
        <p:txBody>
          <a:bodyPr wrap="square" lIns="0" tIns="0" rIns="0" bIns="0" rtlCol="0" anchor="t"/>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dotnet ef migrations add AddClosedAt</a:t>
            </a:r>
            <a:endParaRPr lang="en-US" sz="1300" dirty="0"/>
          </a:p>
        </p:txBody>
      </p:sp>
      <p:pic>
        <p:nvPicPr>
          <p:cNvPr id="13" name="Flèche 2" descr="puis">    </p:cNvPr>
          <p:cNvPicPr>
            <a:picLocks noChangeAspect="1"/>
          </p:cNvPicPr>
          <p:nvPr/>
        </p:nvPicPr>
        <p:blipFill>
          <a:blip r:embed="rId4"/>
          <a:stretch>
            <a:fillRect/>
          </a:stretch>
        </p:blipFill>
        <p:spPr>
          <a:xfrm>
            <a:off x="4846320" y="1988409"/>
            <a:ext cx="292608" cy="292608"/>
          </a:xfrm>
          <a:prstGeom prst="rect">
            <a:avLst/>
          </a:prstGeom>
        </p:spPr>
      </p:pic>
      <p:sp>
        <p:nvSpPr>
          <p:cNvPr id="14" name="Étape Relire"/>
          <p:cNvSpPr/>
          <p:nvPr/>
        </p:nvSpPr>
        <p:spPr>
          <a:xfrm>
            <a:off x="5486400" y="1600200"/>
            <a:ext cx="1234440" cy="1069056"/>
          </a:xfrm>
          <a:custGeom>
            <a:avLst/>
            <a:gdLst/>
            <a:ahLst/>
            <a:cxnLst/>
            <a:rect l="l" t="t" r="r" b="b"/>
            <a:pathLst>
              <a:path w="1234440" h="1069056">
                <a:moveTo>
                  <a:pt x="0" y="534528"/>
                </a:moveTo>
                <a:lnTo>
                  <a:pt x="308610" y="0"/>
                </a:lnTo>
                <a:lnTo>
                  <a:pt x="925830" y="0"/>
                </a:lnTo>
                <a:lnTo>
                  <a:pt x="1234440" y="534528"/>
                </a:lnTo>
                <a:lnTo>
                  <a:pt x="925830" y="1069056"/>
                </a:lnTo>
                <a:lnTo>
                  <a:pt x="308610" y="1069056"/>
                </a:lnTo>
                <a:close/>
              </a:path>
            </a:pathLst>
          </a:custGeom>
          <a:solidFill>
            <a:srgbClr val="FFFF00"/>
          </a:solidFill>
          <a:ln w="12700">
            <a:solidFill>
              <a:srgbClr val="FFFF00">
                <a:alpha val="0"/>
              </a:srgbClr>
            </a:solidFill>
            <a:prstDash val="solid"/>
          </a:ln>
        </p:spPr>
      </p:sp>
      <p:pic>
        <p:nvPicPr>
          <p:cNvPr id="15" name="Icône Relire" descr="Relire">    </p:cNvPr>
          <p:cNvPicPr>
            <a:picLocks noChangeAspect="1"/>
          </p:cNvPicPr>
          <p:nvPr/>
        </p:nvPicPr>
        <p:blipFill>
          <a:blip r:embed="rId5"/>
          <a:stretch>
            <a:fillRect/>
          </a:stretch>
        </p:blipFill>
        <p:spPr>
          <a:xfrm>
            <a:off x="5832043" y="1863136"/>
            <a:ext cx="543154" cy="543154"/>
          </a:xfrm>
          <a:prstGeom prst="rect">
            <a:avLst/>
          </a:prstGeom>
        </p:spPr>
      </p:pic>
      <p:sp>
        <p:nvSpPr>
          <p:cNvPr id="16" name="Titre Relire"/>
          <p:cNvSpPr txBox="1"/>
          <p:nvPr/>
        </p:nvSpPr>
        <p:spPr>
          <a:xfrm>
            <a:off x="5038344" y="2852105"/>
            <a:ext cx="2130552" cy="411480"/>
          </a:xfrm>
          <a:prstGeom prst="rect">
            <a:avLst/>
          </a:prstGeom>
          <a:noFill/>
          <a:ln/>
        </p:spPr>
        <p:txBody>
          <a:bodyPr wrap="square" lIns="0" tIns="0" rIns="0" bIns="0" rtlCol="0" anchor="t"/>
          <a:lstStyle/>
          <a:p>
            <a:pPr algn="ctr" indent="0" marL="0">
              <a:buNone/>
            </a:pPr>
            <a:r>
              <a:rPr lang="en-US" sz="1600" b="1" dirty="0">
                <a:solidFill>
                  <a:schemeClr val="tx2"/>
                </a:solidFill>
              </a:rPr>
              <a:t>Relire</a:t>
            </a:r>
            <a:endParaRPr lang="en-US" sz="1600" dirty="0"/>
          </a:p>
        </p:txBody>
      </p:sp>
      <p:sp>
        <p:nvSpPr>
          <p:cNvPr id="17" name="Détail Relire"/>
          <p:cNvSpPr txBox="1"/>
          <p:nvPr/>
        </p:nvSpPr>
        <p:spPr>
          <a:xfrm>
            <a:off x="5084064" y="3263585"/>
            <a:ext cx="2039112" cy="1188720"/>
          </a:xfrm>
          <a:prstGeom prst="rect">
            <a:avLst/>
          </a:prstGeom>
          <a:noFill/>
          <a:ln/>
        </p:spPr>
        <p:txBody>
          <a:bodyPr wrap="square" lIns="0" tIns="0" rIns="0" bIns="0" rtlCol="0" anchor="t"/>
          <a:lstStyle/>
          <a:p>
            <a:pPr algn="ctr" indent="0" marL="0">
              <a:buNone/>
            </a:pPr>
            <a:r>
              <a:rPr lang="en-US" sz="1300" dirty="0">
                <a:solidFill>
                  <a:schemeClr val="tx1"/>
                </a:solidFill>
              </a:rPr>
              <a:t>le code C# généré, versionné avec le reste</a:t>
            </a:r>
            <a:endParaRPr lang="en-US" sz="1300" dirty="0"/>
          </a:p>
        </p:txBody>
      </p:sp>
      <p:pic>
        <p:nvPicPr>
          <p:cNvPr id="18" name="Flèche 3" descr="puis">    </p:cNvPr>
          <p:cNvPicPr>
            <a:picLocks noChangeAspect="1"/>
          </p:cNvPicPr>
          <p:nvPr/>
        </p:nvPicPr>
        <p:blipFill>
          <a:blip r:embed="rId6"/>
          <a:stretch>
            <a:fillRect/>
          </a:stretch>
        </p:blipFill>
        <p:spPr>
          <a:xfrm>
            <a:off x="7068312" y="1988409"/>
            <a:ext cx="292608" cy="292608"/>
          </a:xfrm>
          <a:prstGeom prst="rect">
            <a:avLst/>
          </a:prstGeom>
        </p:spPr>
      </p:pic>
      <p:sp>
        <p:nvSpPr>
          <p:cNvPr id="19" name="Étape Appliquer"/>
          <p:cNvSpPr/>
          <p:nvPr/>
        </p:nvSpPr>
        <p:spPr>
          <a:xfrm>
            <a:off x="7708392" y="1600200"/>
            <a:ext cx="1234440" cy="1069056"/>
          </a:xfrm>
          <a:custGeom>
            <a:avLst/>
            <a:gdLst/>
            <a:ahLst/>
            <a:cxnLst/>
            <a:rect l="l" t="t" r="r" b="b"/>
            <a:pathLst>
              <a:path w="1234440" h="1069056">
                <a:moveTo>
                  <a:pt x="0" y="534528"/>
                </a:moveTo>
                <a:lnTo>
                  <a:pt x="308610" y="0"/>
                </a:lnTo>
                <a:lnTo>
                  <a:pt x="925830" y="0"/>
                </a:lnTo>
                <a:lnTo>
                  <a:pt x="1234440" y="534528"/>
                </a:lnTo>
                <a:lnTo>
                  <a:pt x="925830" y="1069056"/>
                </a:lnTo>
                <a:lnTo>
                  <a:pt x="308610" y="1069056"/>
                </a:lnTo>
                <a:close/>
              </a:path>
            </a:pathLst>
          </a:custGeom>
          <a:solidFill>
            <a:srgbClr val="000057"/>
          </a:solidFill>
          <a:ln w="12700">
            <a:solidFill>
              <a:srgbClr val="000057">
                <a:alpha val="0"/>
              </a:srgbClr>
            </a:solidFill>
            <a:prstDash val="solid"/>
          </a:ln>
        </p:spPr>
      </p:sp>
      <p:pic>
        <p:nvPicPr>
          <p:cNvPr id="20" name="Icône Appliquer" descr="Appliquer">    </p:cNvPr>
          <p:cNvPicPr>
            <a:picLocks noChangeAspect="1"/>
          </p:cNvPicPr>
          <p:nvPr/>
        </p:nvPicPr>
        <p:blipFill>
          <a:blip r:embed="rId7"/>
          <a:stretch>
            <a:fillRect/>
          </a:stretch>
        </p:blipFill>
        <p:spPr>
          <a:xfrm>
            <a:off x="8054035" y="1863136"/>
            <a:ext cx="543154" cy="543154"/>
          </a:xfrm>
          <a:prstGeom prst="rect">
            <a:avLst/>
          </a:prstGeom>
        </p:spPr>
      </p:pic>
      <p:sp>
        <p:nvSpPr>
          <p:cNvPr id="21" name="Titre Appliquer"/>
          <p:cNvSpPr txBox="1"/>
          <p:nvPr/>
        </p:nvSpPr>
        <p:spPr>
          <a:xfrm>
            <a:off x="7260336" y="2852105"/>
            <a:ext cx="2130552" cy="411480"/>
          </a:xfrm>
          <a:prstGeom prst="rect">
            <a:avLst/>
          </a:prstGeom>
          <a:noFill/>
          <a:ln/>
        </p:spPr>
        <p:txBody>
          <a:bodyPr wrap="square" lIns="0" tIns="0" rIns="0" bIns="0" rtlCol="0" anchor="t"/>
          <a:lstStyle/>
          <a:p>
            <a:pPr algn="ctr" indent="0" marL="0">
              <a:buNone/>
            </a:pPr>
            <a:r>
              <a:rPr lang="en-US" sz="1600" b="1" dirty="0">
                <a:solidFill>
                  <a:schemeClr val="tx2"/>
                </a:solidFill>
              </a:rPr>
              <a:t>Appliquer</a:t>
            </a:r>
            <a:endParaRPr lang="en-US" sz="1600" dirty="0"/>
          </a:p>
        </p:txBody>
      </p:sp>
      <p:sp>
        <p:nvSpPr>
          <p:cNvPr id="22" name="Détail Appliquer"/>
          <p:cNvSpPr txBox="1"/>
          <p:nvPr/>
        </p:nvSpPr>
        <p:spPr>
          <a:xfrm>
            <a:off x="7306056" y="3263585"/>
            <a:ext cx="2039112" cy="1188720"/>
          </a:xfrm>
          <a:prstGeom prst="rect">
            <a:avLst/>
          </a:prstGeom>
          <a:noFill/>
          <a:ln/>
        </p:spPr>
        <p:txBody>
          <a:bodyPr wrap="square" lIns="0" tIns="0" rIns="0" bIns="0" rtlCol="0" anchor="t"/>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dotnet ef database update</a:t>
            </a:r>
            <a:endParaRPr lang="en-US" sz="1300" dirty="0"/>
          </a:p>
        </p:txBody>
      </p:sp>
      <p:pic>
        <p:nvPicPr>
          <p:cNvPr id="23" name="Flèche 4" descr="puis">    </p:cNvPr>
          <p:cNvPicPr>
            <a:picLocks noChangeAspect="1"/>
          </p:cNvPicPr>
          <p:nvPr/>
        </p:nvPicPr>
        <p:blipFill>
          <a:blip r:embed="rId8"/>
          <a:stretch>
            <a:fillRect/>
          </a:stretch>
        </p:blipFill>
        <p:spPr>
          <a:xfrm>
            <a:off x="9290304" y="1988409"/>
            <a:ext cx="292608" cy="292608"/>
          </a:xfrm>
          <a:prstGeom prst="rect">
            <a:avLst/>
          </a:prstGeom>
        </p:spPr>
      </p:pic>
      <p:sp>
        <p:nvSpPr>
          <p:cNvPr id="24" name="Étape Historique"/>
          <p:cNvSpPr/>
          <p:nvPr/>
        </p:nvSpPr>
        <p:spPr>
          <a:xfrm>
            <a:off x="9930384" y="1600200"/>
            <a:ext cx="1234440" cy="1069056"/>
          </a:xfrm>
          <a:custGeom>
            <a:avLst/>
            <a:gdLst/>
            <a:ahLst/>
            <a:cxnLst/>
            <a:rect l="l" t="t" r="r" b="b"/>
            <a:pathLst>
              <a:path w="1234440" h="1069056">
                <a:moveTo>
                  <a:pt x="0" y="534528"/>
                </a:moveTo>
                <a:lnTo>
                  <a:pt x="308610" y="0"/>
                </a:lnTo>
                <a:lnTo>
                  <a:pt x="925830" y="0"/>
                </a:lnTo>
                <a:lnTo>
                  <a:pt x="1234440" y="534528"/>
                </a:lnTo>
                <a:lnTo>
                  <a:pt x="925830" y="1069056"/>
                </a:lnTo>
                <a:lnTo>
                  <a:pt x="308610" y="1069056"/>
                </a:lnTo>
                <a:close/>
              </a:path>
            </a:pathLst>
          </a:custGeom>
          <a:solidFill>
            <a:srgbClr val="000057"/>
          </a:solidFill>
          <a:ln w="12700">
            <a:solidFill>
              <a:srgbClr val="000057">
                <a:alpha val="0"/>
              </a:srgbClr>
            </a:solidFill>
            <a:prstDash val="solid"/>
          </a:ln>
        </p:spPr>
      </p:sp>
      <p:pic>
        <p:nvPicPr>
          <p:cNvPr id="25" name="Icône Historique" descr="Historique">    </p:cNvPr>
          <p:cNvPicPr>
            <a:picLocks noChangeAspect="1"/>
          </p:cNvPicPr>
          <p:nvPr/>
        </p:nvPicPr>
        <p:blipFill>
          <a:blip r:embed="rId9"/>
          <a:stretch>
            <a:fillRect/>
          </a:stretch>
        </p:blipFill>
        <p:spPr>
          <a:xfrm>
            <a:off x="10276027" y="1863136"/>
            <a:ext cx="543154" cy="543154"/>
          </a:xfrm>
          <a:prstGeom prst="rect">
            <a:avLst/>
          </a:prstGeom>
        </p:spPr>
      </p:pic>
      <p:sp>
        <p:nvSpPr>
          <p:cNvPr id="26" name="Titre Historique"/>
          <p:cNvSpPr txBox="1"/>
          <p:nvPr/>
        </p:nvSpPr>
        <p:spPr>
          <a:xfrm>
            <a:off x="9482328" y="2852105"/>
            <a:ext cx="2130552" cy="411480"/>
          </a:xfrm>
          <a:prstGeom prst="rect">
            <a:avLst/>
          </a:prstGeom>
          <a:noFill/>
          <a:ln/>
        </p:spPr>
        <p:txBody>
          <a:bodyPr wrap="square" lIns="0" tIns="0" rIns="0" bIns="0" rtlCol="0" anchor="t"/>
          <a:lstStyle/>
          <a:p>
            <a:pPr algn="ctr" indent="0" marL="0">
              <a:buNone/>
            </a:pPr>
            <a:r>
              <a:rPr lang="en-US" sz="1600" b="1" dirty="0">
                <a:solidFill>
                  <a:schemeClr val="tx2"/>
                </a:solidFill>
              </a:rPr>
              <a:t>Historique</a:t>
            </a:r>
            <a:endParaRPr lang="en-US" sz="1600" dirty="0"/>
          </a:p>
        </p:txBody>
      </p:sp>
      <p:sp>
        <p:nvSpPr>
          <p:cNvPr id="27" name="Détail Historique"/>
          <p:cNvSpPr txBox="1"/>
          <p:nvPr/>
        </p:nvSpPr>
        <p:spPr>
          <a:xfrm>
            <a:off x="9528048" y="3263585"/>
            <a:ext cx="2039112" cy="1188720"/>
          </a:xfrm>
          <a:prstGeom prst="rect">
            <a:avLst/>
          </a:prstGeom>
          <a:noFill/>
          <a:ln/>
        </p:spPr>
        <p:txBody>
          <a:bodyPr wrap="square" lIns="0" tIns="0" rIns="0" bIns="0" rtlCol="0" anchor="t"/>
          <a:lstStyle/>
          <a:p>
            <a:pPr algn="ctr" indent="0" marL="0">
              <a:buNone/>
            </a:pPr>
            <a:r>
              <a:rPr lang="en-US" sz="1300" dirty="0">
                <a:solidFill>
                  <a:schemeClr val="tx1"/>
                </a:solidFill>
              </a:rPr>
              <a:t>une table de la base garde la liste des migrations appliquées</a:t>
            </a:r>
            <a:endParaRPr lang="en-US" sz="1300" dirty="0"/>
          </a:p>
        </p:txBody>
      </p:sp>
      <p:sp>
        <p:nvSpPr>
          <p:cNvPr id="28" name="À retenir"/>
          <p:cNvSpPr/>
          <p:nvPr/>
        </p:nvSpPr>
        <p:spPr>
          <a:xfrm>
            <a:off x="548640" y="5440680"/>
            <a:ext cx="11109960" cy="685800"/>
          </a:xfrm>
          <a:prstGeom prst="roundRect">
            <a:avLst>
              <a:gd name="adj" fmla="val 13333"/>
            </a:avLst>
          </a:prstGeom>
          <a:solidFill>
            <a:schemeClr val="bg2"/>
          </a:solidFill>
          <a:ln w="12700">
            <a:solidFill>
              <a:srgbClr val="E1EAF1"/>
            </a:solidFill>
            <a:prstDash val="solid"/>
          </a:ln>
        </p:spPr>
      </p:sp>
      <p:pic>
        <p:nvPicPr>
          <p:cNvPr id="29" name="Icône à retenir" descr="À retenir">    </p:cNvPr>
          <p:cNvPicPr>
            <a:picLocks noChangeAspect="1"/>
          </p:cNvPicPr>
          <p:nvPr/>
        </p:nvPicPr>
        <p:blipFill>
          <a:blip r:embed="rId10"/>
          <a:stretch>
            <a:fillRect/>
          </a:stretch>
        </p:blipFill>
        <p:spPr>
          <a:xfrm>
            <a:off x="777240" y="5614416"/>
            <a:ext cx="338328" cy="338328"/>
          </a:xfrm>
          <a:prstGeom prst="rect">
            <a:avLst/>
          </a:prstGeom>
        </p:spPr>
      </p:pic>
      <p:sp>
        <p:nvSpPr>
          <p:cNvPr id="30" name="Texte à retenir"/>
          <p:cNvSpPr txBox="1"/>
          <p:nvPr/>
        </p:nvSpPr>
        <p:spPr>
          <a:xfrm>
            <a:off x="1325880" y="5440680"/>
            <a:ext cx="10149840" cy="685800"/>
          </a:xfrm>
          <a:prstGeom prst="rect">
            <a:avLst/>
          </a:prstGeom>
          <a:noFill/>
          <a:ln/>
        </p:spPr>
        <p:txBody>
          <a:bodyPr wrap="square" lIns="0" tIns="0" rIns="0" bIns="0" rtlCol="0" anchor="ctr"/>
          <a:lstStyle/>
          <a:p>
            <a:pPr indent="0" marL="0">
              <a:buNone/>
            </a:pPr>
            <a:r>
              <a:rPr lang="en-US" sz="1500" dirty="0">
                <a:solidFill>
                  <a:schemeClr val="tx2"/>
                </a:solidFill>
              </a:rPr>
              <a:t>≈ Flyway ou Liquibase, Alembic, Diesel migrations. Pour la production : </a:t>
            </a:r>
            <a:r>
              <a:rPr lang="en-US" sz="1500" dirty="0">
                <a:solidFill>
                  <a:schemeClr val="tx2"/>
                </a:solidFill>
                <a:latin typeface="Courier New" pitchFamily="34" charset="0"/>
                <a:ea typeface="Courier New" pitchFamily="34" charset="-122"/>
                <a:cs typeface="Courier New" pitchFamily="34" charset="-120"/>
              </a:rPr>
              <a:t>dotnet ef migrations script</a:t>
            </a:r>
            <a:r>
              <a:rPr lang="en-US" sz="1500" dirty="0">
                <a:solidFill>
                  <a:schemeClr val="tx2"/>
                </a:solidFill>
              </a:rPr>
              <a:t>, un SQL relu et appliqué.</a:t>
            </a:r>
            <a:endParaRPr lang="en-US" sz="15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Partie"/>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EF CORE</a:t>
            </a:r>
            <a:endParaRPr lang="en-US" sz="11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Une requête LINQ devient du SQL</a:t>
            </a:r>
            <a:endParaRPr lang="en-US" sz="2800" dirty="0"/>
          </a:p>
        </p:txBody>
      </p:sp>
      <p:sp>
        <p:nvSpPr>
          <p:cNvPr id="4" name="Code C#"/>
          <p:cNvSpPr/>
          <p:nvPr/>
        </p:nvSpPr>
        <p:spPr>
          <a:xfrm>
            <a:off x="548640" y="1417320"/>
            <a:ext cx="5440680" cy="1659890"/>
          </a:xfrm>
          <a:prstGeom prst="roundRect">
            <a:avLst>
              <a:gd name="adj" fmla="val 5509"/>
            </a:avLst>
          </a:prstGeom>
          <a:solidFill>
            <a:schemeClr val="tx2"/>
          </a:solidFill>
          <a:ln w="12700">
            <a:solidFill>
              <a:srgbClr val="000057"/>
            </a:solidFill>
            <a:prstDash val="solid"/>
          </a:ln>
        </p:spPr>
      </p:sp>
      <p:sp>
        <p:nvSpPr>
          <p:cNvPr id="5" name="Langage C#"/>
          <p:cNvSpPr txBox="1"/>
          <p:nvPr/>
        </p:nvSpPr>
        <p:spPr>
          <a:xfrm>
            <a:off x="777240" y="1536192"/>
            <a:ext cx="4983480" cy="256032"/>
          </a:xfrm>
          <a:prstGeom prst="rect">
            <a:avLst/>
          </a:prstGeom>
          <a:noFill/>
          <a:ln/>
        </p:spPr>
        <p:txBody>
          <a:bodyPr wrap="square" lIns="0" tIns="0" rIns="0" bIns="0" rtlCol="0" anchor="t"/>
          <a:lstStyle/>
          <a:p>
            <a:pPr indent="0" marL="0">
              <a:buNone/>
            </a:pPr>
            <a:r>
              <a:rPr lang="en-US" sz="1100" b="1" dirty="0">
                <a:solidFill>
                  <a:schemeClr val="accent2"/>
                </a:solidFill>
              </a:rPr>
              <a:t>C#</a:t>
            </a:r>
            <a:endParaRPr lang="en-US" sz="1100" dirty="0"/>
          </a:p>
        </p:txBody>
      </p:sp>
      <p:sp>
        <p:nvSpPr>
          <p:cNvPr id="6" name="Contenu C#"/>
          <p:cNvSpPr txBox="1"/>
          <p:nvPr/>
        </p:nvSpPr>
        <p:spPr>
          <a:xfrm>
            <a:off x="777240" y="1856232"/>
            <a:ext cx="5074920" cy="1111250"/>
          </a:xfrm>
          <a:prstGeom prst="rect">
            <a:avLst/>
          </a:prstGeom>
          <a:noFill/>
          <a:ln/>
        </p:spPr>
        <p:txBody>
          <a:bodyPr wrap="square" lIns="0" tIns="0" rIns="0" bIns="0" rtlCol="0" anchor="t"/>
          <a:lstStyle/>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var open = await db.Tickets</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.Where(t =&gt; t.Priority == priority)</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.OrderBy(t =&gt; t.CreatedAt)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.Select(t =&gt; new { t.Id, t.Title })</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.ToListAsync(ct);</a:t>
            </a:r>
            <a:endParaRPr lang="en-US" sz="1300" dirty="0"/>
          </a:p>
        </p:txBody>
      </p:sp>
      <p:sp>
        <p:nvSpPr>
          <p:cNvPr id="7" name="Code SQL"/>
          <p:cNvSpPr/>
          <p:nvPr/>
        </p:nvSpPr>
        <p:spPr>
          <a:xfrm>
            <a:off x="6217920" y="1417320"/>
            <a:ext cx="5440680" cy="1465072"/>
          </a:xfrm>
          <a:prstGeom prst="roundRect">
            <a:avLst>
              <a:gd name="adj" fmla="val 6241"/>
            </a:avLst>
          </a:prstGeom>
          <a:solidFill>
            <a:schemeClr val="tx2"/>
          </a:solidFill>
          <a:ln w="12700">
            <a:solidFill>
              <a:srgbClr val="000057"/>
            </a:solidFill>
            <a:prstDash val="solid"/>
          </a:ln>
        </p:spPr>
      </p:sp>
      <p:sp>
        <p:nvSpPr>
          <p:cNvPr id="8" name="Langage SQL"/>
          <p:cNvSpPr txBox="1"/>
          <p:nvPr/>
        </p:nvSpPr>
        <p:spPr>
          <a:xfrm>
            <a:off x="6446520" y="1536192"/>
            <a:ext cx="4983480" cy="256032"/>
          </a:xfrm>
          <a:prstGeom prst="rect">
            <a:avLst/>
          </a:prstGeom>
          <a:noFill/>
          <a:ln/>
        </p:spPr>
        <p:txBody>
          <a:bodyPr wrap="square" lIns="0" tIns="0" rIns="0" bIns="0" rtlCol="0" anchor="t"/>
          <a:lstStyle/>
          <a:p>
            <a:pPr indent="0" marL="0">
              <a:buNone/>
            </a:pPr>
            <a:r>
              <a:rPr lang="en-US" sz="1100" b="1" dirty="0">
                <a:solidFill>
                  <a:schemeClr val="accent2"/>
                </a:solidFill>
              </a:rPr>
              <a:t>SQL envoyé (simplifié)</a:t>
            </a:r>
            <a:endParaRPr lang="en-US" sz="1100" dirty="0"/>
          </a:p>
        </p:txBody>
      </p:sp>
      <p:sp>
        <p:nvSpPr>
          <p:cNvPr id="9" name="Contenu SQL"/>
          <p:cNvSpPr txBox="1"/>
          <p:nvPr/>
        </p:nvSpPr>
        <p:spPr>
          <a:xfrm>
            <a:off x="6446520" y="1856232"/>
            <a:ext cx="5074920" cy="916432"/>
          </a:xfrm>
          <a:prstGeom prst="rect">
            <a:avLst/>
          </a:prstGeom>
          <a:noFill/>
          <a:ln/>
        </p:spPr>
        <p:txBody>
          <a:bodyPr wrap="square" lIns="0" tIns="0" rIns="0" bIns="0" rtlCol="0" anchor="t"/>
          <a:lstStyle/>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SELECT [t].[Id], [t].[Title]</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FROM [Tickets] AS [t]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WHERE [t].[Priority] = @priority</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ORDER BY [t].[CreatedAt]</a:t>
            </a:r>
            <a:endParaRPr lang="en-US" sz="1300" dirty="0"/>
          </a:p>
        </p:txBody>
      </p:sp>
      <p:sp>
        <p:nvSpPr>
          <p:cNvPr id="10" name="À retenir"/>
          <p:cNvSpPr/>
          <p:nvPr/>
        </p:nvSpPr>
        <p:spPr>
          <a:xfrm>
            <a:off x="548640" y="5440680"/>
            <a:ext cx="11109960" cy="685800"/>
          </a:xfrm>
          <a:prstGeom prst="roundRect">
            <a:avLst>
              <a:gd name="adj" fmla="val 13333"/>
            </a:avLst>
          </a:prstGeom>
          <a:solidFill>
            <a:schemeClr val="bg2"/>
          </a:solidFill>
          <a:ln w="12700">
            <a:solidFill>
              <a:srgbClr val="E1EAF1"/>
            </a:solidFill>
            <a:prstDash val="solid"/>
          </a:ln>
        </p:spPr>
      </p:sp>
      <p:pic>
        <p:nvPicPr>
          <p:cNvPr id="11" name="Icône à retenir" descr="À retenir">    </p:cNvPr>
          <p:cNvPicPr>
            <a:picLocks noChangeAspect="1"/>
          </p:cNvPicPr>
          <p:nvPr/>
        </p:nvPicPr>
        <p:blipFill>
          <a:blip r:embed="rId1"/>
          <a:stretch>
            <a:fillRect/>
          </a:stretch>
        </p:blipFill>
        <p:spPr>
          <a:xfrm>
            <a:off x="777240" y="5614416"/>
            <a:ext cx="338328" cy="338328"/>
          </a:xfrm>
          <a:prstGeom prst="rect">
            <a:avLst/>
          </a:prstGeom>
        </p:spPr>
      </p:pic>
      <p:sp>
        <p:nvSpPr>
          <p:cNvPr id="12" name="Texte à retenir"/>
          <p:cNvSpPr txBox="1"/>
          <p:nvPr/>
        </p:nvSpPr>
        <p:spPr>
          <a:xfrm>
            <a:off x="1325880" y="5440680"/>
            <a:ext cx="10149840" cy="685800"/>
          </a:xfrm>
          <a:prstGeom prst="rect">
            <a:avLst/>
          </a:prstGeom>
          <a:noFill/>
          <a:ln/>
        </p:spPr>
        <p:txBody>
          <a:bodyPr wrap="square" lIns="0" tIns="0" rIns="0" bIns="0" rtlCol="0" anchor="ctr"/>
          <a:lstStyle/>
          <a:p>
            <a:pPr indent="0" marL="0">
              <a:buNone/>
            </a:pPr>
            <a:r>
              <a:rPr lang="en-US" sz="1500" dirty="0">
                <a:solidFill>
                  <a:schemeClr val="tx2"/>
                </a:solidFill>
              </a:rPr>
              <a:t>Sur un </a:t>
            </a:r>
            <a:r>
              <a:rPr lang="en-US" sz="1500" dirty="0">
                <a:solidFill>
                  <a:schemeClr val="tx2"/>
                </a:solidFill>
                <a:latin typeface="Courier New" pitchFamily="34" charset="0"/>
                <a:ea typeface="Courier New" pitchFamily="34" charset="-122"/>
                <a:cs typeface="Courier New" pitchFamily="34" charset="-120"/>
              </a:rPr>
              <a:t>IQueryable</a:t>
            </a:r>
            <a:r>
              <a:rPr lang="en-US" sz="1500" dirty="0">
                <a:solidFill>
                  <a:schemeClr val="tx2"/>
                </a:solidFill>
              </a:rPr>
              <a:t>, la lambda n'est pas exécutée : EF la lit comme un arbre d'expression et la traduit. Les logs SQL montrent ce qui part vraiment.</a:t>
            </a:r>
            <a:endParaRPr lang="en-US" sz="15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Partie"/>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EF CORE</a:t>
            </a:r>
            <a:endParaRPr lang="en-US" sz="11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Le problème N+1</a:t>
            </a:r>
            <a:endParaRPr lang="en-US" sz="2800" dirty="0"/>
          </a:p>
        </p:txBody>
      </p:sp>
      <p:sp>
        <p:nvSpPr>
          <p:cNvPr id="4" name="Carte 1 + N requêtes"/>
          <p:cNvSpPr/>
          <p:nvPr/>
        </p:nvSpPr>
        <p:spPr>
          <a:xfrm>
            <a:off x="548640" y="1463040"/>
            <a:ext cx="5463540" cy="3794760"/>
          </a:xfrm>
          <a:prstGeom prst="roundRect">
            <a:avLst>
              <a:gd name="adj" fmla="val 2892"/>
            </a:avLst>
          </a:prstGeom>
          <a:solidFill>
            <a:schemeClr val="bg2"/>
          </a:solidFill>
          <a:ln w="12700">
            <a:solidFill>
              <a:srgbClr val="E1EAF1"/>
            </a:solidFill>
            <a:prstDash val="solid"/>
          </a:ln>
        </p:spPr>
      </p:sp>
      <p:sp>
        <p:nvSpPr>
          <p:cNvPr id="5" name="Pastille 1 + N requêtes"/>
          <p:cNvSpPr/>
          <p:nvPr/>
        </p:nvSpPr>
        <p:spPr>
          <a:xfrm>
            <a:off x="822960" y="1737360"/>
            <a:ext cx="777240" cy="673110"/>
          </a:xfrm>
          <a:custGeom>
            <a:avLst/>
            <a:gdLst/>
            <a:ahLst/>
            <a:cxnLst/>
            <a:rect l="l" t="t" r="r" b="b"/>
            <a:pathLst>
              <a:path w="777240" h="673110">
                <a:moveTo>
                  <a:pt x="0" y="336555"/>
                </a:moveTo>
                <a:lnTo>
                  <a:pt x="194310" y="0"/>
                </a:lnTo>
                <a:lnTo>
                  <a:pt x="582930" y="0"/>
                </a:lnTo>
                <a:lnTo>
                  <a:pt x="777240" y="336555"/>
                </a:lnTo>
                <a:lnTo>
                  <a:pt x="582930" y="673110"/>
                </a:lnTo>
                <a:lnTo>
                  <a:pt x="194310" y="673110"/>
                </a:lnTo>
                <a:close/>
              </a:path>
            </a:pathLst>
          </a:custGeom>
          <a:solidFill>
            <a:srgbClr val="0040FF"/>
          </a:solidFill>
          <a:ln w="12700">
            <a:solidFill>
              <a:srgbClr val="0040FF">
                <a:alpha val="0"/>
              </a:srgbClr>
            </a:solidFill>
            <a:prstDash val="solid"/>
          </a:ln>
        </p:spPr>
      </p:sp>
      <p:pic>
        <p:nvPicPr>
          <p:cNvPr id="6" name="Icône 1 + N requêtes" descr="1 + N requêtes">    </p:cNvPr>
          <p:cNvPicPr>
            <a:picLocks noChangeAspect="1"/>
          </p:cNvPicPr>
          <p:nvPr/>
        </p:nvPicPr>
        <p:blipFill>
          <a:blip r:embed="rId1"/>
          <a:stretch>
            <a:fillRect/>
          </a:stretch>
        </p:blipFill>
        <p:spPr>
          <a:xfrm>
            <a:off x="1028700" y="1891025"/>
            <a:ext cx="365760" cy="365760"/>
          </a:xfrm>
          <a:prstGeom prst="rect">
            <a:avLst/>
          </a:prstGeom>
        </p:spPr>
      </p:pic>
      <p:sp>
        <p:nvSpPr>
          <p:cNvPr id="7" name="Titre 1 + N requêtes"/>
          <p:cNvSpPr txBox="1"/>
          <p:nvPr/>
        </p:nvSpPr>
        <p:spPr>
          <a:xfrm>
            <a:off x="1828800" y="1719072"/>
            <a:ext cx="3954780" cy="411480"/>
          </a:xfrm>
          <a:prstGeom prst="rect">
            <a:avLst/>
          </a:prstGeom>
          <a:noFill/>
          <a:ln/>
        </p:spPr>
        <p:txBody>
          <a:bodyPr wrap="square" lIns="0" tIns="0" rIns="0" bIns="0" rtlCol="0" anchor="t"/>
          <a:lstStyle/>
          <a:p>
            <a:pPr indent="0" marL="0">
              <a:buNone/>
            </a:pPr>
            <a:r>
              <a:rPr lang="en-US" sz="1700" b="1" dirty="0">
                <a:solidFill>
                  <a:schemeClr val="tx2"/>
                </a:solidFill>
              </a:rPr>
              <a:t>1 + N requêtes</a:t>
            </a:r>
            <a:endParaRPr lang="en-US" sz="1700" dirty="0"/>
          </a:p>
        </p:txBody>
      </p:sp>
      <p:sp>
        <p:nvSpPr>
          <p:cNvPr id="8" name="Détail 1 + N requêtes"/>
          <p:cNvSpPr txBox="1"/>
          <p:nvPr/>
        </p:nvSpPr>
        <p:spPr>
          <a:xfrm>
            <a:off x="1828800" y="2176272"/>
            <a:ext cx="3954780" cy="2926080"/>
          </a:xfrm>
          <a:prstGeom prst="rect">
            <a:avLst/>
          </a:prstGeom>
          <a:noFill/>
          <a:ln/>
        </p:spPr>
        <p:txBody>
          <a:bodyPr wrap="square" lIns="0" tIns="0" rIns="0" bIns="0" rtlCol="0" anchor="t"/>
          <a:lstStyle/>
          <a:p>
            <a:pPr indent="0" marL="0">
              <a:buNone/>
            </a:pPr>
            <a:r>
              <a:rPr lang="en-US" sz="1400" dirty="0">
                <a:solidFill>
                  <a:schemeClr val="tx1"/>
                </a:solidFill>
              </a:rPr>
              <a:t>Charger les tickets, puis compter les commentaires de chacun dans une boucle : une requête pour la liste, puis une par ticket. Invisible avec 3 tickets, catastrophique avec 3 000.</a:t>
            </a:r>
            <a:endParaRPr lang="en-US" sz="1400" dirty="0"/>
          </a:p>
        </p:txBody>
      </p:sp>
      <p:sp>
        <p:nvSpPr>
          <p:cNvPr id="9" name="Carte Une seule requête"/>
          <p:cNvSpPr/>
          <p:nvPr/>
        </p:nvSpPr>
        <p:spPr>
          <a:xfrm>
            <a:off x="6195060" y="1463040"/>
            <a:ext cx="5463540" cy="3794760"/>
          </a:xfrm>
          <a:prstGeom prst="roundRect">
            <a:avLst>
              <a:gd name="adj" fmla="val 2892"/>
            </a:avLst>
          </a:prstGeom>
          <a:solidFill>
            <a:schemeClr val="tx2"/>
          </a:solidFill>
          <a:ln w="12700">
            <a:solidFill>
              <a:srgbClr val="000057"/>
            </a:solidFill>
            <a:prstDash val="solid"/>
          </a:ln>
        </p:spPr>
      </p:sp>
      <p:sp>
        <p:nvSpPr>
          <p:cNvPr id="10" name="Pastille Une seule requête"/>
          <p:cNvSpPr/>
          <p:nvPr/>
        </p:nvSpPr>
        <p:spPr>
          <a:xfrm>
            <a:off x="6469380" y="1737360"/>
            <a:ext cx="777240" cy="673110"/>
          </a:xfrm>
          <a:custGeom>
            <a:avLst/>
            <a:gdLst/>
            <a:ahLst/>
            <a:cxnLst/>
            <a:rect l="l" t="t" r="r" b="b"/>
            <a:pathLst>
              <a:path w="777240" h="673110">
                <a:moveTo>
                  <a:pt x="0" y="336555"/>
                </a:moveTo>
                <a:lnTo>
                  <a:pt x="194310" y="0"/>
                </a:lnTo>
                <a:lnTo>
                  <a:pt x="582930" y="0"/>
                </a:lnTo>
                <a:lnTo>
                  <a:pt x="777240" y="336555"/>
                </a:lnTo>
                <a:lnTo>
                  <a:pt x="582930" y="673110"/>
                </a:lnTo>
                <a:lnTo>
                  <a:pt x="194310" y="673110"/>
                </a:lnTo>
                <a:close/>
              </a:path>
            </a:pathLst>
          </a:custGeom>
          <a:solidFill>
            <a:srgbClr val="FFFF00"/>
          </a:solidFill>
          <a:ln w="12700">
            <a:solidFill>
              <a:srgbClr val="FFFF00">
                <a:alpha val="0"/>
              </a:srgbClr>
            </a:solidFill>
            <a:prstDash val="solid"/>
          </a:ln>
        </p:spPr>
      </p:sp>
      <p:pic>
        <p:nvPicPr>
          <p:cNvPr id="11" name="Icône Une seule requête" descr="Une seule requête">    </p:cNvPr>
          <p:cNvPicPr>
            <a:picLocks noChangeAspect="1"/>
          </p:cNvPicPr>
          <p:nvPr/>
        </p:nvPicPr>
        <p:blipFill>
          <a:blip r:embed="rId2"/>
          <a:stretch>
            <a:fillRect/>
          </a:stretch>
        </p:blipFill>
        <p:spPr>
          <a:xfrm>
            <a:off x="6675120" y="1891025"/>
            <a:ext cx="365760" cy="365760"/>
          </a:xfrm>
          <a:prstGeom prst="rect">
            <a:avLst/>
          </a:prstGeom>
        </p:spPr>
      </p:pic>
      <p:sp>
        <p:nvSpPr>
          <p:cNvPr id="12" name="Titre Une seule requête"/>
          <p:cNvSpPr txBox="1"/>
          <p:nvPr/>
        </p:nvSpPr>
        <p:spPr>
          <a:xfrm>
            <a:off x="7475220" y="1719072"/>
            <a:ext cx="3954780" cy="411480"/>
          </a:xfrm>
          <a:prstGeom prst="rect">
            <a:avLst/>
          </a:prstGeom>
          <a:noFill/>
          <a:ln/>
        </p:spPr>
        <p:txBody>
          <a:bodyPr wrap="square" lIns="0" tIns="0" rIns="0" bIns="0" rtlCol="0" anchor="t"/>
          <a:lstStyle/>
          <a:p>
            <a:pPr indent="0" marL="0">
              <a:buNone/>
            </a:pPr>
            <a:r>
              <a:rPr lang="en-US" sz="1700" b="1" dirty="0">
                <a:solidFill>
                  <a:schemeClr val="accent2"/>
                </a:solidFill>
              </a:rPr>
              <a:t>Une seule requête</a:t>
            </a:r>
            <a:endParaRPr lang="en-US" sz="1700" dirty="0"/>
          </a:p>
        </p:txBody>
      </p:sp>
      <p:sp>
        <p:nvSpPr>
          <p:cNvPr id="13" name="Détail Une seule requête"/>
          <p:cNvSpPr txBox="1"/>
          <p:nvPr/>
        </p:nvSpPr>
        <p:spPr>
          <a:xfrm>
            <a:off x="7475220" y="2176272"/>
            <a:ext cx="3954780" cy="2926080"/>
          </a:xfrm>
          <a:prstGeom prst="rect">
            <a:avLst/>
          </a:prstGeom>
          <a:noFill/>
          <a:ln/>
        </p:spPr>
        <p:txBody>
          <a:bodyPr wrap="square" lIns="0" tIns="0" rIns="0" bIns="0" rtlCol="0" anchor="t"/>
          <a:lstStyle/>
          <a:p>
            <a:pPr indent="0" marL="0">
              <a:buNone/>
            </a:pPr>
            <a:r>
              <a:rPr lang="en-US" sz="1400" dirty="0">
                <a:solidFill>
                  <a:schemeClr val="bg1"/>
                </a:solidFill>
              </a:rPr>
              <a:t>Une projection </a:t>
            </a:r>
            <a:r>
              <a:rPr lang="en-US" sz="1400" dirty="0">
                <a:solidFill>
                  <a:schemeClr val="bg1"/>
                </a:solidFill>
                <a:latin typeface="Courier New" pitchFamily="34" charset="0"/>
                <a:ea typeface="Courier New" pitchFamily="34" charset="-122"/>
                <a:cs typeface="Courier New" pitchFamily="34" charset="-120"/>
              </a:rPr>
              <a:t>Select(t =&gt; new TicketSummary(t.Id, t.Title, t.Comments.Count))</a:t>
            </a:r>
            <a:r>
              <a:rPr lang="en-US" sz="1400" dirty="0">
                <a:solidFill>
                  <a:schemeClr val="bg1"/>
                </a:solidFill>
              </a:rPr>
              <a:t> : EF génère une sous-requête </a:t>
            </a:r>
            <a:r>
              <a:rPr lang="en-US" sz="1400" dirty="0">
                <a:solidFill>
                  <a:schemeClr val="bg1"/>
                </a:solidFill>
                <a:latin typeface="Courier New" pitchFamily="34" charset="0"/>
                <a:ea typeface="Courier New" pitchFamily="34" charset="-122"/>
                <a:cs typeface="Courier New" pitchFamily="34" charset="-120"/>
              </a:rPr>
              <a:t>COUNT</a:t>
            </a:r>
            <a:r>
              <a:rPr lang="en-US" sz="1400" dirty="0">
                <a:solidFill>
                  <a:schemeClr val="bg1"/>
                </a:solidFill>
              </a:rPr>
              <a:t>. Ou </a:t>
            </a:r>
            <a:r>
              <a:rPr lang="en-US" sz="1400" dirty="0">
                <a:solidFill>
                  <a:schemeClr val="bg1"/>
                </a:solidFill>
                <a:latin typeface="Courier New" pitchFamily="34" charset="0"/>
                <a:ea typeface="Courier New" pitchFamily="34" charset="-122"/>
                <a:cs typeface="Courier New" pitchFamily="34" charset="-120"/>
              </a:rPr>
              <a:t>Include(t =&gt; t.Comments)</a:t>
            </a:r>
            <a:r>
              <a:rPr lang="en-US" sz="1400" dirty="0">
                <a:solidFill>
                  <a:schemeClr val="bg1"/>
                </a:solidFill>
              </a:rPr>
              <a:t> quand on a besoin des objets.</a:t>
            </a:r>
            <a:endParaRPr lang="en-US" sz="1400" dirty="0"/>
          </a:p>
        </p:txBody>
      </p:sp>
      <p:sp>
        <p:nvSpPr>
          <p:cNvPr id="14" name="À retenir"/>
          <p:cNvSpPr/>
          <p:nvPr/>
        </p:nvSpPr>
        <p:spPr>
          <a:xfrm>
            <a:off x="548640" y="5440680"/>
            <a:ext cx="11109960" cy="685800"/>
          </a:xfrm>
          <a:prstGeom prst="roundRect">
            <a:avLst>
              <a:gd name="adj" fmla="val 13333"/>
            </a:avLst>
          </a:prstGeom>
          <a:solidFill>
            <a:schemeClr val="bg2"/>
          </a:solidFill>
          <a:ln w="12700">
            <a:solidFill>
              <a:srgbClr val="E1EAF1"/>
            </a:solidFill>
            <a:prstDash val="solid"/>
          </a:ln>
        </p:spPr>
      </p:sp>
      <p:pic>
        <p:nvPicPr>
          <p:cNvPr id="15" name="Icône à retenir" descr="À retenir">    </p:cNvPr>
          <p:cNvPicPr>
            <a:picLocks noChangeAspect="1"/>
          </p:cNvPicPr>
          <p:nvPr/>
        </p:nvPicPr>
        <p:blipFill>
          <a:blip r:embed="rId3"/>
          <a:stretch>
            <a:fillRect/>
          </a:stretch>
        </p:blipFill>
        <p:spPr>
          <a:xfrm>
            <a:off x="777240" y="5614416"/>
            <a:ext cx="338328" cy="338328"/>
          </a:xfrm>
          <a:prstGeom prst="rect">
            <a:avLst/>
          </a:prstGeom>
        </p:spPr>
      </p:pic>
      <p:sp>
        <p:nvSpPr>
          <p:cNvPr id="16" name="Texte à retenir"/>
          <p:cNvSpPr txBox="1"/>
          <p:nvPr/>
        </p:nvSpPr>
        <p:spPr>
          <a:xfrm>
            <a:off x="1325880" y="5440680"/>
            <a:ext cx="10149840" cy="685800"/>
          </a:xfrm>
          <a:prstGeom prst="rect">
            <a:avLst/>
          </a:prstGeom>
          <a:noFill/>
          <a:ln/>
        </p:spPr>
        <p:txBody>
          <a:bodyPr wrap="square" lIns="0" tIns="0" rIns="0" bIns="0" rtlCol="0" anchor="ctr"/>
          <a:lstStyle/>
          <a:p>
            <a:pPr indent="0" marL="0">
              <a:buNone/>
            </a:pPr>
            <a:r>
              <a:rPr lang="en-US" sz="1500" dirty="0">
                <a:solidFill>
                  <a:schemeClr val="tx2"/>
                </a:solidFill>
              </a:rPr>
              <a:t>Le réflexe : regarder les logs SQL, ou compter les commandes dans un test. C'est ce que fait le test de l'exercice 6.</a:t>
            </a:r>
            <a:endParaRPr lang="en-US" sz="15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Partie"/>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EF CORE</a:t>
            </a:r>
            <a:endParaRPr lang="en-US" sz="11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Le suivi des modifications</a:t>
            </a:r>
            <a:endParaRPr lang="en-US" sz="2800" dirty="0"/>
          </a:p>
        </p:txBody>
      </p:sp>
      <p:sp>
        <p:nvSpPr>
          <p:cNvPr id="4" name="Code C#"/>
          <p:cNvSpPr/>
          <p:nvPr/>
        </p:nvSpPr>
        <p:spPr>
          <a:xfrm>
            <a:off x="548640" y="1417320"/>
            <a:ext cx="5440680" cy="1854708"/>
          </a:xfrm>
          <a:prstGeom prst="roundRect">
            <a:avLst>
              <a:gd name="adj" fmla="val 4930"/>
            </a:avLst>
          </a:prstGeom>
          <a:solidFill>
            <a:schemeClr val="tx2"/>
          </a:solidFill>
          <a:ln w="12700">
            <a:solidFill>
              <a:srgbClr val="000057"/>
            </a:solidFill>
            <a:prstDash val="solid"/>
          </a:ln>
        </p:spPr>
      </p:sp>
      <p:sp>
        <p:nvSpPr>
          <p:cNvPr id="5" name="Langage C#"/>
          <p:cNvSpPr txBox="1"/>
          <p:nvPr/>
        </p:nvSpPr>
        <p:spPr>
          <a:xfrm>
            <a:off x="777240" y="1536192"/>
            <a:ext cx="4983480" cy="256032"/>
          </a:xfrm>
          <a:prstGeom prst="rect">
            <a:avLst/>
          </a:prstGeom>
          <a:noFill/>
          <a:ln/>
        </p:spPr>
        <p:txBody>
          <a:bodyPr wrap="square" lIns="0" tIns="0" rIns="0" bIns="0" rtlCol="0" anchor="t"/>
          <a:lstStyle/>
          <a:p>
            <a:pPr indent="0" marL="0">
              <a:buNone/>
            </a:pPr>
            <a:r>
              <a:rPr lang="en-US" sz="1100" b="1" dirty="0">
                <a:solidFill>
                  <a:schemeClr val="accent2"/>
                </a:solidFill>
              </a:rPr>
              <a:t>C# · entité suivie</a:t>
            </a:r>
            <a:endParaRPr lang="en-US" sz="1100" dirty="0"/>
          </a:p>
        </p:txBody>
      </p:sp>
      <p:sp>
        <p:nvSpPr>
          <p:cNvPr id="6" name="Contenu C#"/>
          <p:cNvSpPr txBox="1"/>
          <p:nvPr/>
        </p:nvSpPr>
        <p:spPr>
          <a:xfrm>
            <a:off x="777240" y="1856232"/>
            <a:ext cx="5074920" cy="1306068"/>
          </a:xfrm>
          <a:prstGeom prst="rect">
            <a:avLst/>
          </a:prstGeom>
          <a:noFill/>
          <a:ln/>
        </p:spPr>
        <p:txBody>
          <a:bodyPr wrap="square" lIns="0" tIns="0" rIns="0" bIns="0" rtlCol="0" anchor="t"/>
          <a:lstStyle/>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var ticket = await db.Tickets</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.FirstAsync(t =&gt; t.Id == id, ct);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ticket.Title = "Nouveau titre";</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await db.SaveChangesAsync(ct);</a:t>
            </a:r>
            <a:endParaRPr lang="en-US" sz="1300" dirty="0"/>
          </a:p>
          <a:p>
            <a:pPr indent="0" marL="0">
              <a:lnSpc>
                <a:spcPct val="100000"/>
              </a:lnSpc>
              <a:buNone/>
            </a:pPr>
            <a:r>
              <a:rPr lang="en-US" sz="1300" dirty="0">
                <a:solidFill>
                  <a:srgbClr val="9DB3C9"/>
                </a:solidFill>
                <a:latin typeface="Courier New" pitchFamily="34" charset="0"/>
                <a:ea typeface="Courier New" pitchFamily="34" charset="-122"/>
                <a:cs typeface="Courier New" pitchFamily="34" charset="-120"/>
              </a:rPr>
              <a:t>// UPDATE [Tickets] SET [Title] = @p0</a:t>
            </a:r>
            <a:endParaRPr lang="en-US" sz="1300" dirty="0"/>
          </a:p>
          <a:p>
            <a:pPr indent="0" marL="0">
              <a:lnSpc>
                <a:spcPct val="100000"/>
              </a:lnSpc>
              <a:buNone/>
            </a:pPr>
            <a:r>
              <a:rPr lang="en-US" sz="1300" dirty="0">
                <a:solidFill>
                  <a:srgbClr val="9DB3C9"/>
                </a:solidFill>
                <a:latin typeface="Courier New" pitchFamily="34" charset="0"/>
                <a:ea typeface="Courier New" pitchFamily="34" charset="-122"/>
                <a:cs typeface="Courier New" pitchFamily="34" charset="-120"/>
              </a:rPr>
              <a:t>// WHERE [Id] = @p1</a:t>
            </a:r>
            <a:endParaRPr lang="en-US" sz="1300" dirty="0"/>
          </a:p>
        </p:txBody>
      </p:sp>
      <p:sp>
        <p:nvSpPr>
          <p:cNvPr id="7" name="Code C#"/>
          <p:cNvSpPr/>
          <p:nvPr/>
        </p:nvSpPr>
        <p:spPr>
          <a:xfrm>
            <a:off x="6217920" y="1417320"/>
            <a:ext cx="5440680" cy="1854708"/>
          </a:xfrm>
          <a:prstGeom prst="roundRect">
            <a:avLst>
              <a:gd name="adj" fmla="val 4930"/>
            </a:avLst>
          </a:prstGeom>
          <a:solidFill>
            <a:schemeClr val="tx2"/>
          </a:solidFill>
          <a:ln w="12700">
            <a:solidFill>
              <a:srgbClr val="000057"/>
            </a:solidFill>
            <a:prstDash val="solid"/>
          </a:ln>
        </p:spPr>
      </p:sp>
      <p:sp>
        <p:nvSpPr>
          <p:cNvPr id="8" name="Langage C#"/>
          <p:cNvSpPr txBox="1"/>
          <p:nvPr/>
        </p:nvSpPr>
        <p:spPr>
          <a:xfrm>
            <a:off x="6446520" y="1536192"/>
            <a:ext cx="4983480" cy="256032"/>
          </a:xfrm>
          <a:prstGeom prst="rect">
            <a:avLst/>
          </a:prstGeom>
          <a:noFill/>
          <a:ln/>
        </p:spPr>
        <p:txBody>
          <a:bodyPr wrap="square" lIns="0" tIns="0" rIns="0" bIns="0" rtlCol="0" anchor="t"/>
          <a:lstStyle/>
          <a:p>
            <a:pPr indent="0" marL="0">
              <a:buNone/>
            </a:pPr>
            <a:r>
              <a:rPr lang="en-US" sz="1100" b="1" dirty="0">
                <a:solidFill>
                  <a:schemeClr val="accent2"/>
                </a:solidFill>
              </a:rPr>
              <a:t>C# · lecture seule</a:t>
            </a:r>
            <a:endParaRPr lang="en-US" sz="1100" dirty="0"/>
          </a:p>
        </p:txBody>
      </p:sp>
      <p:sp>
        <p:nvSpPr>
          <p:cNvPr id="9" name="Contenu C#"/>
          <p:cNvSpPr txBox="1"/>
          <p:nvPr/>
        </p:nvSpPr>
        <p:spPr>
          <a:xfrm>
            <a:off x="6446520" y="1856232"/>
            <a:ext cx="5074920" cy="1306068"/>
          </a:xfrm>
          <a:prstGeom prst="rect">
            <a:avLst/>
          </a:prstGeom>
          <a:noFill/>
          <a:ln/>
        </p:spPr>
        <p:txBody>
          <a:bodyPr wrap="square" lIns="0" tIns="0" rIns="0" bIns="0" rtlCol="0" anchor="t"/>
          <a:lstStyle/>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var list = await db.Tickets</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.AsNoTracking()</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.ToListAsync(ct);</a:t>
            </a:r>
            <a:endParaRPr lang="en-US" sz="1300" dirty="0"/>
          </a:p>
          <a:p>
            <a:pPr indent="0" marL="0">
              <a:lnSpc>
                <a:spcPct val="100000"/>
              </a:lnSpc>
              <a:buNone/>
            </a:pPr>
            <a:r>
              <a:rPr lang="en-US" sz="1300" dirty="0">
                <a:solidFill>
                  <a:srgbClr val="9DB3C9"/>
                </a:solidFill>
                <a:latin typeface="Courier New" pitchFamily="34" charset="0"/>
                <a:ea typeface="Courier New" pitchFamily="34" charset="-122"/>
                <a:cs typeface="Courier New" pitchFamily="34" charset="-120"/>
              </a:rPr>
              <a:t>// plus rapide : rien à suivre</a:t>
            </a:r>
            <a:endParaRPr lang="en-US" sz="1300" dirty="0"/>
          </a:p>
          <a:p>
            <a:pPr indent="0" marL="0">
              <a:lnSpc>
                <a:spcPct val="100000"/>
              </a:lnSpc>
              <a:buNone/>
            </a:pPr>
            <a:r>
              <a:rPr lang="en-US" sz="1300" dirty="0">
                <a:solidFill>
                  <a:srgbClr val="9DB3C9"/>
                </a:solidFill>
                <a:latin typeface="Courier New" pitchFamily="34" charset="0"/>
                <a:ea typeface="Courier New" pitchFamily="34" charset="-122"/>
                <a:cs typeface="Courier New" pitchFamily="34" charset="-120"/>
              </a:rPr>
              <a:t>// mais modifier ces objets</a:t>
            </a:r>
            <a:endParaRPr lang="en-US" sz="1300" dirty="0"/>
          </a:p>
          <a:p>
            <a:pPr indent="0" marL="0">
              <a:lnSpc>
                <a:spcPct val="100000"/>
              </a:lnSpc>
              <a:buNone/>
            </a:pPr>
            <a:r>
              <a:rPr lang="en-US" sz="1300" dirty="0">
                <a:solidFill>
                  <a:srgbClr val="9DB3C9"/>
                </a:solidFill>
                <a:latin typeface="Courier New" pitchFamily="34" charset="0"/>
                <a:ea typeface="Courier New" pitchFamily="34" charset="-122"/>
                <a:cs typeface="Courier New" pitchFamily="34" charset="-120"/>
              </a:rPr>
              <a:t>// puis SaveChanges n'écrit rien</a:t>
            </a:r>
            <a:endParaRPr lang="en-US" sz="1300" dirty="0"/>
          </a:p>
        </p:txBody>
      </p:sp>
      <p:sp>
        <p:nvSpPr>
          <p:cNvPr id="10" name="À retenir"/>
          <p:cNvSpPr/>
          <p:nvPr/>
        </p:nvSpPr>
        <p:spPr>
          <a:xfrm>
            <a:off x="548640" y="5440680"/>
            <a:ext cx="11109960" cy="685800"/>
          </a:xfrm>
          <a:prstGeom prst="roundRect">
            <a:avLst>
              <a:gd name="adj" fmla="val 13333"/>
            </a:avLst>
          </a:prstGeom>
          <a:solidFill>
            <a:schemeClr val="bg2"/>
          </a:solidFill>
          <a:ln w="12700">
            <a:solidFill>
              <a:srgbClr val="E1EAF1"/>
            </a:solidFill>
            <a:prstDash val="solid"/>
          </a:ln>
        </p:spPr>
      </p:sp>
      <p:pic>
        <p:nvPicPr>
          <p:cNvPr id="11" name="Icône à retenir" descr="À retenir">    </p:cNvPr>
          <p:cNvPicPr>
            <a:picLocks noChangeAspect="1"/>
          </p:cNvPicPr>
          <p:nvPr/>
        </p:nvPicPr>
        <p:blipFill>
          <a:blip r:embed="rId1"/>
          <a:stretch>
            <a:fillRect/>
          </a:stretch>
        </p:blipFill>
        <p:spPr>
          <a:xfrm>
            <a:off x="777240" y="5614416"/>
            <a:ext cx="338328" cy="338328"/>
          </a:xfrm>
          <a:prstGeom prst="rect">
            <a:avLst/>
          </a:prstGeom>
        </p:spPr>
      </p:pic>
      <p:sp>
        <p:nvSpPr>
          <p:cNvPr id="12" name="Texte à retenir"/>
          <p:cNvSpPr txBox="1"/>
          <p:nvPr/>
        </p:nvSpPr>
        <p:spPr>
          <a:xfrm>
            <a:off x="1325880" y="5440680"/>
            <a:ext cx="10149840" cy="685800"/>
          </a:xfrm>
          <a:prstGeom prst="rect">
            <a:avLst/>
          </a:prstGeom>
          <a:noFill/>
          <a:ln/>
        </p:spPr>
        <p:txBody>
          <a:bodyPr wrap="square" lIns="0" tIns="0" rIns="0" bIns="0" rtlCol="0" anchor="ctr"/>
          <a:lstStyle/>
          <a:p>
            <a:pPr indent="0" marL="0">
              <a:buNone/>
            </a:pPr>
            <a:r>
              <a:rPr lang="en-US" sz="1500" dirty="0">
                <a:solidFill>
                  <a:schemeClr val="tx2"/>
                </a:solidFill>
              </a:rPr>
              <a:t>Le </a:t>
            </a:r>
            <a:r>
              <a:rPr lang="en-US" sz="1500" dirty="0">
                <a:solidFill>
                  <a:schemeClr val="tx2"/>
                </a:solidFill>
                <a:latin typeface="Courier New" pitchFamily="34" charset="0"/>
                <a:ea typeface="Courier New" pitchFamily="34" charset="-122"/>
                <a:cs typeface="Courier New" pitchFamily="34" charset="-120"/>
              </a:rPr>
              <a:t>DbContext</a:t>
            </a:r>
            <a:r>
              <a:rPr lang="en-US" sz="1500" dirty="0">
                <a:solidFill>
                  <a:schemeClr val="tx2"/>
                </a:solidFill>
              </a:rPr>
              <a:t> garde une copie de ce qu'il a chargé ; </a:t>
            </a:r>
            <a:r>
              <a:rPr lang="en-US" sz="1500" dirty="0">
                <a:solidFill>
                  <a:schemeClr val="tx2"/>
                </a:solidFill>
                <a:latin typeface="Courier New" pitchFamily="34" charset="0"/>
                <a:ea typeface="Courier New" pitchFamily="34" charset="-122"/>
                <a:cs typeface="Courier New" pitchFamily="34" charset="-120"/>
              </a:rPr>
              <a:t>SaveChangesAsync</a:t>
            </a:r>
            <a:r>
              <a:rPr lang="en-US" sz="1500" dirty="0">
                <a:solidFill>
                  <a:schemeClr val="tx2"/>
                </a:solidFill>
              </a:rPr>
              <a:t> compare et écrit les différences, en une transaction.</a:t>
            </a:r>
            <a:endParaRPr lang="en-US" sz="15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Partie"/>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TESTER</a:t>
            </a:r>
            <a:endParaRPr lang="en-US" sz="11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Tester l'API de bout en bout</a:t>
            </a:r>
            <a:endParaRPr lang="en-US" sz="2800" dirty="0"/>
          </a:p>
        </p:txBody>
      </p:sp>
      <p:sp>
        <p:nvSpPr>
          <p:cNvPr id="4" name="Points"/>
          <p:cNvSpPr txBox="1"/>
          <p:nvPr/>
        </p:nvSpPr>
        <p:spPr>
          <a:xfrm>
            <a:off x="548640" y="1463040"/>
            <a:ext cx="4023360" cy="37947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latin typeface="Courier New" pitchFamily="34" charset="0"/>
                <a:ea typeface="Courier New" pitchFamily="34" charset="-122"/>
                <a:cs typeface="Courier New" pitchFamily="34" charset="-120"/>
              </a:rPr>
              <a:t>WebApplicationFactory&lt;Program&gt;</a:t>
            </a:r>
            <a:r>
              <a:rPr lang="en-US" sz="1500" dirty="0">
                <a:solidFill>
                  <a:schemeClr val="tx1"/>
                </a:solidFill>
              </a:rPr>
              <a:t> démarre toute l'application en mémoire.</a:t>
            </a:r>
            <a:endParaRPr lang="en-US" sz="1500" dirty="0"/>
          </a:p>
          <a:p>
            <a:pPr marL="342900" indent="-342900">
              <a:spcAft>
                <a:spcPts val="900"/>
              </a:spcAft>
              <a:buSzPct val="100000"/>
              <a:buChar char="•"/>
            </a:pPr>
            <a:r>
              <a:rPr lang="en-US" sz="1500" dirty="0">
                <a:solidFill>
                  <a:schemeClr val="tx1"/>
                </a:solidFill>
              </a:rPr>
              <a:t>Les requêtes passent par le vrai pipeline, sans port réseau.</a:t>
            </a:r>
            <a:endParaRPr lang="en-US" sz="1500" dirty="0"/>
          </a:p>
          <a:p>
            <a:pPr marL="342900" indent="-342900">
              <a:spcAft>
                <a:spcPts val="900"/>
              </a:spcAft>
              <a:buSzPct val="100000"/>
              <a:buChar char="•"/>
            </a:pPr>
            <a:r>
              <a:rPr lang="en-US" sz="1500" dirty="0">
                <a:solidFill>
                  <a:schemeClr val="tx1"/>
                </a:solidFill>
              </a:rPr>
              <a:t>La configuration de test remplace la vraie : une base </a:t>
            </a:r>
            <a:r>
              <a:rPr lang="en-US" sz="1500" dirty="0">
                <a:solidFill>
                  <a:schemeClr val="tx1"/>
                </a:solidFill>
                <a:latin typeface="Courier New" pitchFamily="34" charset="0"/>
                <a:ea typeface="Courier New" pitchFamily="34" charset="-122"/>
                <a:cs typeface="Courier New" pitchFamily="34" charset="-120"/>
              </a:rPr>
              <a:t>TicketsTests</a:t>
            </a:r>
            <a:r>
              <a:rPr lang="en-US" sz="1500" dirty="0">
                <a:solidFill>
                  <a:schemeClr val="tx1"/>
                </a:solidFill>
              </a:rPr>
              <a:t> dédiée.</a:t>
            </a:r>
            <a:endParaRPr lang="en-US" sz="1500" dirty="0"/>
          </a:p>
          <a:p>
            <a:pPr marL="342900" indent="-342900">
              <a:spcAft>
                <a:spcPts val="900"/>
              </a:spcAft>
              <a:buSzPct val="100000"/>
              <a:buChar char="•"/>
            </a:pPr>
            <a:r>
              <a:rPr lang="en-US" sz="1500" dirty="0">
                <a:solidFill>
                  <a:schemeClr val="tx1"/>
                </a:solidFill>
              </a:rPr>
              <a:t>Les tests qui touchent la base sont regroupés dans une collection, exécutés un par un.</a:t>
            </a:r>
            <a:endParaRPr lang="en-US" sz="1500" dirty="0"/>
          </a:p>
        </p:txBody>
      </p:sp>
      <p:sp>
        <p:nvSpPr>
          <p:cNvPr id="5" name="Code C#"/>
          <p:cNvSpPr/>
          <p:nvPr/>
        </p:nvSpPr>
        <p:spPr>
          <a:xfrm>
            <a:off x="4846320" y="1417320"/>
            <a:ext cx="6812280" cy="3218434"/>
          </a:xfrm>
          <a:prstGeom prst="roundRect">
            <a:avLst>
              <a:gd name="adj" fmla="val 2841"/>
            </a:avLst>
          </a:prstGeom>
          <a:solidFill>
            <a:schemeClr val="tx2"/>
          </a:solidFill>
          <a:ln w="12700">
            <a:solidFill>
              <a:srgbClr val="000057"/>
            </a:solidFill>
            <a:prstDash val="solid"/>
          </a:ln>
        </p:spPr>
      </p:sp>
      <p:sp>
        <p:nvSpPr>
          <p:cNvPr id="6" name="Langage C#"/>
          <p:cNvSpPr txBox="1"/>
          <p:nvPr/>
        </p:nvSpPr>
        <p:spPr>
          <a:xfrm>
            <a:off x="5074920" y="1536192"/>
            <a:ext cx="6355080" cy="256032"/>
          </a:xfrm>
          <a:prstGeom prst="rect">
            <a:avLst/>
          </a:prstGeom>
          <a:noFill/>
          <a:ln/>
        </p:spPr>
        <p:txBody>
          <a:bodyPr wrap="square" lIns="0" tIns="0" rIns="0" bIns="0" rtlCol="0" anchor="t"/>
          <a:lstStyle/>
          <a:p>
            <a:pPr indent="0" marL="0">
              <a:buNone/>
            </a:pPr>
            <a:r>
              <a:rPr lang="en-US" sz="1100" b="1" dirty="0">
                <a:solidFill>
                  <a:schemeClr val="accent2"/>
                </a:solidFill>
              </a:rPr>
              <a:t>C#</a:t>
            </a:r>
            <a:endParaRPr lang="en-US" sz="1100" dirty="0"/>
          </a:p>
        </p:txBody>
      </p:sp>
      <p:sp>
        <p:nvSpPr>
          <p:cNvPr id="7" name="Contenu C#"/>
          <p:cNvSpPr txBox="1"/>
          <p:nvPr/>
        </p:nvSpPr>
        <p:spPr>
          <a:xfrm>
            <a:off x="5074920" y="1856232"/>
            <a:ext cx="6446520" cy="2669794"/>
          </a:xfrm>
          <a:prstGeom prst="rect">
            <a:avLst/>
          </a:prstGeom>
          <a:noFill/>
          <a:ln/>
        </p:spPr>
        <p:txBody>
          <a:bodyPr wrap="square" lIns="0" tIns="0" rIns="0" bIns="0" rtlCol="0" anchor="t"/>
          <a:lstStyle/>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public class TicketsApiTests(TicketsApiFactory api)</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 IClassFixture&lt;TicketsApiFactory&gt;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[Fact]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public async Task UnknownTicket_IsA404()</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var response = await api.CreateClient()</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.GetAsync("/tickets/999999");</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Assert.Equal(HttpStatusCode.NotFound,</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response.StatusCode);</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8" name="À retenir"/>
          <p:cNvSpPr/>
          <p:nvPr/>
        </p:nvSpPr>
        <p:spPr>
          <a:xfrm>
            <a:off x="548640" y="5440680"/>
            <a:ext cx="11109960" cy="685800"/>
          </a:xfrm>
          <a:prstGeom prst="roundRect">
            <a:avLst>
              <a:gd name="adj" fmla="val 13333"/>
            </a:avLst>
          </a:prstGeom>
          <a:solidFill>
            <a:schemeClr val="bg2"/>
          </a:solidFill>
          <a:ln w="12700">
            <a:solidFill>
              <a:srgbClr val="E1EAF1"/>
            </a:solidFill>
            <a:prstDash val="solid"/>
          </a:ln>
        </p:spPr>
      </p:sp>
      <p:pic>
        <p:nvPicPr>
          <p:cNvPr id="9" name="Icône à retenir" descr="À retenir">    </p:cNvPr>
          <p:cNvPicPr>
            <a:picLocks noChangeAspect="1"/>
          </p:cNvPicPr>
          <p:nvPr/>
        </p:nvPicPr>
        <p:blipFill>
          <a:blip r:embed="rId1"/>
          <a:stretch>
            <a:fillRect/>
          </a:stretch>
        </p:blipFill>
        <p:spPr>
          <a:xfrm>
            <a:off x="777240" y="5614416"/>
            <a:ext cx="338328" cy="338328"/>
          </a:xfrm>
          <a:prstGeom prst="rect">
            <a:avLst/>
          </a:prstGeom>
        </p:spPr>
      </p:pic>
      <p:sp>
        <p:nvSpPr>
          <p:cNvPr id="10" name="Texte à retenir"/>
          <p:cNvSpPr txBox="1"/>
          <p:nvPr/>
        </p:nvSpPr>
        <p:spPr>
          <a:xfrm>
            <a:off x="1325880" y="5440680"/>
            <a:ext cx="10149840" cy="685800"/>
          </a:xfrm>
          <a:prstGeom prst="rect">
            <a:avLst/>
          </a:prstGeom>
          <a:noFill/>
          <a:ln/>
        </p:spPr>
        <p:txBody>
          <a:bodyPr wrap="square" lIns="0" tIns="0" rIns="0" bIns="0" rtlCol="0" anchor="ctr"/>
          <a:lstStyle/>
          <a:p>
            <a:pPr indent="0" marL="0">
              <a:buNone/>
            </a:pPr>
            <a:r>
              <a:rPr lang="en-US" sz="1500" dirty="0">
                <a:solidFill>
                  <a:schemeClr val="tx2"/>
                </a:solidFill>
              </a:rPr>
              <a:t>≈ </a:t>
            </a:r>
            <a:r>
              <a:rPr lang="en-US" sz="1500" dirty="0">
                <a:solidFill>
                  <a:schemeClr val="tx2"/>
                </a:solidFill>
                <a:latin typeface="Courier New" pitchFamily="34" charset="0"/>
                <a:ea typeface="Courier New" pitchFamily="34" charset="-122"/>
                <a:cs typeface="Courier New" pitchFamily="34" charset="-120"/>
              </a:rPr>
              <a:t>@SpringBootTest</a:t>
            </a:r>
            <a:r>
              <a:rPr lang="en-US" sz="1500" dirty="0">
                <a:solidFill>
                  <a:schemeClr val="tx2"/>
                </a:solidFill>
              </a:rPr>
              <a:t> avec </a:t>
            </a:r>
            <a:r>
              <a:rPr lang="en-US" sz="1500" dirty="0">
                <a:solidFill>
                  <a:schemeClr val="tx2"/>
                </a:solidFill>
                <a:latin typeface="Courier New" pitchFamily="34" charset="0"/>
                <a:ea typeface="Courier New" pitchFamily="34" charset="-122"/>
                <a:cs typeface="Courier New" pitchFamily="34" charset="-120"/>
              </a:rPr>
              <a:t>MockMvc</a:t>
            </a:r>
            <a:r>
              <a:rPr lang="en-US" sz="1500" dirty="0">
                <a:solidFill>
                  <a:schemeClr val="tx2"/>
                </a:solidFill>
              </a:rPr>
              <a:t>, ou </a:t>
            </a:r>
            <a:r>
              <a:rPr lang="en-US" sz="1500" dirty="0">
                <a:solidFill>
                  <a:schemeClr val="tx2"/>
                </a:solidFill>
                <a:latin typeface="Courier New" pitchFamily="34" charset="0"/>
                <a:ea typeface="Courier New" pitchFamily="34" charset="-122"/>
                <a:cs typeface="Courier New" pitchFamily="34" charset="-120"/>
              </a:rPr>
              <a:t>TestClient</a:t>
            </a:r>
            <a:r>
              <a:rPr lang="en-US" sz="1500" dirty="0">
                <a:solidFill>
                  <a:schemeClr val="tx2"/>
                </a:solidFill>
              </a:rPr>
              <a:t> de FastAPI.</a:t>
            </a:r>
            <a:endParaRPr lang="en-US" sz="15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À retenir</a:t>
            </a:r>
            <a:endParaRPr lang="en-US" sz="2800" dirty="0"/>
          </a:p>
        </p:txBody>
      </p:sp>
      <p:sp>
        <p:nvSpPr>
          <p:cNvPr id="3" name="Point 1"/>
          <p:cNvSpPr/>
          <p:nvPr/>
        </p:nvSpPr>
        <p:spPr>
          <a:xfrm>
            <a:off x="548640" y="146304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000057"/>
          </a:solidFill>
          <a:ln w="12700">
            <a:solidFill>
              <a:srgbClr val="000057">
                <a:alpha val="0"/>
              </a:srgbClr>
            </a:solidFill>
            <a:prstDash val="solid"/>
          </a:ln>
        </p:spPr>
      </p:sp>
      <p:sp>
        <p:nvSpPr>
          <p:cNvPr id="4" name="Numéro 1"/>
          <p:cNvSpPr txBox="1"/>
          <p:nvPr/>
        </p:nvSpPr>
        <p:spPr>
          <a:xfrm>
            <a:off x="548640" y="1463040"/>
            <a:ext cx="731520" cy="630936"/>
          </a:xfrm>
          <a:prstGeom prst="rect">
            <a:avLst/>
          </a:prstGeom>
          <a:noFill/>
          <a:ln/>
        </p:spPr>
        <p:txBody>
          <a:bodyPr wrap="square" lIns="0" tIns="0" rIns="0" bIns="0" rtlCol="0" anchor="ctr"/>
          <a:lstStyle/>
          <a:p>
            <a:pPr algn="ctr" indent="0" marL="0">
              <a:buNone/>
            </a:pPr>
            <a:r>
              <a:rPr lang="en-US" sz="2000" b="1" dirty="0">
                <a:solidFill>
                  <a:schemeClr val="accent2"/>
                </a:solidFill>
              </a:rPr>
              <a:t>1</a:t>
            </a:r>
            <a:endParaRPr lang="en-US" sz="2000" dirty="0"/>
          </a:p>
        </p:txBody>
      </p:sp>
      <p:sp>
        <p:nvSpPr>
          <p:cNvPr id="5" name="Point 1 texte"/>
          <p:cNvSpPr txBox="1"/>
          <p:nvPr/>
        </p:nvSpPr>
        <p:spPr>
          <a:xfrm>
            <a:off x="1463040" y="1417320"/>
            <a:ext cx="4526280" cy="1143000"/>
          </a:xfrm>
          <a:prstGeom prst="rect">
            <a:avLst/>
          </a:prstGeom>
          <a:noFill/>
          <a:ln/>
        </p:spPr>
        <p:txBody>
          <a:bodyPr wrap="square" lIns="0" tIns="0" rIns="0" bIns="0" rtlCol="0" anchor="t"/>
          <a:lstStyle/>
          <a:p>
            <a:pPr indent="0" marL="0">
              <a:buNone/>
            </a:pPr>
            <a:r>
              <a:rPr lang="en-US" sz="1500" dirty="0">
                <a:solidFill>
                  <a:schemeClr val="tx1"/>
                </a:solidFill>
                <a:latin typeface="Courier New" pitchFamily="34" charset="0"/>
                <a:ea typeface="Courier New" pitchFamily="34" charset="-122"/>
                <a:cs typeface="Courier New" pitchFamily="34" charset="-120"/>
              </a:rPr>
              <a:t>Program.cs</a:t>
            </a:r>
            <a:r>
              <a:rPr lang="en-US" sz="1500" dirty="0">
                <a:solidFill>
                  <a:schemeClr val="tx1"/>
                </a:solidFill>
              </a:rPr>
              <a:t> : services, puis pipeline, puis routes. L'ordre des middlewares compte.</a:t>
            </a:r>
            <a:endParaRPr lang="en-US" sz="1500" dirty="0"/>
          </a:p>
        </p:txBody>
      </p:sp>
      <p:sp>
        <p:nvSpPr>
          <p:cNvPr id="6" name="Point 2"/>
          <p:cNvSpPr/>
          <p:nvPr/>
        </p:nvSpPr>
        <p:spPr>
          <a:xfrm>
            <a:off x="6172200" y="146304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000057"/>
          </a:solidFill>
          <a:ln w="12700">
            <a:solidFill>
              <a:srgbClr val="000057">
                <a:alpha val="0"/>
              </a:srgbClr>
            </a:solidFill>
            <a:prstDash val="solid"/>
          </a:ln>
        </p:spPr>
      </p:sp>
      <p:sp>
        <p:nvSpPr>
          <p:cNvPr id="7" name="Numéro 2"/>
          <p:cNvSpPr txBox="1"/>
          <p:nvPr/>
        </p:nvSpPr>
        <p:spPr>
          <a:xfrm>
            <a:off x="6172200" y="1463040"/>
            <a:ext cx="731520" cy="630936"/>
          </a:xfrm>
          <a:prstGeom prst="rect">
            <a:avLst/>
          </a:prstGeom>
          <a:noFill/>
          <a:ln/>
        </p:spPr>
        <p:txBody>
          <a:bodyPr wrap="square" lIns="0" tIns="0" rIns="0" bIns="0" rtlCol="0" anchor="ctr"/>
          <a:lstStyle/>
          <a:p>
            <a:pPr algn="ctr" indent="0" marL="0">
              <a:buNone/>
            </a:pPr>
            <a:r>
              <a:rPr lang="en-US" sz="2000" b="1" dirty="0">
                <a:solidFill>
                  <a:schemeClr val="accent2"/>
                </a:solidFill>
              </a:rPr>
              <a:t>2</a:t>
            </a:r>
            <a:endParaRPr lang="en-US" sz="2000" dirty="0"/>
          </a:p>
        </p:txBody>
      </p:sp>
      <p:sp>
        <p:nvSpPr>
          <p:cNvPr id="8" name="Point 2 texte"/>
          <p:cNvSpPr txBox="1"/>
          <p:nvPr/>
        </p:nvSpPr>
        <p:spPr>
          <a:xfrm>
            <a:off x="7086600" y="1417320"/>
            <a:ext cx="4526280" cy="1143000"/>
          </a:xfrm>
          <a:prstGeom prst="rect">
            <a:avLst/>
          </a:prstGeom>
          <a:noFill/>
          <a:ln/>
        </p:spPr>
        <p:txBody>
          <a:bodyPr wrap="square" lIns="0" tIns="0" rIns="0" bIns="0" rtlCol="0" anchor="t"/>
          <a:lstStyle/>
          <a:p>
            <a:pPr indent="0" marL="0">
              <a:buNone/>
            </a:pPr>
            <a:r>
              <a:rPr lang="en-US" sz="1500" dirty="0">
                <a:solidFill>
                  <a:schemeClr val="tx1"/>
                </a:solidFill>
              </a:rPr>
              <a:t>Singleton, scoped, transient : le </a:t>
            </a:r>
            <a:r>
              <a:rPr lang="en-US" sz="1500" dirty="0">
                <a:solidFill>
                  <a:schemeClr val="tx1"/>
                </a:solidFill>
                <a:latin typeface="Courier New" pitchFamily="34" charset="0"/>
                <a:ea typeface="Courier New" pitchFamily="34" charset="-122"/>
                <a:cs typeface="Courier New" pitchFamily="34" charset="-120"/>
              </a:rPr>
              <a:t>DbContext</a:t>
            </a:r>
            <a:r>
              <a:rPr lang="en-US" sz="1500" dirty="0">
                <a:solidFill>
                  <a:schemeClr val="tx1"/>
                </a:solidFill>
              </a:rPr>
              <a:t> est scoped, jamais gardé par un singleton.</a:t>
            </a:r>
            <a:endParaRPr lang="en-US" sz="1500" dirty="0"/>
          </a:p>
        </p:txBody>
      </p:sp>
      <p:sp>
        <p:nvSpPr>
          <p:cNvPr id="9" name="Point 3"/>
          <p:cNvSpPr/>
          <p:nvPr/>
        </p:nvSpPr>
        <p:spPr>
          <a:xfrm>
            <a:off x="548640" y="269748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000057"/>
          </a:solidFill>
          <a:ln w="12700">
            <a:solidFill>
              <a:srgbClr val="000057">
                <a:alpha val="0"/>
              </a:srgbClr>
            </a:solidFill>
            <a:prstDash val="solid"/>
          </a:ln>
        </p:spPr>
      </p:sp>
      <p:sp>
        <p:nvSpPr>
          <p:cNvPr id="10" name="Numéro 3"/>
          <p:cNvSpPr txBox="1"/>
          <p:nvPr/>
        </p:nvSpPr>
        <p:spPr>
          <a:xfrm>
            <a:off x="548640" y="2697480"/>
            <a:ext cx="731520" cy="630936"/>
          </a:xfrm>
          <a:prstGeom prst="rect">
            <a:avLst/>
          </a:prstGeom>
          <a:noFill/>
          <a:ln/>
        </p:spPr>
        <p:txBody>
          <a:bodyPr wrap="square" lIns="0" tIns="0" rIns="0" bIns="0" rtlCol="0" anchor="ctr"/>
          <a:lstStyle/>
          <a:p>
            <a:pPr algn="ctr" indent="0" marL="0">
              <a:buNone/>
            </a:pPr>
            <a:r>
              <a:rPr lang="en-US" sz="2000" b="1" dirty="0">
                <a:solidFill>
                  <a:schemeClr val="accent2"/>
                </a:solidFill>
              </a:rPr>
              <a:t>3</a:t>
            </a:r>
            <a:endParaRPr lang="en-US" sz="2000" dirty="0"/>
          </a:p>
        </p:txBody>
      </p:sp>
      <p:sp>
        <p:nvSpPr>
          <p:cNvPr id="11" name="Point 3 texte"/>
          <p:cNvSpPr txBox="1"/>
          <p:nvPr/>
        </p:nvSpPr>
        <p:spPr>
          <a:xfrm>
            <a:off x="1463040" y="2651760"/>
            <a:ext cx="4526280" cy="1143000"/>
          </a:xfrm>
          <a:prstGeom prst="rect">
            <a:avLst/>
          </a:prstGeom>
          <a:noFill/>
          <a:ln/>
        </p:spPr>
        <p:txBody>
          <a:bodyPr wrap="square" lIns="0" tIns="0" rIns="0" bIns="0" rtlCol="0" anchor="t"/>
          <a:lstStyle/>
          <a:p>
            <a:pPr indent="0" marL="0">
              <a:buNone/>
            </a:pPr>
            <a:r>
              <a:rPr lang="en-US" sz="1500" dirty="0">
                <a:solidFill>
                  <a:schemeClr val="tx1"/>
                </a:solidFill>
              </a:rPr>
              <a:t>La configuration s'empile ; les secrets vont dans user-secrets ou l'environnement.</a:t>
            </a:r>
            <a:endParaRPr lang="en-US" sz="1500" dirty="0"/>
          </a:p>
        </p:txBody>
      </p:sp>
      <p:sp>
        <p:nvSpPr>
          <p:cNvPr id="12" name="Point 4"/>
          <p:cNvSpPr/>
          <p:nvPr/>
        </p:nvSpPr>
        <p:spPr>
          <a:xfrm>
            <a:off x="6172200" y="269748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000057"/>
          </a:solidFill>
          <a:ln w="12700">
            <a:solidFill>
              <a:srgbClr val="000057">
                <a:alpha val="0"/>
              </a:srgbClr>
            </a:solidFill>
            <a:prstDash val="solid"/>
          </a:ln>
        </p:spPr>
      </p:sp>
      <p:sp>
        <p:nvSpPr>
          <p:cNvPr id="13" name="Numéro 4"/>
          <p:cNvSpPr txBox="1"/>
          <p:nvPr/>
        </p:nvSpPr>
        <p:spPr>
          <a:xfrm>
            <a:off x="6172200" y="2697480"/>
            <a:ext cx="731520" cy="630936"/>
          </a:xfrm>
          <a:prstGeom prst="rect">
            <a:avLst/>
          </a:prstGeom>
          <a:noFill/>
          <a:ln/>
        </p:spPr>
        <p:txBody>
          <a:bodyPr wrap="square" lIns="0" tIns="0" rIns="0" bIns="0" rtlCol="0" anchor="ctr"/>
          <a:lstStyle/>
          <a:p>
            <a:pPr algn="ctr" indent="0" marL="0">
              <a:buNone/>
            </a:pPr>
            <a:r>
              <a:rPr lang="en-US" sz="2000" b="1" dirty="0">
                <a:solidFill>
                  <a:schemeClr val="accent2"/>
                </a:solidFill>
              </a:rPr>
              <a:t>4</a:t>
            </a:r>
            <a:endParaRPr lang="en-US" sz="2000" dirty="0"/>
          </a:p>
        </p:txBody>
      </p:sp>
      <p:sp>
        <p:nvSpPr>
          <p:cNvPr id="14" name="Point 4 texte"/>
          <p:cNvSpPr txBox="1"/>
          <p:nvPr/>
        </p:nvSpPr>
        <p:spPr>
          <a:xfrm>
            <a:off x="7086600" y="2651760"/>
            <a:ext cx="4526280" cy="1143000"/>
          </a:xfrm>
          <a:prstGeom prst="rect">
            <a:avLst/>
          </a:prstGeom>
          <a:noFill/>
          <a:ln/>
        </p:spPr>
        <p:txBody>
          <a:bodyPr wrap="square" lIns="0" tIns="0" rIns="0" bIns="0" rtlCol="0" anchor="t"/>
          <a:lstStyle/>
          <a:p>
            <a:pPr indent="0" marL="0">
              <a:buNone/>
            </a:pPr>
            <a:r>
              <a:rPr lang="en-US" sz="1500" dirty="0">
                <a:solidFill>
                  <a:schemeClr val="tx1"/>
                </a:solidFill>
              </a:rPr>
              <a:t>Minimal APIs : paramètres liés par convention, </a:t>
            </a:r>
            <a:r>
              <a:rPr lang="en-US" sz="1500" dirty="0">
                <a:solidFill>
                  <a:schemeClr val="tx1"/>
                </a:solidFill>
                <a:latin typeface="Courier New" pitchFamily="34" charset="0"/>
                <a:ea typeface="Courier New" pitchFamily="34" charset="-122"/>
                <a:cs typeface="Courier New" pitchFamily="34" charset="-120"/>
              </a:rPr>
              <a:t>TypedResults</a:t>
            </a:r>
            <a:r>
              <a:rPr lang="en-US" sz="1500" dirty="0">
                <a:solidFill>
                  <a:schemeClr val="tx1"/>
                </a:solidFill>
              </a:rPr>
              <a:t>, validation, ProblemDetails.</a:t>
            </a:r>
            <a:endParaRPr lang="en-US" sz="1500" dirty="0"/>
          </a:p>
        </p:txBody>
      </p:sp>
      <p:sp>
        <p:nvSpPr>
          <p:cNvPr id="15" name="Point 5"/>
          <p:cNvSpPr/>
          <p:nvPr/>
        </p:nvSpPr>
        <p:spPr>
          <a:xfrm>
            <a:off x="548640" y="393192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000057"/>
          </a:solidFill>
          <a:ln w="12700">
            <a:solidFill>
              <a:srgbClr val="000057">
                <a:alpha val="0"/>
              </a:srgbClr>
            </a:solidFill>
            <a:prstDash val="solid"/>
          </a:ln>
        </p:spPr>
      </p:sp>
      <p:sp>
        <p:nvSpPr>
          <p:cNvPr id="16" name="Numéro 5"/>
          <p:cNvSpPr txBox="1"/>
          <p:nvPr/>
        </p:nvSpPr>
        <p:spPr>
          <a:xfrm>
            <a:off x="548640" y="3931920"/>
            <a:ext cx="731520" cy="630936"/>
          </a:xfrm>
          <a:prstGeom prst="rect">
            <a:avLst/>
          </a:prstGeom>
          <a:noFill/>
          <a:ln/>
        </p:spPr>
        <p:txBody>
          <a:bodyPr wrap="square" lIns="0" tIns="0" rIns="0" bIns="0" rtlCol="0" anchor="ctr"/>
          <a:lstStyle/>
          <a:p>
            <a:pPr algn="ctr" indent="0" marL="0">
              <a:buNone/>
            </a:pPr>
            <a:r>
              <a:rPr lang="en-US" sz="2000" b="1" dirty="0">
                <a:solidFill>
                  <a:schemeClr val="accent2"/>
                </a:solidFill>
              </a:rPr>
              <a:t>5</a:t>
            </a:r>
            <a:endParaRPr lang="en-US" sz="2000" dirty="0"/>
          </a:p>
        </p:txBody>
      </p:sp>
      <p:sp>
        <p:nvSpPr>
          <p:cNvPr id="17" name="Point 5 texte"/>
          <p:cNvSpPr txBox="1"/>
          <p:nvPr/>
        </p:nvSpPr>
        <p:spPr>
          <a:xfrm>
            <a:off x="1463040" y="3886200"/>
            <a:ext cx="4526280" cy="1143000"/>
          </a:xfrm>
          <a:prstGeom prst="rect">
            <a:avLst/>
          </a:prstGeom>
          <a:noFill/>
          <a:ln/>
        </p:spPr>
        <p:txBody>
          <a:bodyPr wrap="square" lIns="0" tIns="0" rIns="0" bIns="0" rtlCol="0" anchor="t"/>
          <a:lstStyle/>
          <a:p>
            <a:pPr indent="0" marL="0">
              <a:buNone/>
            </a:pPr>
            <a:r>
              <a:rPr lang="en-US" sz="1500" dirty="0">
                <a:solidFill>
                  <a:schemeClr val="tx1"/>
                </a:solidFill>
              </a:rPr>
              <a:t>EF Core traduit le LINQ en SQL : regardez les logs, méfiez-vous du N+1.</a:t>
            </a:r>
            <a:endParaRPr lang="en-US" sz="1500" dirty="0"/>
          </a:p>
        </p:txBody>
      </p:sp>
      <p:sp>
        <p:nvSpPr>
          <p:cNvPr id="18" name="Point 6"/>
          <p:cNvSpPr/>
          <p:nvPr/>
        </p:nvSpPr>
        <p:spPr>
          <a:xfrm>
            <a:off x="6172200" y="393192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000057"/>
          </a:solidFill>
          <a:ln w="12700">
            <a:solidFill>
              <a:srgbClr val="000057">
                <a:alpha val="0"/>
              </a:srgbClr>
            </a:solidFill>
            <a:prstDash val="solid"/>
          </a:ln>
        </p:spPr>
      </p:sp>
      <p:sp>
        <p:nvSpPr>
          <p:cNvPr id="19" name="Numéro 6"/>
          <p:cNvSpPr txBox="1"/>
          <p:nvPr/>
        </p:nvSpPr>
        <p:spPr>
          <a:xfrm>
            <a:off x="6172200" y="3931920"/>
            <a:ext cx="731520" cy="630936"/>
          </a:xfrm>
          <a:prstGeom prst="rect">
            <a:avLst/>
          </a:prstGeom>
          <a:noFill/>
          <a:ln/>
        </p:spPr>
        <p:txBody>
          <a:bodyPr wrap="square" lIns="0" tIns="0" rIns="0" bIns="0" rtlCol="0" anchor="ctr"/>
          <a:lstStyle/>
          <a:p>
            <a:pPr algn="ctr" indent="0" marL="0">
              <a:buNone/>
            </a:pPr>
            <a:r>
              <a:rPr lang="en-US" sz="2000" b="1" dirty="0">
                <a:solidFill>
                  <a:schemeClr val="accent2"/>
                </a:solidFill>
              </a:rPr>
              <a:t>6</a:t>
            </a:r>
            <a:endParaRPr lang="en-US" sz="2000" dirty="0"/>
          </a:p>
        </p:txBody>
      </p:sp>
      <p:sp>
        <p:nvSpPr>
          <p:cNvPr id="20" name="Point 6 texte"/>
          <p:cNvSpPr txBox="1"/>
          <p:nvPr/>
        </p:nvSpPr>
        <p:spPr>
          <a:xfrm>
            <a:off x="7086600" y="3886200"/>
            <a:ext cx="4526280" cy="1143000"/>
          </a:xfrm>
          <a:prstGeom prst="rect">
            <a:avLst/>
          </a:prstGeom>
          <a:noFill/>
          <a:ln/>
        </p:spPr>
        <p:txBody>
          <a:bodyPr wrap="square" lIns="0" tIns="0" rIns="0" bIns="0" rtlCol="0" anchor="t"/>
          <a:lstStyle/>
          <a:p>
            <a:pPr indent="0" marL="0">
              <a:buNone/>
            </a:pPr>
            <a:r>
              <a:rPr lang="en-US" sz="1500" dirty="0">
                <a:solidFill>
                  <a:schemeClr val="tx1"/>
                </a:solidFill>
              </a:rPr>
              <a:t>Entité suivie et </a:t>
            </a:r>
            <a:r>
              <a:rPr lang="en-US" sz="1500" dirty="0">
                <a:solidFill>
                  <a:schemeClr val="tx1"/>
                </a:solidFill>
                <a:latin typeface="Courier New" pitchFamily="34" charset="0"/>
                <a:ea typeface="Courier New" pitchFamily="34" charset="-122"/>
                <a:cs typeface="Courier New" pitchFamily="34" charset="-120"/>
              </a:rPr>
              <a:t>SaveChanges</a:t>
            </a:r>
            <a:r>
              <a:rPr lang="en-US" sz="1500" dirty="0">
                <a:solidFill>
                  <a:schemeClr val="tx1"/>
                </a:solidFill>
              </a:rPr>
              <a:t> pour écrire ; </a:t>
            </a:r>
            <a:r>
              <a:rPr lang="en-US" sz="1500" dirty="0">
                <a:solidFill>
                  <a:schemeClr val="tx1"/>
                </a:solidFill>
                <a:latin typeface="Courier New" pitchFamily="34" charset="0"/>
                <a:ea typeface="Courier New" pitchFamily="34" charset="-122"/>
                <a:cs typeface="Courier New" pitchFamily="34" charset="-120"/>
              </a:rPr>
              <a:t>AsNoTracking</a:t>
            </a:r>
            <a:r>
              <a:rPr lang="en-US" sz="1500" dirty="0">
                <a:solidFill>
                  <a:schemeClr val="tx1"/>
                </a:solidFill>
              </a:rPr>
              <a:t> pour lire seulement.</a:t>
            </a:r>
            <a:endParaRPr lang="en-US" sz="15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6766560" cy="1097280"/>
          </a:xfrm>
          <a:prstGeom prst="rect">
            <a:avLst/>
          </a:prstGeom>
          <a:noFill/>
          <a:ln/>
        </p:spPr>
        <p:txBody>
          <a:bodyPr wrap="square" lIns="0" tIns="0" rIns="0" bIns="0" rtlCol="0" anchor="ctr"/>
          <a:lstStyle/>
          <a:p>
            <a:pPr algn="l" indent="0" marL="0">
              <a:buNone/>
            </a:pPr>
            <a:r>
              <a:rPr lang="en-US" sz="4400" b="1" dirty="0">
                <a:solidFill>
                  <a:schemeClr val="bg1"/>
                </a:solidFill>
              </a:rPr>
              <a:t>Place au TP-02</a:t>
            </a:r>
            <a:endParaRPr lang="en-US" sz="4400" dirty="0"/>
          </a:p>
        </p:txBody>
      </p:sp>
      <p:pic>
        <p:nvPicPr>
          <p:cNvPr id="3" name="Accroche" descr="À vous de jouer">    </p:cNvPr>
          <p:cNvPicPr>
            <a:picLocks noChangeAspect="1"/>
          </p:cNvPicPr>
          <p:nvPr/>
        </p:nvPicPr>
        <p:blipFill>
          <a:blip r:embed="rId1"/>
          <a:stretch>
            <a:fillRect/>
          </a:stretch>
        </p:blipFill>
        <p:spPr>
          <a:xfrm>
            <a:off x="685800" y="3154680"/>
            <a:ext cx="3840480" cy="1182414"/>
          </a:xfrm>
          <a:prstGeom prst="rect">
            <a:avLst/>
          </a:prstGeom>
        </p:spPr>
      </p:pic>
      <p:sp>
        <p:nvSpPr>
          <p:cNvPr id="4" name="Text 0"/>
          <p:cNvSpPr/>
          <p:nvPr>
            <p:ph idx="101" type="body" hasCustomPrompt="1"/>
          </p:nvPr>
        </p:nvSpPr>
        <p:spPr>
          <a:xfrm>
            <a:off x="731520" y="4343400"/>
            <a:ext cx="6400800" cy="1188720"/>
          </a:xfrm>
          <a:prstGeom prst="rect">
            <a:avLst/>
          </a:prstGeom>
          <a:noFill/>
          <a:ln/>
        </p:spPr>
        <p:txBody>
          <a:bodyPr wrap="square" lIns="0" tIns="0" rIns="0" bIns="0" rtlCol="0" anchor="t"/>
          <a:lstStyle/>
          <a:p>
            <a:pPr algn="l" indent="0" marL="0">
              <a:buNone/>
            </a:pPr>
            <a:r>
              <a:rPr lang="en-US" sz="1600" dirty="0">
                <a:solidFill>
                  <a:schemeClr val="bg2"/>
                </a:solidFill>
              </a:rPr>
              <a:t>tp-02-web-ef-core/enonce.html : l'API de tickets, d'abord en mémoire, puis sur SQL Server. Vérifiez d'abord que votre instance SQL Server répond.</a:t>
            </a:r>
            <a:endParaRPr lang="en-US" sz="1600" dirty="0"/>
          </a:p>
        </p:txBody>
      </p:sp>
      <p:sp>
        <p:nvSpPr>
          <p:cNvPr id="5" name="Hexagone décoratif"/>
          <p:cNvSpPr/>
          <p:nvPr/>
        </p:nvSpPr>
        <p:spPr>
          <a:xfrm>
            <a:off x="10058400" y="274320"/>
            <a:ext cx="2011680" cy="1742166"/>
          </a:xfrm>
          <a:custGeom>
            <a:avLst/>
            <a:gdLst/>
            <a:ahLst/>
            <a:cxnLst/>
            <a:rect l="l" t="t" r="r" b="b"/>
            <a:pathLst>
              <a:path w="2011680" h="1742166">
                <a:moveTo>
                  <a:pt x="0" y="871083"/>
                </a:moveTo>
                <a:lnTo>
                  <a:pt x="502920" y="0"/>
                </a:lnTo>
                <a:lnTo>
                  <a:pt x="1508760" y="0"/>
                </a:lnTo>
                <a:lnTo>
                  <a:pt x="2011680" y="871083"/>
                </a:lnTo>
                <a:lnTo>
                  <a:pt x="1508760" y="1742166"/>
                </a:lnTo>
                <a:lnTo>
                  <a:pt x="502920" y="1742166"/>
                </a:lnTo>
                <a:close/>
              </a:path>
            </a:pathLst>
          </a:custGeom>
          <a:solidFill>
            <a:srgbClr val="000D78">
              <a:alpha val="90000"/>
            </a:srgbClr>
          </a:solidFill>
          <a:ln w="12700">
            <a:solidFill>
              <a:srgbClr val="000D78">
                <a:alpha val="0"/>
              </a:srgbClr>
            </a:solidFill>
            <a:prstDash val="solid"/>
          </a:ln>
        </p:spPr>
      </p:sp>
      <p:sp>
        <p:nvSpPr>
          <p:cNvPr id="6" name="Hexagone décoratif"/>
          <p:cNvSpPr/>
          <p:nvPr/>
        </p:nvSpPr>
        <p:spPr>
          <a:xfrm>
            <a:off x="11155680" y="2103120"/>
            <a:ext cx="1463040" cy="1267030"/>
          </a:xfrm>
          <a:custGeom>
            <a:avLst/>
            <a:gdLst/>
            <a:ahLst/>
            <a:cxnLst/>
            <a:rect l="l" t="t" r="r" b="b"/>
            <a:pathLst>
              <a:path w="1463040" h="1267030">
                <a:moveTo>
                  <a:pt x="0" y="633515"/>
                </a:moveTo>
                <a:lnTo>
                  <a:pt x="365760" y="0"/>
                </a:lnTo>
                <a:lnTo>
                  <a:pt x="1097280" y="0"/>
                </a:lnTo>
                <a:lnTo>
                  <a:pt x="1463040" y="633515"/>
                </a:lnTo>
                <a:lnTo>
                  <a:pt x="1097280" y="1267030"/>
                </a:lnTo>
                <a:lnTo>
                  <a:pt x="365760" y="1267030"/>
                </a:lnTo>
                <a:close/>
              </a:path>
            </a:pathLst>
          </a:custGeom>
          <a:solidFill>
            <a:srgbClr val="001793">
              <a:alpha val="65000"/>
            </a:srgbClr>
          </a:solidFill>
          <a:ln w="12700">
            <a:solidFill>
              <a:srgbClr val="001793">
                <a:alpha val="0"/>
              </a:srgbClr>
            </a:solidFill>
            <a:prstDash val="solid"/>
          </a:ln>
        </p:spPr>
      </p:sp>
      <p:sp>
        <p:nvSpPr>
          <p:cNvPr id="7" name="Hexagone décoratif"/>
          <p:cNvSpPr/>
          <p:nvPr/>
        </p:nvSpPr>
        <p:spPr>
          <a:xfrm>
            <a:off x="9509760" y="4754880"/>
            <a:ext cx="1188720" cy="1029462"/>
          </a:xfrm>
          <a:custGeom>
            <a:avLst/>
            <a:gdLst/>
            <a:ahLst/>
            <a:cxnLst/>
            <a:rect l="l" t="t" r="r" b="b"/>
            <a:pathLst>
              <a:path w="1188720" h="1029462">
                <a:moveTo>
                  <a:pt x="0" y="514731"/>
                </a:moveTo>
                <a:lnTo>
                  <a:pt x="297180" y="0"/>
                </a:lnTo>
                <a:lnTo>
                  <a:pt x="891540" y="0"/>
                </a:lnTo>
                <a:lnTo>
                  <a:pt x="1188720" y="514731"/>
                </a:lnTo>
                <a:lnTo>
                  <a:pt x="891540" y="1029462"/>
                </a:lnTo>
                <a:lnTo>
                  <a:pt x="297180" y="1029462"/>
                </a:lnTo>
                <a:close/>
              </a:path>
            </a:pathLst>
          </a:custGeom>
          <a:solidFill>
            <a:srgbClr val="001793">
              <a:alpha val="50000"/>
            </a:srgbClr>
          </a:solidFill>
          <a:ln w="12700">
            <a:solidFill>
              <a:srgbClr val="001793">
                <a:alpha val="0"/>
              </a:srgbClr>
            </a:solidFill>
            <a:prstDash val="solid"/>
          </a:ln>
        </p:spPr>
      </p:sp>
      <p:sp>
        <p:nvSpPr>
          <p:cNvPr id="8" name="Hexagone jaune"/>
          <p:cNvSpPr/>
          <p:nvPr/>
        </p:nvSpPr>
        <p:spPr>
          <a:xfrm>
            <a:off x="10881360" y="5257800"/>
            <a:ext cx="685800" cy="593920"/>
          </a:xfrm>
          <a:custGeom>
            <a:avLst/>
            <a:gdLst/>
            <a:ahLst/>
            <a:cxnLst/>
            <a:rect l="l" t="t" r="r" b="b"/>
            <a:pathLst>
              <a:path w="685800" h="593920">
                <a:moveTo>
                  <a:pt x="0" y="296960"/>
                </a:moveTo>
                <a:lnTo>
                  <a:pt x="171450" y="0"/>
                </a:lnTo>
                <a:lnTo>
                  <a:pt x="514350" y="0"/>
                </a:lnTo>
                <a:lnTo>
                  <a:pt x="685800" y="296960"/>
                </a:lnTo>
                <a:lnTo>
                  <a:pt x="514350" y="593920"/>
                </a:lnTo>
                <a:lnTo>
                  <a:pt x="171450" y="593920"/>
                </a:lnTo>
                <a:close/>
              </a:path>
            </a:pathLst>
          </a:custGeom>
          <a:solidFill>
            <a:srgbClr val="FFFF00"/>
          </a:solidFill>
          <a:ln w="12700">
            <a:solidFill>
              <a:srgbClr val="FFFF00">
                <a:alpha val="0"/>
              </a:srgbClr>
            </a:solidFill>
            <a:prstDash val="solid"/>
          </a:ln>
        </p:spPr>
      </p:sp>
      <p:pic>
        <p:nvPicPr>
          <p:cNvPr id="9" name="Logo" descr="Logo 3B Studio">    </p:cNvPr>
          <p:cNvPicPr>
            <a:picLocks noChangeAspect="1"/>
          </p:cNvPicPr>
          <p:nvPr/>
        </p:nvPicPr>
        <p:blipFill>
          <a:blip r:embed="rId2"/>
          <a:stretch>
            <a:fillRect/>
          </a:stretch>
        </p:blipFill>
        <p:spPr>
          <a:xfrm>
            <a:off x="7315200" y="2148840"/>
            <a:ext cx="2560320" cy="2007291"/>
          </a:xfrm>
          <a:prstGeom prst="rect">
            <a:avLst/>
          </a:prstGeom>
        </p:spPr>
      </p:pic>
    </p:spTree>
  </p:cSld>
  <p:clrMapOvr>
    <a:masterClrMapping/>
  </p:clrMapOvr>
</p:sld>
</file>

<file path=ppt/theme/theme1.xml><?xml version="1.0" encoding="utf-8"?>
<a:theme xmlns:a="http://schemas.openxmlformats.org/drawingml/2006/main" name="3B Studio">
  <a:themeElements>
    <a:clrScheme name="3B Studio">
      <a:dk1>
        <a:srgbClr val="110E2D"/>
      </a:dk1>
      <a:lt1>
        <a:srgbClr val="FFFFFF"/>
      </a:lt1>
      <a:dk2>
        <a:srgbClr val="000057"/>
      </a:dk2>
      <a:lt2>
        <a:srgbClr val="E1EAF1"/>
      </a:lt2>
      <a:accent1>
        <a:srgbClr val="0040FF"/>
      </a:accent1>
      <a:accent2>
        <a:srgbClr val="FFFF00"/>
      </a:accent2>
      <a:accent3>
        <a:srgbClr val="001793"/>
      </a:accent3>
      <a:accent4>
        <a:srgbClr val="000D78"/>
      </a:accent4>
      <a:accent5>
        <a:srgbClr val="00D66B"/>
      </a:accent5>
      <a:accent6>
        <a:srgbClr val="FF3749"/>
      </a:accent6>
      <a:hlink>
        <a:srgbClr val="0040FF"/>
      </a:hlink>
      <a:folHlink>
        <a:srgbClr val="000092"/>
      </a:folHlink>
    </a:clrScheme>
    <a:fontScheme name="3B Studio">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Black Blue Bees - 3B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 2 · Serveur web et Entity Framework Core</dc:title>
  <dc:subject>Cours 2 · Serveur web et Entity Framework Core</dc:subject>
  <dc:creator>3B Studio</dc:creator>
  <cp:lastModifiedBy>3B Studio</cp:lastModifiedBy>
  <cp:revision>1</cp:revision>
  <dcterms:created xsi:type="dcterms:W3CDTF">2026-10-19T08:12:42Z</dcterms:created>
  <dcterms:modified xsi:type="dcterms:W3CDTF">2026-10-19T08:12:42Z</dcterms:modified>
</cp:coreProperties>
</file>