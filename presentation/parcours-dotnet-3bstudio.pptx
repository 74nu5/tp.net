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b1b2075-4b8d-85ea-c25a-7ff801868015}">
          <p14:sldIdLst>
            <p14:sldId id="256"/>
            <p14:sldId id="257"/>
            <p14:sldId id="258"/>
            <p14:sldId id="259"/>
            <p14:sldId id="260"/>
            <p14:sldId id="261"/>
          </p14:sldIdLst>
        </p14:section>
        <p14:section name="TP-01" id="{d822071b-2d8e-30ac-3ef4-be911099985b}">
          <p14:sldIdLst>
            <p14:sldId id="262"/>
            <p14:sldId id="263"/>
            <p14:sldId id="264"/>
          </p14:sldIdLst>
        </p14:section>
        <p14:section name="TP-02" id="{f9ef1507-8302-1731-ef18-9c3329aa793e}">
          <p14:sldIdLst>
            <p14:sldId id="265"/>
            <p14:sldId id="266"/>
            <p14:sldId id="267"/>
          </p14:sldIdLst>
        </p14:section>
        <p14:section name="TP-03" id="{ac02259b-9b93-2657-8d5b-b446b4eaa7d7}">
          <p14:sldIdLst>
            <p14:sldId id="268"/>
            <p14:sldId id="269"/>
            <p14:sldId id="270"/>
          </p14:sldIdLst>
        </p14:section>
        <p14:section name="TP-04" id="{7c5e813e-3a5b-1c3b-5fec-738f9d3aa7c1}">
          <p14:sldIdLst>
            <p14:sldId id="271"/>
            <p14:sldId id="272"/>
            <p14:sldId id="273"/>
          </p14:sldIdLst>
        </p14:section>
        <p14:section name="TP-05" id="{9d0cb1bd-ac1e-05db-b9f1-d6c31071e9b1}">
          <p14:sldIdLst>
            <p14:sldId id="274"/>
            <p14:sldId id="275"/>
            <p14:sldId id="276"/>
          </p14:sldIdLst>
        </p14:section>
        <p14:section name="Conclusion" id="{fb179e01-9829-9bd6-5b8a-66751970d1cd}">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57"/>
                </a:solidFill>
                <a:latin typeface="+mn-lt"/>
              </a:defRPr>
            </a:pPr>
            <a:r>
              <a:rPr sz="1400" b="0" i="0" u="none" strike="noStrike">
                <a:solidFill>
                  <a:srgbClr val="000057"/>
                </a:solidFill>
                <a:latin typeface="+mn-lt"/>
              </a:rPr>
              <a:t>Durée de chaque exercice (minutes)</a:t>
            </a:r>
          </a:p>
        </c:rich>
      </c:tx>
      <c:layout/>
      <c:overlay val="0"/>
    </c:title>
    <c:autoTitleDeleted val="0"/>
    <c:plotArea>
      <c:layout/>
      <c:barChart>
        <c:barDir val="bar"/>
        <c:grouping val="clustered"/>
        <c:varyColors val="0"/>
        <c:ser>
          <c:idx val="0"/>
          <c:order val="0"/>
          <c:tx>
            <c:strRef>
              <c:f>Sheet1!$B$1</c:f>
              <c:strCache>
                <c:ptCount val="1"/>
                <c:pt idx="0">
                  <c:v>Minutes</c:v>
                </c:pt>
              </c:strCache>
            </c:strRef>
          </c:tx>
          <c:spPr>
            <a:solidFill>
              <a:srgbClr val="0040FF"/>
            </a:solidFill>
            <a:effectLst/>
          </c:spPr>
          <c:invertIfNegative val="0"/>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cat>
            <c:multiLvlStrRef>
              <c:f>Sheet1!$A$2:$A$8</c:f>
              <c:multiLvlStrCache>
                <c:ptCount val="7"/>
                <c:lvl>
                  <c:pt idx="0">
                    <c:v>1. SDK et CLI</c:v>
                  </c:pt>
                  <c:pt idx="1">
                    <c:v>2. NuGet</c:v>
                  </c:pt>
                  <c:pt idx="2">
                    <c:v>3. class, struct, record</c:v>
                  </c:pt>
                  <c:pt idx="3">
                    <c:v>4. Pattern matching</c:v>
                  </c:pt>
                  <c:pt idx="4">
                    <c:v>5. LINQ</c:v>
                  </c:pt>
                  <c:pt idx="5">
                    <c:v>6. async/await</c:v>
                  </c:pt>
                  <c:pt idx="6">
                    <c:v>7. Ses propres tests</c:v>
                  </c:pt>
                </c:lvl>
              </c:multiLvlStrCache>
            </c:multiLvlStrRef>
          </c:cat>
          <c:val>
            <c:numRef>
              <c:f>Sheet1!$B$2:$B$8</c:f>
              <c:numCache>
                <c:formatCode>General</c:formatCode>
                <c:ptCount val="7"/>
                <c:pt idx="0">
                  <c:v>15</c:v>
                </c:pt>
                <c:pt idx="1">
                  <c:v>15</c:v>
                </c:pt>
                <c:pt idx="2">
                  <c:v>30</c:v>
                </c:pt>
                <c:pt idx="3">
                  <c:v>20</c:v>
                </c:pt>
                <c:pt idx="4">
                  <c:v>40</c:v>
                </c:pt>
                <c:pt idx="5">
                  <c:v>30</c:v>
                </c:pt>
                <c:pt idx="6">
                  <c:v>30</c:v>
                </c:pt>
              </c:numCache>
            </c:numRef>
          </c:val>
        </c:ser>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10E2D"/>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57"/>
                </a:solidFill>
                <a:latin typeface="+mn-lt"/>
              </a:defRPr>
            </a:pPr>
            <a:r>
              <a:rPr sz="1400" b="0" i="0" u="none" strike="noStrike">
                <a:solidFill>
                  <a:srgbClr val="000057"/>
                </a:solidFill>
                <a:latin typeface="+mn-lt"/>
              </a:rPr>
              <a:t>Durée de chaque exercice (minutes)</a:t>
            </a:r>
          </a:p>
        </c:rich>
      </c:tx>
      <c:layout/>
      <c:overlay val="0"/>
    </c:title>
    <c:autoTitleDeleted val="0"/>
    <c:plotArea>
      <c:layout/>
      <c:barChart>
        <c:barDir val="bar"/>
        <c:grouping val="clustered"/>
        <c:varyColors val="0"/>
        <c:ser>
          <c:idx val="0"/>
          <c:order val="0"/>
          <c:tx>
            <c:strRef>
              <c:f>Sheet1!$B$1</c:f>
              <c:strCache>
                <c:ptCount val="1"/>
                <c:pt idx="0">
                  <c:v>Minutes</c:v>
                </c:pt>
              </c:strCache>
            </c:strRef>
          </c:tx>
          <c:spPr>
            <a:solidFill>
              <a:srgbClr val="0040FF"/>
            </a:solidFill>
            <a:effectLst/>
          </c:spPr>
          <c:invertIfNegative val="0"/>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cat>
            <c:multiLvlStrRef>
              <c:f>Sheet1!$A$2:$A$9</c:f>
              <c:multiLvlStrCache>
                <c:ptCount val="8"/>
                <c:lvl>
                  <c:pt idx="0">
                    <c:v>1. Middleware</c:v>
                  </c:pt>
                  <c:pt idx="1">
                    <c:v>2. Injection de dépendances</c:v>
                  </c:pt>
                  <c:pt idx="2">
                    <c:v>3. Configuration</c:v>
                  </c:pt>
                  <c:pt idx="3">
                    <c:v>4. Minimal APIs</c:v>
                  </c:pt>
                  <c:pt idx="4">
                    <c:v>5. EF Core : modèle</c:v>
                  </c:pt>
                  <c:pt idx="5">
                    <c:v>6. Requêtes et N+1</c:v>
                  </c:pt>
                  <c:pt idx="6">
                    <c:v>7. Écritures</c:v>
                  </c:pt>
                  <c:pt idx="7">
                    <c:v>8. Tests d'intégration</c:v>
                  </c:pt>
                </c:lvl>
              </c:multiLvlStrCache>
            </c:multiLvlStrRef>
          </c:cat>
          <c:val>
            <c:numRef>
              <c:f>Sheet1!$B$2:$B$9</c:f>
              <c:numCache>
                <c:formatCode>General</c:formatCode>
                <c:ptCount val="8"/>
                <c:pt idx="0">
                  <c:v>15</c:v>
                </c:pt>
                <c:pt idx="1">
                  <c:v>15</c:v>
                </c:pt>
                <c:pt idx="2">
                  <c:v>15</c:v>
                </c:pt>
                <c:pt idx="3">
                  <c:v>35</c:v>
                </c:pt>
                <c:pt idx="4">
                  <c:v>35</c:v>
                </c:pt>
                <c:pt idx="5">
                  <c:v>30</c:v>
                </c:pt>
                <c:pt idx="6">
                  <c:v>20</c:v>
                </c:pt>
                <c:pt idx="7">
                  <c:v>15</c:v>
                </c:pt>
              </c:numCache>
            </c:numRef>
          </c:val>
        </c:ser>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10E2D"/>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57"/>
                </a:solidFill>
                <a:latin typeface="+mn-lt"/>
              </a:defRPr>
            </a:pPr>
            <a:r>
              <a:rPr sz="1400" b="0" i="0" u="none" strike="noStrike">
                <a:solidFill>
                  <a:srgbClr val="000057"/>
                </a:solidFill>
                <a:latin typeface="+mn-lt"/>
              </a:rPr>
              <a:t>Durée de chaque exercice (minutes)</a:t>
            </a:r>
          </a:p>
        </c:rich>
      </c:tx>
      <c:layout/>
      <c:overlay val="0"/>
    </c:title>
    <c:autoTitleDeleted val="0"/>
    <c:plotArea>
      <c:layout/>
      <c:barChart>
        <c:barDir val="bar"/>
        <c:grouping val="clustered"/>
        <c:varyColors val="0"/>
        <c:ser>
          <c:idx val="0"/>
          <c:order val="0"/>
          <c:tx>
            <c:strRef>
              <c:f>Sheet1!$B$1</c:f>
              <c:strCache>
                <c:ptCount val="1"/>
                <c:pt idx="0">
                  <c:v>Minutes</c:v>
                </c:pt>
              </c:strCache>
            </c:strRef>
          </c:tx>
          <c:spPr>
            <a:solidFill>
              <a:srgbClr val="0040FF"/>
            </a:solidFill>
            <a:effectLst/>
          </c:spPr>
          <c:invertIfNegative val="0"/>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cat>
            <c:multiLvlStrRef>
              <c:f>Sheet1!$A$2:$A$8</c:f>
              <c:multiLvlStrCache>
                <c:ptCount val="7"/>
                <c:lvl>
                  <c:pt idx="0">
                    <c:v>1. Anatomie</c:v>
                  </c:pt>
                  <c:pt idx="1">
                    <c:v>2. Composants</c:v>
                  </c:pt>
                  <c:pt idx="2">
                    <c:v>3. Cycle de vie</c:v>
                  </c:pt>
                  <c:pt idx="3">
                    <c:v>4. Modes de rendu</c:v>
                  </c:pt>
                  <c:pt idx="4">
                    <c:v>5. EditForm</c:v>
                  </c:pt>
                  <c:pt idx="5">
                    <c:v>6. QuickGrid</c:v>
                  </c:pt>
                  <c:pt idx="6">
                    <c:v>7. CSS isolé et JS</c:v>
                  </c:pt>
                </c:lvl>
              </c:multiLvlStrCache>
            </c:multiLvlStrRef>
          </c:cat>
          <c:val>
            <c:numRef>
              <c:f>Sheet1!$B$2:$B$8</c:f>
              <c:numCache>
                <c:formatCode>General</c:formatCode>
                <c:ptCount val="7"/>
                <c:pt idx="0">
                  <c:v>15</c:v>
                </c:pt>
                <c:pt idx="1">
                  <c:v>30</c:v>
                </c:pt>
                <c:pt idx="2">
                  <c:v>30</c:v>
                </c:pt>
                <c:pt idx="3">
                  <c:v>40</c:v>
                </c:pt>
                <c:pt idx="4">
                  <c:v>30</c:v>
                </c:pt>
                <c:pt idx="5">
                  <c:v>20</c:v>
                </c:pt>
                <c:pt idx="6">
                  <c:v>15</c:v>
                </c:pt>
              </c:numCache>
            </c:numRef>
          </c:val>
        </c:ser>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10E2D"/>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57"/>
                </a:solidFill>
                <a:latin typeface="+mn-lt"/>
              </a:defRPr>
            </a:pPr>
            <a:r>
              <a:rPr sz="1400" b="0" i="0" u="none" strike="noStrike">
                <a:solidFill>
                  <a:srgbClr val="000057"/>
                </a:solidFill>
                <a:latin typeface="+mn-lt"/>
              </a:rPr>
              <a:t>Durée de chaque exercice (minutes)</a:t>
            </a:r>
          </a:p>
        </c:rich>
      </c:tx>
      <c:layout/>
      <c:overlay val="0"/>
    </c:title>
    <c:autoTitleDeleted val="0"/>
    <c:plotArea>
      <c:layout/>
      <c:barChart>
        <c:barDir val="bar"/>
        <c:grouping val="clustered"/>
        <c:varyColors val="0"/>
        <c:ser>
          <c:idx val="0"/>
          <c:order val="0"/>
          <c:tx>
            <c:strRef>
              <c:f>Sheet1!$B$1</c:f>
              <c:strCache>
                <c:ptCount val="1"/>
                <c:pt idx="0">
                  <c:v>Minutes</c:v>
                </c:pt>
              </c:strCache>
            </c:strRef>
          </c:tx>
          <c:spPr>
            <a:solidFill>
              <a:srgbClr val="0040FF"/>
            </a:solidFill>
            <a:effectLst/>
          </c:spPr>
          <c:invertIfNegative val="0"/>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cat>
            <c:multiLvlStrRef>
              <c:f>Sheet1!$A$2:$A$8</c:f>
              <c:multiLvlStrCache>
                <c:ptCount val="7"/>
                <c:lvl>
                  <c:pt idx="0">
                    <c:v>1. JWT</c:v>
                  </c:pt>
                  <c:pt idx="1">
                    <c:v>2. Policies</c:v>
                  </c:pt>
                  <c:pt idx="2">
                    <c:v>3. Front authentifié</c:v>
                  </c:pt>
                  <c:pt idx="3">
                    <c:v>4. État partagé</c:v>
                  </c:pt>
                  <c:pt idx="4">
                    <c:v>5. [PersistentState]</c:v>
                  </c:pt>
                  <c:pt idx="5">
                    <c:v>6. Bibliothèque</c:v>
                  </c:pt>
                  <c:pt idx="6">
                    <c:v>7. bUnit</c:v>
                  </c:pt>
                </c:lvl>
              </c:multiLvlStrCache>
            </c:multiLvlStrRef>
          </c:cat>
          <c:val>
            <c:numRef>
              <c:f>Sheet1!$B$2:$B$8</c:f>
              <c:numCache>
                <c:formatCode>General</c:formatCode>
                <c:ptCount val="7"/>
                <c:pt idx="0">
                  <c:v>15</c:v>
                </c:pt>
                <c:pt idx="1">
                  <c:v>30</c:v>
                </c:pt>
                <c:pt idx="2">
                  <c:v>40</c:v>
                </c:pt>
                <c:pt idx="3">
                  <c:v>20</c:v>
                </c:pt>
                <c:pt idx="4">
                  <c:v>15</c:v>
                </c:pt>
                <c:pt idx="5">
                  <c:v>20</c:v>
                </c:pt>
                <c:pt idx="6">
                  <c:v>30</c:v>
                </c:pt>
              </c:numCache>
            </c:numRef>
          </c:val>
        </c:ser>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10E2D"/>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57"/>
                </a:solidFill>
                <a:latin typeface="+mn-lt"/>
              </a:defRPr>
            </a:pPr>
            <a:r>
              <a:rPr sz="1400" b="0" i="0" u="none" strike="noStrike">
                <a:solidFill>
                  <a:srgbClr val="000057"/>
                </a:solidFill>
                <a:latin typeface="+mn-lt"/>
              </a:rPr>
              <a:t>Durée de chaque exercice (minutes)</a:t>
            </a:r>
          </a:p>
        </c:rich>
      </c:tx>
      <c:layout/>
      <c:overlay val="0"/>
    </c:title>
    <c:autoTitleDeleted val="0"/>
    <c:plotArea>
      <c:layout/>
      <c:barChart>
        <c:barDir val="bar"/>
        <c:grouping val="clustered"/>
        <c:varyColors val="0"/>
        <c:ser>
          <c:idx val="0"/>
          <c:order val="0"/>
          <c:tx>
            <c:strRef>
              <c:f>Sheet1!$B$1</c:f>
              <c:strCache>
                <c:ptCount val="1"/>
                <c:pt idx="0">
                  <c:v>Minutes</c:v>
                </c:pt>
              </c:strCache>
            </c:strRef>
          </c:tx>
          <c:spPr>
            <a:solidFill>
              <a:srgbClr val="0040FF"/>
            </a:solidFill>
            <a:effectLst/>
          </c:spPr>
          <c:invertIfNegative val="0"/>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cat>
            <c:multiLvlStrRef>
              <c:f>Sheet1!$A$2:$A$7</c:f>
              <c:multiLvlStrCache>
                <c:ptCount val="6"/>
                <c:lvl>
                  <c:pt idx="0">
                    <c:v>1. Débogueur</c:v>
                  </c:pt>
                  <c:pt idx="1">
                    <c:v>2. Stack trace</c:v>
                  </c:pt>
                  <c:pt idx="2">
                    <c:v>3. Logs</c:v>
                  </c:pt>
                  <c:pt idx="3">
                    <c:v>4. Aspire</c:v>
                  </c:pt>
                  <c:pt idx="4">
                    <c:v>5. C# 15 : unions</c:v>
                  </c:pt>
                  <c:pt idx="5">
                    <c:v>6. Trois anomalies</c:v>
                  </c:pt>
                </c:lvl>
              </c:multiLvlStrCache>
            </c:multiLvlStrRef>
          </c:cat>
          <c:val>
            <c:numRef>
              <c:f>Sheet1!$B$2:$B$7</c:f>
              <c:numCache>
                <c:formatCode>General</c:formatCode>
                <c:ptCount val="6"/>
                <c:pt idx="0">
                  <c:v>30</c:v>
                </c:pt>
                <c:pt idx="1">
                  <c:v>15</c:v>
                </c:pt>
                <c:pt idx="2">
                  <c:v>15</c:v>
                </c:pt>
                <c:pt idx="3">
                  <c:v>40</c:v>
                </c:pt>
                <c:pt idx="4">
                  <c:v>20</c:v>
                </c:pt>
                <c:pt idx="5">
                  <c:v>60</c:v>
                </c:pt>
              </c:numCache>
            </c:numRef>
          </c:val>
        </c:ser>
        <c:dLbls>
          <c:numFmt formatCode="#,##0" sourceLinked="0"/>
          <c:txPr>
            <a:bodyPr/>
            <a:lstStyle/>
            <a:p>
              <a:pPr>
                <a:defRPr b="0" i="0" strike="noStrike" sz="1200" u="none">
                  <a:solidFill>
                    <a:srgbClr val="00005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10E2D"/>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57"/>
                </a:solidFill>
                <a:latin typeface="+mn-lt"/>
              </a:defRPr>
            </a:pPr>
            <a:r>
              <a:rPr sz="1400" b="0" i="0" u="none" strike="noStrike">
                <a:solidFill>
                  <a:srgbClr val="000057"/>
                </a:solidFill>
                <a:latin typeface="+mn-lt"/>
              </a:rPr>
              <a:t>Tests automatiques par TP, dans les solutions</a:t>
            </a:r>
          </a:p>
        </c:rich>
      </c:tx>
      <c:layout/>
      <c:overlay val="0"/>
    </c:title>
    <c:autoTitleDeleted val="0"/>
    <c:plotArea>
      <c:layout/>
      <c:barChart>
        <c:barDir val="col"/>
        <c:grouping val="clustered"/>
        <c:varyColors val="0"/>
        <c:ser>
          <c:idx val="0"/>
          <c:order val="0"/>
          <c:tx>
            <c:strRef>
              <c:f>Sheet1!$B$1</c:f>
              <c:strCache>
                <c:ptCount val="1"/>
                <c:pt idx="0">
                  <c:v>Tests</c:v>
                </c:pt>
              </c:strCache>
            </c:strRef>
          </c:tx>
          <c:spPr>
            <a:solidFill>
              <a:srgbClr val="000057"/>
            </a:solidFill>
            <a:effectLst/>
          </c:spPr>
          <c:invertIfNegative val="0"/>
          <c:dLbls>
            <c:numFmt formatCode="#,##0" sourceLinked="0"/>
            <c:txPr>
              <a:bodyPr/>
              <a:lstStyle/>
              <a:p>
                <a:pPr>
                  <a:defRPr b="0" i="0" strike="noStrike" sz="1400" u="none">
                    <a:solidFill>
                      <a:srgbClr val="000057"/>
                    </a:solidFill>
                    <a:latin typeface="+mn-lt"/>
                  </a:defRPr>
                </a:pPr>
              </a:p>
            </c:txPr>
            <c:showLegendKey val="0"/>
            <c:showVal val="1"/>
            <c:showCatName val="0"/>
            <c:showSerName val="0"/>
            <c:showPercent val="0"/>
            <c:showBubbleSize val="0"/>
            <c:showLeaderLines val="0"/>
          </c:dLbls>
          <c:cat>
            <c:multiLvlStrRef>
              <c:f>Sheet1!$A$2:$A$6</c:f>
              <c:multiLvlStrCache>
                <c:ptCount val="5"/>
                <c:lvl>
                  <c:pt idx="0">
                    <c:v>TP-01</c:v>
                  </c:pt>
                  <c:pt idx="1">
                    <c:v>TP-02</c:v>
                  </c:pt>
                  <c:pt idx="2">
                    <c:v>TP-03</c:v>
                  </c:pt>
                  <c:pt idx="3">
                    <c:v>TP-04</c:v>
                  </c:pt>
                  <c:pt idx="4">
                    <c:v>TP-05</c:v>
                  </c:pt>
                </c:lvl>
              </c:multiLvlStrCache>
            </c:multiLvlStrRef>
          </c:cat>
          <c:val>
            <c:numRef>
              <c:f>Sheet1!$B$2:$B$6</c:f>
              <c:numCache>
                <c:formatCode>General</c:formatCode>
                <c:ptCount val="5"/>
                <c:pt idx="0">
                  <c:v>61</c:v>
                </c:pt>
                <c:pt idx="1">
                  <c:v>36</c:v>
                </c:pt>
                <c:pt idx="2">
                  <c:v>61</c:v>
                </c:pt>
                <c:pt idx="3">
                  <c:v>77</c:v>
                </c:pt>
                <c:pt idx="4">
                  <c:v>27</c:v>
                </c:pt>
              </c:numCache>
            </c:numRef>
          </c:val>
        </c:ser>
        <c:dLbls>
          <c:numFmt formatCode="#,##0" sourceLinked="0"/>
          <c:txPr>
            <a:bodyPr/>
            <a:lstStyle/>
            <a:p>
              <a:pPr>
                <a:defRPr b="0" i="0" strike="noStrike" sz="1400" u="none">
                  <a:solidFill>
                    <a:srgbClr val="00005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10E2D"/>
                </a:solidFill>
                <a:latin typeface="+mn-lt"/>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 Cette semaine, le matin est consacré aux TP .NET, l'après-midi aux anomalies sur nos applis. L'objectif n'est pas de tout maîtriser, mais d'avoir un vernis global : savoir où chercher et comment ça marche.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format : des exercices courts, autovalidés par des tests. On se valide soi-même : quand les tests sont verts, l'exercice est fini. L'appli Tickets sert de fil rouge du mardi au vendredi.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Lundi les bases du langage, mardi le serveur et la base de données, mercredi et jeudi Blazor, vendredi le débogage en bonus. Un TP pas fini n'empêche pas de faire le suivant : chaque départ reprend la solution de la veille.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gestes qui se répètent toute la semaine. Le panneau de tests de l'IDE fait la même chose en un clic. Montrer une fois l'énoncé interactif : le chrono, la case « Terminé » et le choix du langage de comparaison.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concept, une valeur immuable comparée par valeur, dans les cinq langages. Encourager l'alternant à garder son langage de prédilection affiché : c'est le moyen le plus rapide de comprendre ce que fait le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liste est aussi dans index.html, avec des cases à cocher. Le point qui bloque le plus souvent : SQL Server et la chaîne de connexion. Vérifier mardi matin que la base est accessible avant de commencer.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TP-01 : Tour de .NET et C# express. Prendre en main la CLI, NuGet et l'essentiel de C#, en tapant du code plutôt qu'en lisant de la théorie. Chaque exercice a ses tests : rouges au départ, verts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exercices pour 180 minutes. 1. SDK et CLI : 15 min ; 2. NuGet : 15 min ; 3. class, struct, record : 30 min ; 4. Pattern matching : 20 min ; 5. LINQ : 40 min ; 6. async/await : 30 min ; 7. Ses propres tests : 30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notions où l'alternant a déjà des réflexes dans son langage. Insister sur la nullabilité, qui n'est qu'une analyse du compilateur, et sur le Task qui démarre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TP-02 : Serveur web et Entity Framework Core. Comment tourne une application web .NET : une petite API de tickets, d'abord en mémoire, puis branchée sur SQL Server avec Entity Framework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exercices pour 180 minutes. 1. Middleware : 15 min ; 2. Injection de dépendances : 15 min ; 3. Configuration : 15 min ; 4. Minimal APIs : 35 min ; 5. EF Core : modèle : 35 min ; 6. Requêtes et N+1 : 30 min ; 7. Écritures : 20 min ; 8. Tests d'intégration :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suivre le chemin d'une requête dans le code : Program.cs, l'endpoint, le dépôt, le DbContext. EF Core occupe la moitié de la matinée : modèle, migrations, requêtes, écritures.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TP-03 : Blazor : composants, modes de rendu et formulaires. Blazor écrit des interfaces web en C# avec des composants, comme React ou Vue : c'est l'outil de la plupart de nos applis. On construit le front de l'API de la veille.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exercices pour 180 minutes. 1. Anatomie : 15 min ; 2. Composants : 30 min ; 3. Cycle de vie : 30 min ; 4. Modes de rendu : 40 min ; 5. EditForm : 30 min ; 6. QuickGrid : 20 min ; 7. CSS isolé et JS :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la matinée : la même page dans les quatre modes, en regardant l'onglet Réseau. Faire le lien avec nos applis : quel mode, et que se passe-t-il quand la connexion SignalR coupe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TP-04 : Blazor : authentification, état et composants réutilisables. L'API exige un jeton, le front connaît son utilisateur. On partage de l'état, on supprime le double chargement du prérendu et on extrait un composant testé avec bUnit.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exercices pour 170 minutes. 1. JWT : 15 min ; 2. Policies : 30 min ; 3. Front authentifié : 40 min ; 4. État partagé : 20 min ; 5. [PersistentState] : 15 min ; 6. Bibliothèque : 20 min ; 7. bUnit : 30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mécanismes d'authentification : un cookie entre le navigateur et le front, un jeton entre le front et l'API. Le jeton de service est volontairement simple ; en production, on propagerait l'identité avec OpenID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TP-05 : S'orienter et déboguer dans une appli existante. L'appli de tickets a vécu sans nous : un collègue y a ajouté un import, des statistiques et un cache. Elle compile, et pourtant les utilisateurs se plaignent.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exercices pour 180 minutes. 1. Débogueur : 30 min ; 2. Stack trace : 15 min ; 3. Logs : 15 min ; 4. Aspire : 40 min ; 5. C# 15 : unions : 20 min ; 6. Trois anomalies : 60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vendredi ressemble le plus au travail de l'après-midi. Ce qui compte, c'est la démarche : la faire raconter pour chaque anomalie compte plus que la correction 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même application grandit au fil de la semaine, ce qui donne un vrai contexte métier aux exercices. Le vendredi, elle est « modifiée par un collègue » pour s'entraîner à entrer dans du code qu'on n'a pas 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tests sont le contrat de chaque exercice : au départ ils échouent, à la fin ils passent. Plus 3 tests pour l'aperçu de C# 15, qui tourne avec le SDK .NET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semaine donne le vernis ; les bonnes pratiques 3B Studio viendront ensuite, une fois que l'alternant connaît l'outillage. Lui montrer où se trouvent les ressources pour suivre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 d'œil au site : « Des experts, des gens cool… What else ? ». Laisser la place aux questions, puis ouvrir ensemble index.html et lancer le TP-01.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UVERTUR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TUR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640080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r>
              <a:rPr lang="en-US" sz="6000" b="1" dirty="0">
                <a:solidFill>
                  <a:schemeClr val="bg1"/>
                </a:solidFill>
              </a:rPr>
              <a:t>Titre</a:t>
            </a:r>
            <a:endParaRPr lang="en-US" sz="6000" dirty="0"/>
          </a:p>
        </p:txBody>
      </p:sp>
      <p:sp>
        <p:nvSpPr>
          <p:cNvPr id="3" name="Text 0"/>
          <p:cNvSpPr/>
          <p:nvPr>
            <p:ph idx="101" type="body" hasCustomPrompt="1"/>
          </p:nvPr>
        </p:nvSpPr>
        <p:spPr>
          <a:xfrm>
            <a:off x="731520" y="3429000"/>
            <a:ext cx="6035040" cy="100584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r>
              <a:rPr lang="en-US" sz="1800" dirty="0">
                <a:solidFill>
                  <a:schemeClr val="bg1"/>
                </a:solidFill>
              </a:rPr>
              <a:t>Sous-titre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0" y="2514600"/>
            <a:ext cx="6949440" cy="16916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r>
              <a:rPr lang="en-US" sz="3200" b="1" dirty="0">
                <a:solidFill>
                  <a:schemeClr val="bg1"/>
                </a:solidFill>
              </a:rPr>
              <a:t>Titre de section</a:t>
            </a:r>
            <a:endParaRPr lang="en-US" sz="3200" dirty="0"/>
          </a:p>
        </p:txBody>
      </p:sp>
      <p:sp>
        <p:nvSpPr>
          <p:cNvPr id="3" name="Text 0"/>
          <p:cNvSpPr/>
          <p:nvPr>
            <p:ph idx="101" type="body" hasCustomPrompt="1"/>
          </p:nvPr>
        </p:nvSpPr>
        <p:spPr>
          <a:xfrm>
            <a:off x="4572000" y="4343400"/>
            <a:ext cx="694944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r>
              <a:rPr lang="en-US" sz="1800" dirty="0">
                <a:solidFill>
                  <a:schemeClr val="bg2"/>
                </a:solidFill>
              </a:rPr>
              <a:t>Détail</a:t>
            </a:r>
            <a:endParaRPr lang="en-US" sz="1800" dirty="0"/>
          </a:p>
        </p:txBody>
      </p:sp>
      <p:pic>
        <p:nvPicPr>
          <p:cNvPr id="4" name="Image 0" descr="/tmp/claude-0/-home-user-Tp-Net/172d164e-f28f-581b-a794-ba1e7ff38c50/scratchpad/deck/assets/logo.png">    </p:cNvPr>
          <p:cNvPicPr>
            <a:picLocks noChangeAspect="1"/>
          </p:cNvPicPr>
          <p:nvPr/>
        </p:nvPicPr>
        <p:blipFill>
          <a:blip r:embed="rId1"/>
          <a:stretch>
            <a:fillRect/>
          </a:stretch>
        </p:blipFill>
        <p:spPr>
          <a:xfrm>
            <a:off x="11109960" y="5989320"/>
            <a:ext cx="685800" cy="537667"/>
          </a:xfrm>
          <a:prstGeom prst="rect">
            <a:avLst/>
          </a:prstGeom>
        </p:spPr>
      </p:pic>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r>
              <a:rPr lang="en-US" sz="3000" b="1" dirty="0">
                <a:solidFill>
                  <a:schemeClr val="tx2"/>
                </a:solidFill>
              </a:rPr>
              <a:t>Titre</a:t>
            </a:r>
            <a:endParaRPr lang="en-US" sz="3000" dirty="0"/>
          </a:p>
        </p:txBody>
      </p:sp>
      <p:pic>
        <p:nvPicPr>
          <p:cNvPr id="3" name="Image 0" descr="/tmp/claude-0/-home-user-Tp-Net/172d164e-f28f-581b-a794-ba1e7ff38c50/scratchpad/deck/assets/logo.png">    </p:cNvPr>
          <p:cNvPicPr>
            <a:picLocks noChangeAspect="1"/>
          </p:cNvPicPr>
          <p:nvPr/>
        </p:nvPicPr>
        <p:blipFill>
          <a:blip r:embed="rId1"/>
          <a:stretch>
            <a:fillRect/>
          </a:stretch>
        </p:blipFill>
        <p:spPr>
          <a:xfrm>
            <a:off x="10972800" y="320040"/>
            <a:ext cx="777240" cy="608990"/>
          </a:xfrm>
          <a:prstGeom prst="rect">
            <a:avLst/>
          </a:prstGeom>
        </p:spPr>
      </p:pic>
      <p:sp>
        <p:nvSpPr>
          <p:cNvPr id="4"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tx1"/>
                </a:solidFill>
              </a:rPr>
              <a:t>Parcours .NET · 3B Studio</a:t>
            </a:r>
            <a:endParaRPr lang="en-US" sz="10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76656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Titre</a:t>
            </a:r>
            <a:endParaRPr lang="en-US" sz="4800" dirty="0"/>
          </a:p>
        </p:txBody>
      </p:sp>
      <p:sp>
        <p:nvSpPr>
          <p:cNvPr id="3" name="Text 0"/>
          <p:cNvSpPr/>
          <p:nvPr>
            <p:ph idx="101" type="body" hasCustomPrompt="1"/>
          </p:nvPr>
        </p:nvSpPr>
        <p:spPr>
          <a:xfrm>
            <a:off x="731520" y="4343400"/>
            <a:ext cx="6400800" cy="11887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r>
              <a:rPr lang="en-US" sz="1600" dirty="0">
                <a:solidFill>
                  <a:schemeClr val="bg2"/>
                </a:solidFill>
              </a:rPr>
              <a:t>Détail</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4.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slideLayout" Target="../slideLayouts/slideLayout4.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4.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image" Target="../media/image-23-3.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5.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urtitre"/>
          <p:cNvSpPr txBox="1"/>
          <p:nvPr/>
        </p:nvSpPr>
        <p:spPr>
          <a:xfrm>
            <a:off x="731520" y="1691640"/>
            <a:ext cx="64008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ONBOARDING ALTERNANT · 19 → 23 OCTOBRE 2026</a:t>
            </a:r>
            <a:endParaRPr lang="en-US" sz="1400" dirty="0"/>
          </a:p>
        </p:txBody>
      </p:sp>
      <p:sp>
        <p:nvSpPr>
          <p:cNvPr id="3" name="Text 0"/>
          <p:cNvSpPr/>
          <p:nvPr>
            <p:ph idx="100" type="title" hasCustomPrompt="1"/>
          </p:nvPr>
        </p:nvSpPr>
        <p:spPr>
          <a:xfrm>
            <a:off x="731520" y="2240280"/>
            <a:ext cx="6400800" cy="1097280"/>
          </a:xfrm>
          <a:prstGeom prst="rect">
            <a:avLst/>
          </a:prstGeom>
          <a:noFill/>
          <a:ln/>
        </p:spPr>
        <p:txBody>
          <a:bodyPr wrap="square" lIns="0" tIns="0" rIns="0" bIns="0" rtlCol="0" anchor="ctr"/>
          <a:lstStyle/>
          <a:p>
            <a:pPr algn="l" indent="0" marL="0">
              <a:buNone/>
            </a:pPr>
            <a:r>
              <a:rPr lang="en-US" sz="6000" b="1" dirty="0">
                <a:solidFill>
                  <a:schemeClr val="bg1"/>
                </a:solidFill>
              </a:rPr>
              <a:t>Parcours .NET</a:t>
            </a:r>
            <a:endParaRPr lang="en-US" sz="6000" dirty="0"/>
          </a:p>
        </p:txBody>
      </p:sp>
      <p:sp>
        <p:nvSpPr>
          <p:cNvPr id="4" name="Text 0"/>
          <p:cNvSpPr/>
          <p:nvPr>
            <p:ph idx="101" type="body" hasCustomPrompt="1"/>
          </p:nvPr>
        </p:nvSpPr>
        <p:spPr>
          <a:xfrm>
            <a:off x="731520" y="3429000"/>
            <a:ext cx="6035040" cy="1005840"/>
          </a:xfrm>
          <a:prstGeom prst="rect">
            <a:avLst/>
          </a:prstGeom>
          <a:noFill/>
          <a:ln/>
        </p:spPr>
        <p:txBody>
          <a:bodyPr wrap="square" lIns="0" tIns="0" rIns="0" bIns="0" rtlCol="0" anchor="t"/>
          <a:lstStyle/>
          <a:p>
            <a:pPr algn="l" indent="0" marL="0">
              <a:buNone/>
            </a:pPr>
            <a:r>
              <a:rPr lang="en-US" sz="1800" dirty="0">
                <a:solidFill>
                  <a:schemeClr val="bg1"/>
                </a:solidFill>
              </a:rPr>
              <a:t>Quatre demi-journées de manipulation, plus une en bonus, pour un vernis global sur .NET 10 et ce qu'il permet.</a:t>
            </a:r>
            <a:endParaRPr lang="en-US" sz="1800" dirty="0"/>
          </a:p>
        </p:txBody>
      </p:sp>
      <p:pic>
        <p:nvPicPr>
          <p:cNvPr id="5" name="Accroche" descr="Bienvenue chez les Bees">    </p:cNvPr>
          <p:cNvPicPr>
            <a:picLocks noChangeAspect="1"/>
          </p:cNvPicPr>
          <p:nvPr/>
        </p:nvPicPr>
        <p:blipFill>
          <a:blip r:embed="rId1"/>
          <a:stretch>
            <a:fillRect/>
          </a:stretch>
        </p:blipFill>
        <p:spPr>
          <a:xfrm>
            <a:off x="685800" y="4709160"/>
            <a:ext cx="4206240" cy="788276"/>
          </a:xfrm>
          <a:prstGeom prst="rect">
            <a:avLst/>
          </a:prstGeom>
        </p:spPr>
      </p:pic>
      <p:sp>
        <p:nvSpPr>
          <p:cNvPr id="6" name="Hexagone décoratif"/>
          <p:cNvSpPr/>
          <p:nvPr/>
        </p:nvSpPr>
        <p:spPr>
          <a:xfrm>
            <a:off x="7818120" y="868680"/>
            <a:ext cx="1828800" cy="1583787"/>
          </a:xfrm>
          <a:custGeom>
            <a:avLst/>
            <a:gdLst/>
            <a:ahLst/>
            <a:cxnLst/>
            <a:rect l="l" t="t" r="r" b="b"/>
            <a:pathLst>
              <a:path w="1828800" h="1583787">
                <a:moveTo>
                  <a:pt x="0" y="791894"/>
                </a:moveTo>
                <a:lnTo>
                  <a:pt x="457200" y="0"/>
                </a:lnTo>
                <a:lnTo>
                  <a:pt x="1371600" y="0"/>
                </a:lnTo>
                <a:lnTo>
                  <a:pt x="1828800" y="791894"/>
                </a:lnTo>
                <a:lnTo>
                  <a:pt x="1371600" y="1583787"/>
                </a:lnTo>
                <a:lnTo>
                  <a:pt x="457200" y="1583787"/>
                </a:lnTo>
                <a:close/>
              </a:path>
            </a:pathLst>
          </a:custGeom>
          <a:solidFill>
            <a:srgbClr val="000D78">
              <a:alpha val="85000"/>
            </a:srgbClr>
          </a:solidFill>
          <a:ln w="12700">
            <a:solidFill>
              <a:srgbClr val="000D78">
                <a:alpha val="0"/>
              </a:srgbClr>
            </a:solidFill>
            <a:prstDash val="solid"/>
          </a:ln>
        </p:spPr>
      </p:sp>
      <p:sp>
        <p:nvSpPr>
          <p:cNvPr id="7" name="Hexagone décoratif"/>
          <p:cNvSpPr/>
          <p:nvPr/>
        </p:nvSpPr>
        <p:spPr>
          <a:xfrm>
            <a:off x="10332720" y="4480560"/>
            <a:ext cx="1371600" cy="1187840"/>
          </a:xfrm>
          <a:custGeom>
            <a:avLst/>
            <a:gdLst/>
            <a:ahLst/>
            <a:cxnLst/>
            <a:rect l="l" t="t" r="r" b="b"/>
            <a:pathLst>
              <a:path w="1371600" h="1187840">
                <a:moveTo>
                  <a:pt x="0" y="593920"/>
                </a:moveTo>
                <a:lnTo>
                  <a:pt x="342900" y="0"/>
                </a:lnTo>
                <a:lnTo>
                  <a:pt x="1028700" y="0"/>
                </a:lnTo>
                <a:lnTo>
                  <a:pt x="1371600" y="593920"/>
                </a:lnTo>
                <a:lnTo>
                  <a:pt x="1028700" y="1187840"/>
                </a:lnTo>
                <a:lnTo>
                  <a:pt x="342900" y="1187840"/>
                </a:lnTo>
                <a:close/>
              </a:path>
            </a:pathLst>
          </a:custGeom>
          <a:solidFill>
            <a:srgbClr val="001793">
              <a:alpha val="60000"/>
            </a:srgbClr>
          </a:solidFill>
          <a:ln w="12700">
            <a:solidFill>
              <a:srgbClr val="001793">
                <a:alpha val="0"/>
              </a:srgbClr>
            </a:solidFill>
            <a:prstDash val="solid"/>
          </a:ln>
        </p:spPr>
      </p:sp>
      <p:sp>
        <p:nvSpPr>
          <p:cNvPr id="8" name="Hexagone jaune"/>
          <p:cNvSpPr/>
          <p:nvPr/>
        </p:nvSpPr>
        <p:spPr>
          <a:xfrm>
            <a:off x="7589520" y="498348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FFFF00"/>
          </a:solidFill>
          <a:ln w="12700">
            <a:solidFill>
              <a:srgbClr val="FFFF00">
                <a:alpha val="0"/>
              </a:srgbClr>
            </a:solidFill>
            <a:prstDash val="solid"/>
          </a:ln>
        </p:spPr>
      </p:sp>
      <p:pic>
        <p:nvPicPr>
          <p:cNvPr id="9" name="Logo" descr="Logo 3B Studio : une abeille sur un hexagone jaune">    </p:cNvPr>
          <p:cNvPicPr>
            <a:picLocks noChangeAspect="1"/>
          </p:cNvPicPr>
          <p:nvPr/>
        </p:nvPicPr>
        <p:blipFill>
          <a:blip r:embed="rId2"/>
          <a:stretch>
            <a:fillRect/>
          </a:stretch>
        </p:blipFill>
        <p:spPr>
          <a:xfrm>
            <a:off x="8183880" y="2011680"/>
            <a:ext cx="3291840" cy="25808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Une semaine pour un vernis global sur .NET</a:t>
            </a:r>
            <a:endParaRPr lang="en-US" sz="3000" dirty="0"/>
          </a:p>
        </p:txBody>
      </p:sp>
      <p:sp>
        <p:nvSpPr>
          <p:cNvPr id="3" name="Chiffre demi-journées"/>
          <p:cNvSpPr/>
          <p:nvPr/>
        </p:nvSpPr>
        <p:spPr>
          <a:xfrm>
            <a:off x="960120" y="1508760"/>
            <a:ext cx="1920240" cy="1662977"/>
          </a:xfrm>
          <a:custGeom>
            <a:avLst/>
            <a:gdLst/>
            <a:ahLst/>
            <a:cxnLst/>
            <a:rect l="l" t="t" r="r" b="b"/>
            <a:pathLst>
              <a:path w="1920240" h="1662977">
                <a:moveTo>
                  <a:pt x="0" y="831488"/>
                </a:moveTo>
                <a:lnTo>
                  <a:pt x="480060" y="0"/>
                </a:lnTo>
                <a:lnTo>
                  <a:pt x="1440180" y="0"/>
                </a:lnTo>
                <a:lnTo>
                  <a:pt x="1920240" y="831488"/>
                </a:lnTo>
                <a:lnTo>
                  <a:pt x="1440180" y="1662977"/>
                </a:lnTo>
                <a:lnTo>
                  <a:pt x="480060" y="1662977"/>
                </a:lnTo>
                <a:close/>
              </a:path>
            </a:pathLst>
          </a:custGeom>
          <a:solidFill>
            <a:srgbClr val="000057"/>
          </a:solidFill>
          <a:ln w="12700">
            <a:solidFill>
              <a:srgbClr val="000057">
                <a:alpha val="0"/>
              </a:srgbClr>
            </a:solidFill>
            <a:prstDash val="solid"/>
          </a:ln>
        </p:spPr>
      </p:sp>
      <p:sp>
        <p:nvSpPr>
          <p:cNvPr id="4" name="Valeur demi-journées"/>
          <p:cNvSpPr txBox="1"/>
          <p:nvPr/>
        </p:nvSpPr>
        <p:spPr>
          <a:xfrm>
            <a:off x="960120" y="1508760"/>
            <a:ext cx="1920240" cy="1664208"/>
          </a:xfrm>
          <a:prstGeom prst="rect">
            <a:avLst/>
          </a:prstGeom>
          <a:noFill/>
          <a:ln/>
        </p:spPr>
        <p:txBody>
          <a:bodyPr wrap="square" lIns="0" tIns="0" rIns="0" bIns="0" rtlCol="0" anchor="ctr"/>
          <a:lstStyle/>
          <a:p>
            <a:pPr algn="ctr" indent="0" marL="0">
              <a:buNone/>
            </a:pPr>
            <a:r>
              <a:rPr lang="en-US" sz="4000" b="1" dirty="0">
                <a:solidFill>
                  <a:schemeClr val="accent2"/>
                </a:solidFill>
              </a:rPr>
              <a:t>5</a:t>
            </a:r>
            <a:endParaRPr lang="en-US" sz="4000" dirty="0"/>
          </a:p>
        </p:txBody>
      </p:sp>
      <p:sp>
        <p:nvSpPr>
          <p:cNvPr id="5" name="Libellé demi-journées"/>
          <p:cNvSpPr txBox="1"/>
          <p:nvPr/>
        </p:nvSpPr>
        <p:spPr>
          <a:xfrm>
            <a:off x="548640" y="3429000"/>
            <a:ext cx="2743200" cy="411480"/>
          </a:xfrm>
          <a:prstGeom prst="rect">
            <a:avLst/>
          </a:prstGeom>
          <a:noFill/>
          <a:ln/>
        </p:spPr>
        <p:txBody>
          <a:bodyPr wrap="square" lIns="0" tIns="0" rIns="0" bIns="0" rtlCol="0" anchor="t"/>
          <a:lstStyle/>
          <a:p>
            <a:pPr algn="ctr" indent="0" marL="0">
              <a:buNone/>
            </a:pPr>
            <a:r>
              <a:rPr lang="en-US" sz="1800" b="1" dirty="0">
                <a:solidFill>
                  <a:schemeClr val="tx2"/>
                </a:solidFill>
              </a:rPr>
              <a:t>demi-journées</a:t>
            </a:r>
            <a:endParaRPr lang="en-US" sz="1800" dirty="0"/>
          </a:p>
        </p:txBody>
      </p:sp>
      <p:sp>
        <p:nvSpPr>
          <p:cNvPr id="6" name="Détail demi-journées"/>
          <p:cNvSpPr txBox="1"/>
          <p:nvPr/>
        </p:nvSpPr>
        <p:spPr>
          <a:xfrm>
            <a:off x="731520" y="3840480"/>
            <a:ext cx="2377440" cy="731520"/>
          </a:xfrm>
          <a:prstGeom prst="rect">
            <a:avLst/>
          </a:prstGeom>
          <a:noFill/>
          <a:ln/>
        </p:spPr>
        <p:txBody>
          <a:bodyPr wrap="square" lIns="0" tIns="0" rIns="0" bIns="0" rtlCol="0" anchor="t"/>
          <a:lstStyle/>
          <a:p>
            <a:pPr algn="ctr" indent="0" marL="0">
              <a:buNone/>
            </a:pPr>
            <a:r>
              <a:rPr lang="en-US" sz="1400" dirty="0">
                <a:solidFill>
                  <a:schemeClr val="tx1"/>
                </a:solidFill>
              </a:rPr>
              <a:t>4 TP le matin, plus un bonus le vendredi</a:t>
            </a:r>
            <a:endParaRPr lang="en-US" sz="1400" dirty="0"/>
          </a:p>
        </p:txBody>
      </p:sp>
      <p:sp>
        <p:nvSpPr>
          <p:cNvPr id="7" name="Chiffre exercices"/>
          <p:cNvSpPr/>
          <p:nvPr/>
        </p:nvSpPr>
        <p:spPr>
          <a:xfrm>
            <a:off x="3749040" y="1508760"/>
            <a:ext cx="1920240" cy="1662977"/>
          </a:xfrm>
          <a:custGeom>
            <a:avLst/>
            <a:gdLst/>
            <a:ahLst/>
            <a:cxnLst/>
            <a:rect l="l" t="t" r="r" b="b"/>
            <a:pathLst>
              <a:path w="1920240" h="1662977">
                <a:moveTo>
                  <a:pt x="0" y="831488"/>
                </a:moveTo>
                <a:lnTo>
                  <a:pt x="480060" y="0"/>
                </a:lnTo>
                <a:lnTo>
                  <a:pt x="1440180" y="0"/>
                </a:lnTo>
                <a:lnTo>
                  <a:pt x="1920240" y="831488"/>
                </a:lnTo>
                <a:lnTo>
                  <a:pt x="1440180" y="1662977"/>
                </a:lnTo>
                <a:lnTo>
                  <a:pt x="480060" y="1662977"/>
                </a:lnTo>
                <a:close/>
              </a:path>
            </a:pathLst>
          </a:custGeom>
          <a:solidFill>
            <a:srgbClr val="000057"/>
          </a:solidFill>
          <a:ln w="12700">
            <a:solidFill>
              <a:srgbClr val="000057">
                <a:alpha val="0"/>
              </a:srgbClr>
            </a:solidFill>
            <a:prstDash val="solid"/>
          </a:ln>
        </p:spPr>
      </p:sp>
      <p:sp>
        <p:nvSpPr>
          <p:cNvPr id="8" name="Valeur exercices"/>
          <p:cNvSpPr txBox="1"/>
          <p:nvPr/>
        </p:nvSpPr>
        <p:spPr>
          <a:xfrm>
            <a:off x="3749040" y="1508760"/>
            <a:ext cx="1920240" cy="1664208"/>
          </a:xfrm>
          <a:prstGeom prst="rect">
            <a:avLst/>
          </a:prstGeom>
          <a:noFill/>
          <a:ln/>
        </p:spPr>
        <p:txBody>
          <a:bodyPr wrap="square" lIns="0" tIns="0" rIns="0" bIns="0" rtlCol="0" anchor="ctr"/>
          <a:lstStyle/>
          <a:p>
            <a:pPr algn="ctr" indent="0" marL="0">
              <a:buNone/>
            </a:pPr>
            <a:r>
              <a:rPr lang="en-US" sz="4000" b="1" dirty="0">
                <a:solidFill>
                  <a:schemeClr val="accent2"/>
                </a:solidFill>
              </a:rPr>
              <a:t>35</a:t>
            </a:r>
            <a:endParaRPr lang="en-US" sz="4000" dirty="0"/>
          </a:p>
        </p:txBody>
      </p:sp>
      <p:sp>
        <p:nvSpPr>
          <p:cNvPr id="9" name="Libellé exercices"/>
          <p:cNvSpPr txBox="1"/>
          <p:nvPr/>
        </p:nvSpPr>
        <p:spPr>
          <a:xfrm>
            <a:off x="3337560" y="3429000"/>
            <a:ext cx="2743200" cy="411480"/>
          </a:xfrm>
          <a:prstGeom prst="rect">
            <a:avLst/>
          </a:prstGeom>
          <a:noFill/>
          <a:ln/>
        </p:spPr>
        <p:txBody>
          <a:bodyPr wrap="square" lIns="0" tIns="0" rIns="0" bIns="0" rtlCol="0" anchor="t"/>
          <a:lstStyle/>
          <a:p>
            <a:pPr algn="ctr" indent="0" marL="0">
              <a:buNone/>
            </a:pPr>
            <a:r>
              <a:rPr lang="en-US" sz="1800" b="1" dirty="0">
                <a:solidFill>
                  <a:schemeClr val="tx2"/>
                </a:solidFill>
              </a:rPr>
              <a:t>exercices</a:t>
            </a:r>
            <a:endParaRPr lang="en-US" sz="1800" dirty="0"/>
          </a:p>
        </p:txBody>
      </p:sp>
      <p:sp>
        <p:nvSpPr>
          <p:cNvPr id="10" name="Détail exercices"/>
          <p:cNvSpPr txBox="1"/>
          <p:nvPr/>
        </p:nvSpPr>
        <p:spPr>
          <a:xfrm>
            <a:off x="3520440" y="3840480"/>
            <a:ext cx="2377440" cy="731520"/>
          </a:xfrm>
          <a:prstGeom prst="rect">
            <a:avLst/>
          </a:prstGeom>
          <a:noFill/>
          <a:ln/>
        </p:spPr>
        <p:txBody>
          <a:bodyPr wrap="square" lIns="0" tIns="0" rIns="0" bIns="0" rtlCol="0" anchor="t"/>
          <a:lstStyle/>
          <a:p>
            <a:pPr algn="ctr" indent="0" marL="0">
              <a:buNone/>
            </a:pPr>
            <a:r>
              <a:rPr lang="en-US" sz="1400" dirty="0">
                <a:solidFill>
                  <a:schemeClr val="tx1"/>
                </a:solidFill>
              </a:rPr>
              <a:t>courts, avec leurs tests automatiques</a:t>
            </a:r>
            <a:endParaRPr lang="en-US" sz="1400" dirty="0"/>
          </a:p>
        </p:txBody>
      </p:sp>
      <p:sp>
        <p:nvSpPr>
          <p:cNvPr id="11" name="Chiffre de manipulation"/>
          <p:cNvSpPr/>
          <p:nvPr/>
        </p:nvSpPr>
        <p:spPr>
          <a:xfrm>
            <a:off x="6537960" y="1508760"/>
            <a:ext cx="1920240" cy="1662977"/>
          </a:xfrm>
          <a:custGeom>
            <a:avLst/>
            <a:gdLst/>
            <a:ahLst/>
            <a:cxnLst/>
            <a:rect l="l" t="t" r="r" b="b"/>
            <a:pathLst>
              <a:path w="1920240" h="1662977">
                <a:moveTo>
                  <a:pt x="0" y="831488"/>
                </a:moveTo>
                <a:lnTo>
                  <a:pt x="480060" y="0"/>
                </a:lnTo>
                <a:lnTo>
                  <a:pt x="1440180" y="0"/>
                </a:lnTo>
                <a:lnTo>
                  <a:pt x="1920240" y="831488"/>
                </a:lnTo>
                <a:lnTo>
                  <a:pt x="1440180" y="1662977"/>
                </a:lnTo>
                <a:lnTo>
                  <a:pt x="480060" y="1662977"/>
                </a:lnTo>
                <a:close/>
              </a:path>
            </a:pathLst>
          </a:custGeom>
          <a:solidFill>
            <a:srgbClr val="000057"/>
          </a:solidFill>
          <a:ln w="12700">
            <a:solidFill>
              <a:srgbClr val="000057">
                <a:alpha val="0"/>
              </a:srgbClr>
            </a:solidFill>
            <a:prstDash val="solid"/>
          </a:ln>
        </p:spPr>
      </p:sp>
      <p:sp>
        <p:nvSpPr>
          <p:cNvPr id="12" name="Valeur de manipulation"/>
          <p:cNvSpPr txBox="1"/>
          <p:nvPr/>
        </p:nvSpPr>
        <p:spPr>
          <a:xfrm>
            <a:off x="6537960" y="1508760"/>
            <a:ext cx="1920240" cy="1664208"/>
          </a:xfrm>
          <a:prstGeom prst="rect">
            <a:avLst/>
          </a:prstGeom>
          <a:noFill/>
          <a:ln/>
        </p:spPr>
        <p:txBody>
          <a:bodyPr wrap="square" lIns="0" tIns="0" rIns="0" bIns="0" rtlCol="0" anchor="ctr"/>
          <a:lstStyle/>
          <a:p>
            <a:pPr algn="ctr" indent="0" marL="0">
              <a:buNone/>
            </a:pPr>
            <a:r>
              <a:rPr lang="en-US" sz="4000" b="1" dirty="0">
                <a:solidFill>
                  <a:schemeClr val="accent2"/>
                </a:solidFill>
              </a:rPr>
              <a:t>15 h</a:t>
            </a:r>
            <a:endParaRPr lang="en-US" sz="4000" dirty="0"/>
          </a:p>
        </p:txBody>
      </p:sp>
      <p:sp>
        <p:nvSpPr>
          <p:cNvPr id="13" name="Libellé de manipulation"/>
          <p:cNvSpPr txBox="1"/>
          <p:nvPr/>
        </p:nvSpPr>
        <p:spPr>
          <a:xfrm>
            <a:off x="6126480" y="3429000"/>
            <a:ext cx="2743200" cy="411480"/>
          </a:xfrm>
          <a:prstGeom prst="rect">
            <a:avLst/>
          </a:prstGeom>
          <a:noFill/>
          <a:ln/>
        </p:spPr>
        <p:txBody>
          <a:bodyPr wrap="square" lIns="0" tIns="0" rIns="0" bIns="0" rtlCol="0" anchor="t"/>
          <a:lstStyle/>
          <a:p>
            <a:pPr algn="ctr" indent="0" marL="0">
              <a:buNone/>
            </a:pPr>
            <a:r>
              <a:rPr lang="en-US" sz="1800" b="1" dirty="0">
                <a:solidFill>
                  <a:schemeClr val="tx2"/>
                </a:solidFill>
              </a:rPr>
              <a:t>de manipulation</a:t>
            </a:r>
            <a:endParaRPr lang="en-US" sz="1800" dirty="0"/>
          </a:p>
        </p:txBody>
      </p:sp>
      <p:sp>
        <p:nvSpPr>
          <p:cNvPr id="14" name="Détail de manipulation"/>
          <p:cNvSpPr txBox="1"/>
          <p:nvPr/>
        </p:nvSpPr>
        <p:spPr>
          <a:xfrm>
            <a:off x="6309360" y="3840480"/>
            <a:ext cx="2377440" cy="731520"/>
          </a:xfrm>
          <a:prstGeom prst="rect">
            <a:avLst/>
          </a:prstGeom>
          <a:noFill/>
          <a:ln/>
        </p:spPr>
        <p:txBody>
          <a:bodyPr wrap="square" lIns="0" tIns="0" rIns="0" bIns="0" rtlCol="0" anchor="t"/>
          <a:lstStyle/>
          <a:p>
            <a:pPr algn="ctr" indent="0" marL="0">
              <a:buNone/>
            </a:pPr>
            <a:r>
              <a:rPr lang="en-US" sz="1400" dirty="0">
                <a:solidFill>
                  <a:schemeClr val="tx1"/>
                </a:solidFill>
              </a:rPr>
              <a:t>environ 3 h par matinée</a:t>
            </a:r>
            <a:endParaRPr lang="en-US" sz="1400" dirty="0"/>
          </a:p>
        </p:txBody>
      </p:sp>
      <p:sp>
        <p:nvSpPr>
          <p:cNvPr id="15" name="Chiffre appli fil rouge"/>
          <p:cNvSpPr/>
          <p:nvPr/>
        </p:nvSpPr>
        <p:spPr>
          <a:xfrm>
            <a:off x="9326880" y="1508760"/>
            <a:ext cx="1920240" cy="1662977"/>
          </a:xfrm>
          <a:custGeom>
            <a:avLst/>
            <a:gdLst/>
            <a:ahLst/>
            <a:cxnLst/>
            <a:rect l="l" t="t" r="r" b="b"/>
            <a:pathLst>
              <a:path w="1920240" h="1662977">
                <a:moveTo>
                  <a:pt x="0" y="831488"/>
                </a:moveTo>
                <a:lnTo>
                  <a:pt x="480060" y="0"/>
                </a:lnTo>
                <a:lnTo>
                  <a:pt x="1440180" y="0"/>
                </a:lnTo>
                <a:lnTo>
                  <a:pt x="1920240" y="831488"/>
                </a:lnTo>
                <a:lnTo>
                  <a:pt x="1440180" y="1662977"/>
                </a:lnTo>
                <a:lnTo>
                  <a:pt x="480060" y="1662977"/>
                </a:lnTo>
                <a:close/>
              </a:path>
            </a:pathLst>
          </a:custGeom>
          <a:solidFill>
            <a:srgbClr val="000057"/>
          </a:solidFill>
          <a:ln w="12700">
            <a:solidFill>
              <a:srgbClr val="000057">
                <a:alpha val="0"/>
              </a:srgbClr>
            </a:solidFill>
            <a:prstDash val="solid"/>
          </a:ln>
        </p:spPr>
      </p:sp>
      <p:sp>
        <p:nvSpPr>
          <p:cNvPr id="16" name="Valeur appli fil rouge"/>
          <p:cNvSpPr txBox="1"/>
          <p:nvPr/>
        </p:nvSpPr>
        <p:spPr>
          <a:xfrm>
            <a:off x="9326880" y="1508760"/>
            <a:ext cx="1920240" cy="1664208"/>
          </a:xfrm>
          <a:prstGeom prst="rect">
            <a:avLst/>
          </a:prstGeom>
          <a:noFill/>
          <a:ln/>
        </p:spPr>
        <p:txBody>
          <a:bodyPr wrap="square" lIns="0" tIns="0" rIns="0" bIns="0" rtlCol="0" anchor="ctr"/>
          <a:lstStyle/>
          <a:p>
            <a:pPr algn="ctr" indent="0" marL="0">
              <a:buNone/>
            </a:pPr>
            <a:r>
              <a:rPr lang="en-US" sz="4000" b="1" dirty="0">
                <a:solidFill>
                  <a:schemeClr val="accent2"/>
                </a:solidFill>
              </a:rPr>
              <a:t>1</a:t>
            </a:r>
            <a:endParaRPr lang="en-US" sz="4000" dirty="0"/>
          </a:p>
        </p:txBody>
      </p:sp>
      <p:sp>
        <p:nvSpPr>
          <p:cNvPr id="17" name="Libellé appli fil rouge"/>
          <p:cNvSpPr txBox="1"/>
          <p:nvPr/>
        </p:nvSpPr>
        <p:spPr>
          <a:xfrm>
            <a:off x="8915400" y="3429000"/>
            <a:ext cx="2743200" cy="411480"/>
          </a:xfrm>
          <a:prstGeom prst="rect">
            <a:avLst/>
          </a:prstGeom>
          <a:noFill/>
          <a:ln/>
        </p:spPr>
        <p:txBody>
          <a:bodyPr wrap="square" lIns="0" tIns="0" rIns="0" bIns="0" rtlCol="0" anchor="t"/>
          <a:lstStyle/>
          <a:p>
            <a:pPr algn="ctr" indent="0" marL="0">
              <a:buNone/>
            </a:pPr>
            <a:r>
              <a:rPr lang="en-US" sz="1800" b="1" dirty="0">
                <a:solidFill>
                  <a:schemeClr val="tx2"/>
                </a:solidFill>
              </a:rPr>
              <a:t>appli fil rouge</a:t>
            </a:r>
            <a:endParaRPr lang="en-US" sz="1800" dirty="0"/>
          </a:p>
        </p:txBody>
      </p:sp>
      <p:sp>
        <p:nvSpPr>
          <p:cNvPr id="18" name="Détail appli fil rouge"/>
          <p:cNvSpPr txBox="1"/>
          <p:nvPr/>
        </p:nvSpPr>
        <p:spPr>
          <a:xfrm>
            <a:off x="9098280" y="3840480"/>
            <a:ext cx="2377440" cy="731520"/>
          </a:xfrm>
          <a:prstGeom prst="rect">
            <a:avLst/>
          </a:prstGeom>
          <a:noFill/>
          <a:ln/>
        </p:spPr>
        <p:txBody>
          <a:bodyPr wrap="square" lIns="0" tIns="0" rIns="0" bIns="0" rtlCol="0" anchor="t"/>
          <a:lstStyle/>
          <a:p>
            <a:pPr algn="ctr" indent="0" marL="0">
              <a:buNone/>
            </a:pPr>
            <a:r>
              <a:rPr lang="en-US" sz="1400" dirty="0">
                <a:solidFill>
                  <a:schemeClr val="tx1"/>
                </a:solidFill>
              </a:rPr>
              <a:t>Tickets, du mardi au vendredi</a:t>
            </a:r>
            <a:endParaRPr lang="en-US" sz="1400" dirty="0"/>
          </a:p>
        </p:txBody>
      </p:sp>
      <p:sp>
        <p:nvSpPr>
          <p:cNvPr id="19" name="Encadré rythme"/>
          <p:cNvSpPr/>
          <p:nvPr/>
        </p:nvSpPr>
        <p:spPr>
          <a:xfrm>
            <a:off x="548640" y="4983480"/>
            <a:ext cx="11109960" cy="960120"/>
          </a:xfrm>
          <a:prstGeom prst="roundRect">
            <a:avLst>
              <a:gd name="adj" fmla="val 11429"/>
            </a:avLst>
          </a:prstGeom>
          <a:solidFill>
            <a:schemeClr val="bg2"/>
          </a:solidFill>
          <a:ln w="12700">
            <a:solidFill>
              <a:srgbClr val="E1EAF1"/>
            </a:solidFill>
            <a:prstDash val="solid"/>
          </a:ln>
        </p:spPr>
      </p:sp>
      <p:pic>
        <p:nvPicPr>
          <p:cNvPr id="20" name="Icône rythme" descr="Calendrier">    </p:cNvPr>
          <p:cNvPicPr>
            <a:picLocks noChangeAspect="1"/>
          </p:cNvPicPr>
          <p:nvPr/>
        </p:nvPicPr>
        <p:blipFill>
          <a:blip r:embed="rId1"/>
          <a:stretch>
            <a:fillRect/>
          </a:stretch>
        </p:blipFill>
        <p:spPr>
          <a:xfrm>
            <a:off x="868680" y="5212080"/>
            <a:ext cx="502920" cy="502920"/>
          </a:xfrm>
          <a:prstGeom prst="rect">
            <a:avLst/>
          </a:prstGeom>
        </p:spPr>
      </p:pic>
      <p:sp>
        <p:nvSpPr>
          <p:cNvPr id="21" name="Texte rythme"/>
          <p:cNvSpPr txBox="1"/>
          <p:nvPr/>
        </p:nvSpPr>
        <p:spPr>
          <a:xfrm>
            <a:off x="1600200" y="4983480"/>
            <a:ext cx="9784080" cy="960120"/>
          </a:xfrm>
          <a:prstGeom prst="rect">
            <a:avLst/>
          </a:prstGeom>
          <a:noFill/>
          <a:ln/>
        </p:spPr>
        <p:txBody>
          <a:bodyPr wrap="square" lIns="0" tIns="0" rIns="0" bIns="0" rtlCol="0" anchor="ctr"/>
          <a:lstStyle/>
          <a:p>
            <a:pPr indent="0" marL="0">
              <a:buNone/>
            </a:pPr>
            <a:r>
              <a:rPr lang="en-US" sz="1600" b="1" dirty="0">
                <a:solidFill>
                  <a:schemeClr val="tx2"/>
                </a:solidFill>
              </a:rPr>
              <a:t>Le matin, les TP ; l'après-midi, nos applis. </a:t>
            </a:r>
            <a:pPr indent="0" marL="0">
              <a:buNone/>
            </a:pPr>
            <a:r>
              <a:rPr lang="en-US" sz="1600" dirty="0">
                <a:solidFill>
                  <a:schemeClr val="tx1"/>
                </a:solidFill>
              </a:rPr>
              <a:t>On corrige de vraies anomalies avec ce qu'on vient de manipuler.</a:t>
            </a:r>
            <a:endParaRPr lang="en-US" sz="16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La semaine, un TP par matinée</a:t>
            </a:r>
            <a:endParaRPr lang="en-US" sz="3000" dirty="0"/>
          </a:p>
        </p:txBody>
      </p:sp>
      <p:sp>
        <p:nvSpPr>
          <p:cNvPr id="3" name="Frise"/>
          <p:cNvSpPr/>
          <p:nvPr/>
        </p:nvSpPr>
        <p:spPr>
          <a:xfrm>
            <a:off x="1645920" y="2075688"/>
            <a:ext cx="8869680" cy="0"/>
          </a:xfrm>
          <a:prstGeom prst="line">
            <a:avLst/>
          </a:prstGeom>
          <a:noFill/>
          <a:ln w="50800">
            <a:solidFill>
              <a:srgbClr val="E1EAF1"/>
            </a:solidFill>
            <a:prstDash val="solid"/>
          </a:ln>
        </p:spPr>
      </p:sp>
      <p:sp>
        <p:nvSpPr>
          <p:cNvPr id="4" name="TP-01"/>
          <p:cNvSpPr/>
          <p:nvPr/>
        </p:nvSpPr>
        <p:spPr>
          <a:xfrm>
            <a:off x="1097280" y="160020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057"/>
          </a:solidFill>
          <a:ln w="12700">
            <a:solidFill>
              <a:srgbClr val="000057">
                <a:alpha val="0"/>
              </a:srgbClr>
            </a:solidFill>
            <a:prstDash val="solid"/>
          </a:ln>
        </p:spPr>
      </p:sp>
      <p:sp>
        <p:nvSpPr>
          <p:cNvPr id="5" name="Numéro TP-01"/>
          <p:cNvSpPr txBox="1"/>
          <p:nvPr/>
        </p:nvSpPr>
        <p:spPr>
          <a:xfrm>
            <a:off x="1097280" y="1600200"/>
            <a:ext cx="1097280" cy="950976"/>
          </a:xfrm>
          <a:prstGeom prst="rect">
            <a:avLst/>
          </a:prstGeom>
          <a:noFill/>
          <a:ln/>
        </p:spPr>
        <p:txBody>
          <a:bodyPr wrap="square" lIns="0" tIns="0" rIns="0" bIns="0" rtlCol="0" anchor="ctr"/>
          <a:lstStyle/>
          <a:p>
            <a:pPr algn="ctr" indent="0" marL="0">
              <a:buNone/>
            </a:pPr>
            <a:r>
              <a:rPr lang="en-US" sz="2400" b="1" dirty="0">
                <a:solidFill>
                  <a:schemeClr val="accent2"/>
                </a:solidFill>
              </a:rPr>
              <a:t>01</a:t>
            </a:r>
            <a:endParaRPr lang="en-US" sz="2400" dirty="0"/>
          </a:p>
        </p:txBody>
      </p:sp>
      <p:sp>
        <p:nvSpPr>
          <p:cNvPr id="6" name="Jour TP-01"/>
          <p:cNvSpPr txBox="1"/>
          <p:nvPr/>
        </p:nvSpPr>
        <p:spPr>
          <a:xfrm>
            <a:off x="548640" y="2788920"/>
            <a:ext cx="2194560" cy="320040"/>
          </a:xfrm>
          <a:prstGeom prst="rect">
            <a:avLst/>
          </a:prstGeom>
          <a:noFill/>
          <a:ln/>
        </p:spPr>
        <p:txBody>
          <a:bodyPr wrap="square" lIns="0" tIns="0" rIns="0" bIns="0" rtlCol="0" anchor="t"/>
          <a:lstStyle/>
          <a:p>
            <a:pPr algn="ctr" indent="0" marL="0">
              <a:buNone/>
            </a:pPr>
            <a:r>
              <a:rPr lang="en-US" sz="1400" b="1" dirty="0">
                <a:solidFill>
                  <a:schemeClr val="accent1"/>
                </a:solidFill>
              </a:rPr>
              <a:t>Lundi 19 oct.</a:t>
            </a:r>
            <a:endParaRPr lang="en-US" sz="1400" dirty="0"/>
          </a:p>
        </p:txBody>
      </p:sp>
      <p:sp>
        <p:nvSpPr>
          <p:cNvPr id="7" name="Titre TP-01"/>
          <p:cNvSpPr txBox="1"/>
          <p:nvPr/>
        </p:nvSpPr>
        <p:spPr>
          <a:xfrm>
            <a:off x="548640" y="3154680"/>
            <a:ext cx="2194560" cy="685800"/>
          </a:xfrm>
          <a:prstGeom prst="rect">
            <a:avLst/>
          </a:prstGeom>
          <a:noFill/>
          <a:ln/>
        </p:spPr>
        <p:txBody>
          <a:bodyPr wrap="square" lIns="0" tIns="0" rIns="0" bIns="0" rtlCol="0" anchor="t"/>
          <a:lstStyle/>
          <a:p>
            <a:pPr algn="ctr" indent="0" marL="0">
              <a:buNone/>
            </a:pPr>
            <a:r>
              <a:rPr lang="en-US" sz="1600" b="1" dirty="0">
                <a:solidFill>
                  <a:schemeClr val="tx2"/>
                </a:solidFill>
              </a:rPr>
              <a:t>Tour de .NET et C#</a:t>
            </a:r>
            <a:endParaRPr lang="en-US" sz="1600" dirty="0"/>
          </a:p>
        </p:txBody>
      </p:sp>
      <p:sp>
        <p:nvSpPr>
          <p:cNvPr id="8" name="Résumé TP-01"/>
          <p:cNvSpPr txBox="1"/>
          <p:nvPr/>
        </p:nvSpPr>
        <p:spPr>
          <a:xfrm>
            <a:off x="640080" y="388620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CLI, records, LINQ, async</a:t>
            </a:r>
            <a:endParaRPr lang="en-US" sz="1400" dirty="0"/>
          </a:p>
        </p:txBody>
      </p:sp>
      <p:sp>
        <p:nvSpPr>
          <p:cNvPr id="9" name="TP-02"/>
          <p:cNvSpPr/>
          <p:nvPr/>
        </p:nvSpPr>
        <p:spPr>
          <a:xfrm>
            <a:off x="3337560" y="160020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057"/>
          </a:solidFill>
          <a:ln w="12700">
            <a:solidFill>
              <a:srgbClr val="000057">
                <a:alpha val="0"/>
              </a:srgbClr>
            </a:solidFill>
            <a:prstDash val="solid"/>
          </a:ln>
        </p:spPr>
      </p:sp>
      <p:sp>
        <p:nvSpPr>
          <p:cNvPr id="10" name="Numéro TP-02"/>
          <p:cNvSpPr txBox="1"/>
          <p:nvPr/>
        </p:nvSpPr>
        <p:spPr>
          <a:xfrm>
            <a:off x="3337560" y="1600200"/>
            <a:ext cx="1097280" cy="950976"/>
          </a:xfrm>
          <a:prstGeom prst="rect">
            <a:avLst/>
          </a:prstGeom>
          <a:noFill/>
          <a:ln/>
        </p:spPr>
        <p:txBody>
          <a:bodyPr wrap="square" lIns="0" tIns="0" rIns="0" bIns="0" rtlCol="0" anchor="ctr"/>
          <a:lstStyle/>
          <a:p>
            <a:pPr algn="ctr" indent="0" marL="0">
              <a:buNone/>
            </a:pPr>
            <a:r>
              <a:rPr lang="en-US" sz="2400" b="1" dirty="0">
                <a:solidFill>
                  <a:schemeClr val="accent2"/>
                </a:solidFill>
              </a:rPr>
              <a:t>02</a:t>
            </a:r>
            <a:endParaRPr lang="en-US" sz="2400" dirty="0"/>
          </a:p>
        </p:txBody>
      </p:sp>
      <p:sp>
        <p:nvSpPr>
          <p:cNvPr id="11" name="Jour TP-02"/>
          <p:cNvSpPr txBox="1"/>
          <p:nvPr/>
        </p:nvSpPr>
        <p:spPr>
          <a:xfrm>
            <a:off x="2788920" y="2788920"/>
            <a:ext cx="2194560" cy="320040"/>
          </a:xfrm>
          <a:prstGeom prst="rect">
            <a:avLst/>
          </a:prstGeom>
          <a:noFill/>
          <a:ln/>
        </p:spPr>
        <p:txBody>
          <a:bodyPr wrap="square" lIns="0" tIns="0" rIns="0" bIns="0" rtlCol="0" anchor="t"/>
          <a:lstStyle/>
          <a:p>
            <a:pPr algn="ctr" indent="0" marL="0">
              <a:buNone/>
            </a:pPr>
            <a:r>
              <a:rPr lang="en-US" sz="1400" b="1" dirty="0">
                <a:solidFill>
                  <a:schemeClr val="accent1"/>
                </a:solidFill>
              </a:rPr>
              <a:t>Mardi 20 oct.</a:t>
            </a:r>
            <a:endParaRPr lang="en-US" sz="1400" dirty="0"/>
          </a:p>
        </p:txBody>
      </p:sp>
      <p:sp>
        <p:nvSpPr>
          <p:cNvPr id="12" name="Titre TP-02"/>
          <p:cNvSpPr txBox="1"/>
          <p:nvPr/>
        </p:nvSpPr>
        <p:spPr>
          <a:xfrm>
            <a:off x="2788920" y="3154680"/>
            <a:ext cx="2194560" cy="685800"/>
          </a:xfrm>
          <a:prstGeom prst="rect">
            <a:avLst/>
          </a:prstGeom>
          <a:noFill/>
          <a:ln/>
        </p:spPr>
        <p:txBody>
          <a:bodyPr wrap="square" lIns="0" tIns="0" rIns="0" bIns="0" rtlCol="0" anchor="t"/>
          <a:lstStyle/>
          <a:p>
            <a:pPr algn="ctr" indent="0" marL="0">
              <a:buNone/>
            </a:pPr>
            <a:r>
              <a:rPr lang="en-US" sz="1600" b="1" dirty="0">
                <a:solidFill>
                  <a:schemeClr val="tx2"/>
                </a:solidFill>
              </a:rPr>
              <a:t>Web et EF Core</a:t>
            </a:r>
            <a:endParaRPr lang="en-US" sz="1600" dirty="0"/>
          </a:p>
        </p:txBody>
      </p:sp>
      <p:sp>
        <p:nvSpPr>
          <p:cNvPr id="13" name="Résumé TP-02"/>
          <p:cNvSpPr txBox="1"/>
          <p:nvPr/>
        </p:nvSpPr>
        <p:spPr>
          <a:xfrm>
            <a:off x="2880360" y="388620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API, DI, EF Core, SQL Server</a:t>
            </a:r>
            <a:endParaRPr lang="en-US" sz="1400" dirty="0"/>
          </a:p>
        </p:txBody>
      </p:sp>
      <p:sp>
        <p:nvSpPr>
          <p:cNvPr id="14" name="TP-03"/>
          <p:cNvSpPr/>
          <p:nvPr/>
        </p:nvSpPr>
        <p:spPr>
          <a:xfrm>
            <a:off x="5577840" y="160020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057"/>
          </a:solidFill>
          <a:ln w="12700">
            <a:solidFill>
              <a:srgbClr val="000057">
                <a:alpha val="0"/>
              </a:srgbClr>
            </a:solidFill>
            <a:prstDash val="solid"/>
          </a:ln>
        </p:spPr>
      </p:sp>
      <p:sp>
        <p:nvSpPr>
          <p:cNvPr id="15" name="Numéro TP-03"/>
          <p:cNvSpPr txBox="1"/>
          <p:nvPr/>
        </p:nvSpPr>
        <p:spPr>
          <a:xfrm>
            <a:off x="5577840" y="1600200"/>
            <a:ext cx="1097280" cy="950976"/>
          </a:xfrm>
          <a:prstGeom prst="rect">
            <a:avLst/>
          </a:prstGeom>
          <a:noFill/>
          <a:ln/>
        </p:spPr>
        <p:txBody>
          <a:bodyPr wrap="square" lIns="0" tIns="0" rIns="0" bIns="0" rtlCol="0" anchor="ctr"/>
          <a:lstStyle/>
          <a:p>
            <a:pPr algn="ctr" indent="0" marL="0">
              <a:buNone/>
            </a:pPr>
            <a:r>
              <a:rPr lang="en-US" sz="2400" b="1" dirty="0">
                <a:solidFill>
                  <a:schemeClr val="accent2"/>
                </a:solidFill>
              </a:rPr>
              <a:t>03</a:t>
            </a:r>
            <a:endParaRPr lang="en-US" sz="2400" dirty="0"/>
          </a:p>
        </p:txBody>
      </p:sp>
      <p:sp>
        <p:nvSpPr>
          <p:cNvPr id="16" name="Jour TP-03"/>
          <p:cNvSpPr txBox="1"/>
          <p:nvPr/>
        </p:nvSpPr>
        <p:spPr>
          <a:xfrm>
            <a:off x="5029200" y="2788920"/>
            <a:ext cx="2194560" cy="320040"/>
          </a:xfrm>
          <a:prstGeom prst="rect">
            <a:avLst/>
          </a:prstGeom>
          <a:noFill/>
          <a:ln/>
        </p:spPr>
        <p:txBody>
          <a:bodyPr wrap="square" lIns="0" tIns="0" rIns="0" bIns="0" rtlCol="0" anchor="t"/>
          <a:lstStyle/>
          <a:p>
            <a:pPr algn="ctr" indent="0" marL="0">
              <a:buNone/>
            </a:pPr>
            <a:r>
              <a:rPr lang="en-US" sz="1400" b="1" dirty="0">
                <a:solidFill>
                  <a:schemeClr val="accent1"/>
                </a:solidFill>
              </a:rPr>
              <a:t>Mercredi 21 oct.</a:t>
            </a:r>
            <a:endParaRPr lang="en-US" sz="1400" dirty="0"/>
          </a:p>
        </p:txBody>
      </p:sp>
      <p:sp>
        <p:nvSpPr>
          <p:cNvPr id="17" name="Titre TP-03"/>
          <p:cNvSpPr txBox="1"/>
          <p:nvPr/>
        </p:nvSpPr>
        <p:spPr>
          <a:xfrm>
            <a:off x="5029200" y="3154680"/>
            <a:ext cx="2194560" cy="685800"/>
          </a:xfrm>
          <a:prstGeom prst="rect">
            <a:avLst/>
          </a:prstGeom>
          <a:noFill/>
          <a:ln/>
        </p:spPr>
        <p:txBody>
          <a:bodyPr wrap="square" lIns="0" tIns="0" rIns="0" bIns="0" rtlCol="0" anchor="t"/>
          <a:lstStyle/>
          <a:p>
            <a:pPr algn="ctr" indent="0" marL="0">
              <a:buNone/>
            </a:pPr>
            <a:r>
              <a:rPr lang="en-US" sz="1600" b="1" dirty="0">
                <a:solidFill>
                  <a:schemeClr val="tx2"/>
                </a:solidFill>
              </a:rPr>
              <a:t>Blazor : composants</a:t>
            </a:r>
            <a:endParaRPr lang="en-US" sz="1600" dirty="0"/>
          </a:p>
        </p:txBody>
      </p:sp>
      <p:sp>
        <p:nvSpPr>
          <p:cNvPr id="18" name="Résumé TP-03"/>
          <p:cNvSpPr txBox="1"/>
          <p:nvPr/>
        </p:nvSpPr>
        <p:spPr>
          <a:xfrm>
            <a:off x="5120640" y="388620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Composants, modes de rendu</a:t>
            </a:r>
            <a:endParaRPr lang="en-US" sz="1400" dirty="0"/>
          </a:p>
        </p:txBody>
      </p:sp>
      <p:sp>
        <p:nvSpPr>
          <p:cNvPr id="19" name="TP-04"/>
          <p:cNvSpPr/>
          <p:nvPr/>
        </p:nvSpPr>
        <p:spPr>
          <a:xfrm>
            <a:off x="7818120" y="160020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057"/>
          </a:solidFill>
          <a:ln w="12700">
            <a:solidFill>
              <a:srgbClr val="000057">
                <a:alpha val="0"/>
              </a:srgbClr>
            </a:solidFill>
            <a:prstDash val="solid"/>
          </a:ln>
        </p:spPr>
      </p:sp>
      <p:sp>
        <p:nvSpPr>
          <p:cNvPr id="20" name="Numéro TP-04"/>
          <p:cNvSpPr txBox="1"/>
          <p:nvPr/>
        </p:nvSpPr>
        <p:spPr>
          <a:xfrm>
            <a:off x="7818120" y="1600200"/>
            <a:ext cx="1097280" cy="950976"/>
          </a:xfrm>
          <a:prstGeom prst="rect">
            <a:avLst/>
          </a:prstGeom>
          <a:noFill/>
          <a:ln/>
        </p:spPr>
        <p:txBody>
          <a:bodyPr wrap="square" lIns="0" tIns="0" rIns="0" bIns="0" rtlCol="0" anchor="ctr"/>
          <a:lstStyle/>
          <a:p>
            <a:pPr algn="ctr" indent="0" marL="0">
              <a:buNone/>
            </a:pPr>
            <a:r>
              <a:rPr lang="en-US" sz="2400" b="1" dirty="0">
                <a:solidFill>
                  <a:schemeClr val="accent2"/>
                </a:solidFill>
              </a:rPr>
              <a:t>04</a:t>
            </a:r>
            <a:endParaRPr lang="en-US" sz="2400" dirty="0"/>
          </a:p>
        </p:txBody>
      </p:sp>
      <p:sp>
        <p:nvSpPr>
          <p:cNvPr id="21" name="Jour TP-04"/>
          <p:cNvSpPr txBox="1"/>
          <p:nvPr/>
        </p:nvSpPr>
        <p:spPr>
          <a:xfrm>
            <a:off x="7269480" y="2788920"/>
            <a:ext cx="2194560" cy="320040"/>
          </a:xfrm>
          <a:prstGeom prst="rect">
            <a:avLst/>
          </a:prstGeom>
          <a:noFill/>
          <a:ln/>
        </p:spPr>
        <p:txBody>
          <a:bodyPr wrap="square" lIns="0" tIns="0" rIns="0" bIns="0" rtlCol="0" anchor="t"/>
          <a:lstStyle/>
          <a:p>
            <a:pPr algn="ctr" indent="0" marL="0">
              <a:buNone/>
            </a:pPr>
            <a:r>
              <a:rPr lang="en-US" sz="1400" b="1" dirty="0">
                <a:solidFill>
                  <a:schemeClr val="accent1"/>
                </a:solidFill>
              </a:rPr>
              <a:t>Jeudi 22 oct.</a:t>
            </a:r>
            <a:endParaRPr lang="en-US" sz="1400" dirty="0"/>
          </a:p>
        </p:txBody>
      </p:sp>
      <p:sp>
        <p:nvSpPr>
          <p:cNvPr id="22" name="Titre TP-04"/>
          <p:cNvSpPr txBox="1"/>
          <p:nvPr/>
        </p:nvSpPr>
        <p:spPr>
          <a:xfrm>
            <a:off x="7269480" y="3154680"/>
            <a:ext cx="2194560" cy="685800"/>
          </a:xfrm>
          <a:prstGeom prst="rect">
            <a:avLst/>
          </a:prstGeom>
          <a:noFill/>
          <a:ln/>
        </p:spPr>
        <p:txBody>
          <a:bodyPr wrap="square" lIns="0" tIns="0" rIns="0" bIns="0" rtlCol="0" anchor="t"/>
          <a:lstStyle/>
          <a:p>
            <a:pPr algn="ctr" indent="0" marL="0">
              <a:buNone/>
            </a:pPr>
            <a:r>
              <a:rPr lang="en-US" sz="1600" b="1" dirty="0">
                <a:solidFill>
                  <a:schemeClr val="tx2"/>
                </a:solidFill>
              </a:rPr>
              <a:t>Blazor : sécurité et état</a:t>
            </a:r>
            <a:endParaRPr lang="en-US" sz="1600" dirty="0"/>
          </a:p>
        </p:txBody>
      </p:sp>
      <p:sp>
        <p:nvSpPr>
          <p:cNvPr id="23" name="Résumé TP-04"/>
          <p:cNvSpPr txBox="1"/>
          <p:nvPr/>
        </p:nvSpPr>
        <p:spPr>
          <a:xfrm>
            <a:off x="7360920" y="388620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JWT, état, bibliothèque</a:t>
            </a:r>
            <a:endParaRPr lang="en-US" sz="1400" dirty="0"/>
          </a:p>
        </p:txBody>
      </p:sp>
      <p:sp>
        <p:nvSpPr>
          <p:cNvPr id="24" name="TP-05"/>
          <p:cNvSpPr/>
          <p:nvPr/>
        </p:nvSpPr>
        <p:spPr>
          <a:xfrm>
            <a:off x="10058400" y="160020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FFFF00"/>
          </a:solidFill>
          <a:ln w="12700">
            <a:solidFill>
              <a:srgbClr val="FFFF00">
                <a:alpha val="0"/>
              </a:srgbClr>
            </a:solidFill>
            <a:prstDash val="solid"/>
          </a:ln>
        </p:spPr>
      </p:sp>
      <p:sp>
        <p:nvSpPr>
          <p:cNvPr id="25" name="Numéro TP-05"/>
          <p:cNvSpPr txBox="1"/>
          <p:nvPr/>
        </p:nvSpPr>
        <p:spPr>
          <a:xfrm>
            <a:off x="10058400" y="1600200"/>
            <a:ext cx="1097280" cy="950976"/>
          </a:xfrm>
          <a:prstGeom prst="rect">
            <a:avLst/>
          </a:prstGeom>
          <a:noFill/>
          <a:ln/>
        </p:spPr>
        <p:txBody>
          <a:bodyPr wrap="square" lIns="0" tIns="0" rIns="0" bIns="0" rtlCol="0" anchor="ctr"/>
          <a:lstStyle/>
          <a:p>
            <a:pPr algn="ctr" indent="0" marL="0">
              <a:buNone/>
            </a:pPr>
            <a:r>
              <a:rPr lang="en-US" sz="2400" b="1" dirty="0">
                <a:solidFill>
                  <a:schemeClr val="tx2"/>
                </a:solidFill>
              </a:rPr>
              <a:t>05</a:t>
            </a:r>
            <a:endParaRPr lang="en-US" sz="2400" dirty="0"/>
          </a:p>
        </p:txBody>
      </p:sp>
      <p:sp>
        <p:nvSpPr>
          <p:cNvPr id="26" name="Jour TP-05"/>
          <p:cNvSpPr txBox="1"/>
          <p:nvPr/>
        </p:nvSpPr>
        <p:spPr>
          <a:xfrm>
            <a:off x="9509760" y="2788920"/>
            <a:ext cx="2194560" cy="320040"/>
          </a:xfrm>
          <a:prstGeom prst="rect">
            <a:avLst/>
          </a:prstGeom>
          <a:noFill/>
          <a:ln/>
        </p:spPr>
        <p:txBody>
          <a:bodyPr wrap="square" lIns="0" tIns="0" rIns="0" bIns="0" rtlCol="0" anchor="t"/>
          <a:lstStyle/>
          <a:p>
            <a:pPr algn="ctr" indent="0" marL="0">
              <a:buNone/>
            </a:pPr>
            <a:r>
              <a:rPr lang="en-US" sz="1400" b="1" dirty="0">
                <a:solidFill>
                  <a:schemeClr val="accent1"/>
                </a:solidFill>
              </a:rPr>
              <a:t>Vendredi 23 oct.</a:t>
            </a:r>
            <a:endParaRPr lang="en-US" sz="1400" dirty="0"/>
          </a:p>
        </p:txBody>
      </p:sp>
      <p:sp>
        <p:nvSpPr>
          <p:cNvPr id="27" name="Titre TP-05"/>
          <p:cNvSpPr txBox="1"/>
          <p:nvPr/>
        </p:nvSpPr>
        <p:spPr>
          <a:xfrm>
            <a:off x="9509760" y="3154680"/>
            <a:ext cx="2194560" cy="685800"/>
          </a:xfrm>
          <a:prstGeom prst="rect">
            <a:avLst/>
          </a:prstGeom>
          <a:noFill/>
          <a:ln/>
        </p:spPr>
        <p:txBody>
          <a:bodyPr wrap="square" lIns="0" tIns="0" rIns="0" bIns="0" rtlCol="0" anchor="t"/>
          <a:lstStyle/>
          <a:p>
            <a:pPr algn="ctr" indent="0" marL="0">
              <a:buNone/>
            </a:pPr>
            <a:r>
              <a:rPr lang="en-US" sz="1600" b="1" dirty="0">
                <a:solidFill>
                  <a:schemeClr val="tx2"/>
                </a:solidFill>
              </a:rPr>
              <a:t>Déboguer une appli</a:t>
            </a:r>
            <a:endParaRPr lang="en-US" sz="1600" dirty="0"/>
          </a:p>
        </p:txBody>
      </p:sp>
      <p:sp>
        <p:nvSpPr>
          <p:cNvPr id="28" name="Résumé TP-05"/>
          <p:cNvSpPr txBox="1"/>
          <p:nvPr/>
        </p:nvSpPr>
        <p:spPr>
          <a:xfrm>
            <a:off x="9601200" y="388620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Débogueur, logs, Aspire · bonus</a:t>
            </a:r>
            <a:endParaRPr lang="en-US" sz="1400" dirty="0"/>
          </a:p>
        </p:txBody>
      </p:sp>
      <p:sp>
        <p:nvSpPr>
          <p:cNvPr id="29" name="Note enchaînement"/>
          <p:cNvSpPr txBox="1"/>
          <p:nvPr/>
        </p:nvSpPr>
        <p:spPr>
          <a:xfrm>
            <a:off x="1097280" y="5120640"/>
            <a:ext cx="9966960" cy="731520"/>
          </a:xfrm>
          <a:prstGeom prst="rect">
            <a:avLst/>
          </a:prstGeom>
          <a:noFill/>
          <a:ln/>
        </p:spPr>
        <p:txBody>
          <a:bodyPr wrap="square" lIns="0" tIns="0" rIns="0" bIns="0" rtlCol="0" anchor="t"/>
          <a:lstStyle/>
          <a:p>
            <a:pPr algn="ctr" indent="0" marL="0">
              <a:buNone/>
            </a:pPr>
            <a:r>
              <a:rPr lang="en-US" sz="1500" i="1" dirty="0">
                <a:solidFill>
                  <a:schemeClr val="tx1"/>
                </a:solidFill>
              </a:rPr>
              <a:t>Les TP 02 à 05 reprennent la même application : chaque départ part de la solution de la veille, donc un TP non terminé ne bloque pas le suivant.</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La méthode : les tests passent au vert</a:t>
            </a:r>
            <a:endParaRPr lang="en-US" sz="3000" dirty="0"/>
          </a:p>
        </p:txBody>
      </p:sp>
      <p:sp>
        <p:nvSpPr>
          <p:cNvPr id="3" name="Étape 1"/>
          <p:cNvSpPr/>
          <p:nvPr/>
        </p:nvSpPr>
        <p:spPr>
          <a:xfrm>
            <a:off x="1325880" y="1417320"/>
            <a:ext cx="1188720" cy="1029462"/>
          </a:xfrm>
          <a:custGeom>
            <a:avLst/>
            <a:gdLst/>
            <a:ahLst/>
            <a:cxnLst/>
            <a:rect l="l" t="t" r="r" b="b"/>
            <a:pathLst>
              <a:path w="1188720" h="1029462">
                <a:moveTo>
                  <a:pt x="0" y="514731"/>
                </a:moveTo>
                <a:lnTo>
                  <a:pt x="297180" y="0"/>
                </a:lnTo>
                <a:lnTo>
                  <a:pt x="891540" y="0"/>
                </a:lnTo>
                <a:lnTo>
                  <a:pt x="1188720" y="514731"/>
                </a:lnTo>
                <a:lnTo>
                  <a:pt x="891540" y="1029462"/>
                </a:lnTo>
                <a:lnTo>
                  <a:pt x="297180" y="1029462"/>
                </a:lnTo>
                <a:close/>
              </a:path>
            </a:pathLst>
          </a:custGeom>
          <a:solidFill>
            <a:srgbClr val="0040FF"/>
          </a:solidFill>
          <a:ln w="12700">
            <a:solidFill>
              <a:srgbClr val="0040FF">
                <a:alpha val="0"/>
              </a:srgbClr>
            </a:solidFill>
            <a:prstDash val="solid"/>
          </a:ln>
        </p:spPr>
      </p:sp>
      <p:pic>
        <p:nvPicPr>
          <p:cNvPr id="4" name="Icône étape 1" descr="Lire l'énoncé">    </p:cNvPr>
          <p:cNvPicPr>
            <a:picLocks noChangeAspect="1"/>
          </p:cNvPicPr>
          <p:nvPr/>
        </p:nvPicPr>
        <p:blipFill>
          <a:blip r:embed="rId1"/>
          <a:stretch>
            <a:fillRect/>
          </a:stretch>
        </p:blipFill>
        <p:spPr>
          <a:xfrm>
            <a:off x="1645920" y="1645920"/>
            <a:ext cx="548640" cy="548640"/>
          </a:xfrm>
          <a:prstGeom prst="rect">
            <a:avLst/>
          </a:prstGeom>
        </p:spPr>
      </p:pic>
      <p:sp>
        <p:nvSpPr>
          <p:cNvPr id="5" name="Titre étape 1"/>
          <p:cNvSpPr txBox="1"/>
          <p:nvPr/>
        </p:nvSpPr>
        <p:spPr>
          <a:xfrm>
            <a:off x="548640" y="2606040"/>
            <a:ext cx="2743200" cy="365760"/>
          </a:xfrm>
          <a:prstGeom prst="rect">
            <a:avLst/>
          </a:prstGeom>
          <a:noFill/>
          <a:ln/>
        </p:spPr>
        <p:txBody>
          <a:bodyPr wrap="square" lIns="0" tIns="0" rIns="0" bIns="0" rtlCol="0" anchor="t"/>
          <a:lstStyle/>
          <a:p>
            <a:pPr algn="ctr" indent="0" marL="0">
              <a:buNone/>
            </a:pPr>
            <a:r>
              <a:rPr lang="en-US" sz="1700" b="1" dirty="0">
                <a:solidFill>
                  <a:schemeClr val="tx2"/>
                </a:solidFill>
              </a:rPr>
              <a:t>1. Lire l'énoncé</a:t>
            </a:r>
            <a:endParaRPr lang="en-US" sz="1700" dirty="0"/>
          </a:p>
        </p:txBody>
      </p:sp>
      <p:sp>
        <p:nvSpPr>
          <p:cNvPr id="6" name="Détail étape 1"/>
          <p:cNvSpPr txBox="1"/>
          <p:nvPr/>
        </p:nvSpPr>
        <p:spPr>
          <a:xfrm>
            <a:off x="685800" y="3017520"/>
            <a:ext cx="2468880" cy="868680"/>
          </a:xfrm>
          <a:prstGeom prst="rect">
            <a:avLst/>
          </a:prstGeom>
          <a:noFill/>
          <a:ln/>
        </p:spPr>
        <p:txBody>
          <a:bodyPr wrap="square" lIns="0" tIns="0" rIns="0" bIns="0" rtlCol="0" anchor="t"/>
          <a:lstStyle/>
          <a:p>
            <a:pPr algn="ctr" indent="0" marL="0">
              <a:buNone/>
            </a:pPr>
            <a:r>
              <a:rPr lang="en-US" sz="1400" dirty="0">
                <a:solidFill>
                  <a:schemeClr val="tx1"/>
                </a:solidFill>
              </a:rPr>
              <a:t>enonce.html, dans le dossier du TP : consignes, indices, comparaisons</a:t>
            </a:r>
            <a:endParaRPr lang="en-US" sz="1400" dirty="0"/>
          </a:p>
        </p:txBody>
      </p:sp>
      <p:pic>
        <p:nvPicPr>
          <p:cNvPr id="7" name="Flèche 1" descr="puis">    </p:cNvPr>
          <p:cNvPicPr>
            <a:picLocks noChangeAspect="1"/>
          </p:cNvPicPr>
          <p:nvPr/>
        </p:nvPicPr>
        <p:blipFill>
          <a:blip r:embed="rId2"/>
          <a:stretch>
            <a:fillRect/>
          </a:stretch>
        </p:blipFill>
        <p:spPr>
          <a:xfrm>
            <a:off x="3154680" y="1828800"/>
            <a:ext cx="365760" cy="365760"/>
          </a:xfrm>
          <a:prstGeom prst="rect">
            <a:avLst/>
          </a:prstGeom>
        </p:spPr>
      </p:pic>
      <p:sp>
        <p:nvSpPr>
          <p:cNvPr id="8" name="Étape 2"/>
          <p:cNvSpPr/>
          <p:nvPr/>
        </p:nvSpPr>
        <p:spPr>
          <a:xfrm>
            <a:off x="4160520" y="1417320"/>
            <a:ext cx="1188720" cy="1029462"/>
          </a:xfrm>
          <a:custGeom>
            <a:avLst/>
            <a:gdLst/>
            <a:ahLst/>
            <a:cxnLst/>
            <a:rect l="l" t="t" r="r" b="b"/>
            <a:pathLst>
              <a:path w="1188720" h="1029462">
                <a:moveTo>
                  <a:pt x="0" y="514731"/>
                </a:moveTo>
                <a:lnTo>
                  <a:pt x="297180" y="0"/>
                </a:lnTo>
                <a:lnTo>
                  <a:pt x="891540" y="0"/>
                </a:lnTo>
                <a:lnTo>
                  <a:pt x="1188720" y="514731"/>
                </a:lnTo>
                <a:lnTo>
                  <a:pt x="891540" y="1029462"/>
                </a:lnTo>
                <a:lnTo>
                  <a:pt x="297180" y="1029462"/>
                </a:lnTo>
                <a:close/>
              </a:path>
            </a:pathLst>
          </a:custGeom>
          <a:solidFill>
            <a:srgbClr val="0040FF"/>
          </a:solidFill>
          <a:ln w="12700">
            <a:solidFill>
              <a:srgbClr val="0040FF">
                <a:alpha val="0"/>
              </a:srgbClr>
            </a:solidFill>
            <a:prstDash val="solid"/>
          </a:ln>
        </p:spPr>
      </p:sp>
      <p:pic>
        <p:nvPicPr>
          <p:cNvPr id="9" name="Icône étape 2" descr="Coder dans depart/">    </p:cNvPr>
          <p:cNvPicPr>
            <a:picLocks noChangeAspect="1"/>
          </p:cNvPicPr>
          <p:nvPr/>
        </p:nvPicPr>
        <p:blipFill>
          <a:blip r:embed="rId3"/>
          <a:stretch>
            <a:fillRect/>
          </a:stretch>
        </p:blipFill>
        <p:spPr>
          <a:xfrm>
            <a:off x="4480560" y="1645920"/>
            <a:ext cx="548640" cy="548640"/>
          </a:xfrm>
          <a:prstGeom prst="rect">
            <a:avLst/>
          </a:prstGeom>
        </p:spPr>
      </p:pic>
      <p:sp>
        <p:nvSpPr>
          <p:cNvPr id="10" name="Titre étape 2"/>
          <p:cNvSpPr txBox="1"/>
          <p:nvPr/>
        </p:nvSpPr>
        <p:spPr>
          <a:xfrm>
            <a:off x="3383280" y="2606040"/>
            <a:ext cx="2743200" cy="365760"/>
          </a:xfrm>
          <a:prstGeom prst="rect">
            <a:avLst/>
          </a:prstGeom>
          <a:noFill/>
          <a:ln/>
        </p:spPr>
        <p:txBody>
          <a:bodyPr wrap="square" lIns="0" tIns="0" rIns="0" bIns="0" rtlCol="0" anchor="t"/>
          <a:lstStyle/>
          <a:p>
            <a:pPr algn="ctr" indent="0" marL="0">
              <a:buNone/>
            </a:pPr>
            <a:r>
              <a:rPr lang="en-US" sz="1700" b="1" dirty="0">
                <a:solidFill>
                  <a:schemeClr val="tx2"/>
                </a:solidFill>
              </a:rPr>
              <a:t>2. Coder dans depart/</a:t>
            </a:r>
            <a:endParaRPr lang="en-US" sz="1700" dirty="0"/>
          </a:p>
        </p:txBody>
      </p:sp>
      <p:sp>
        <p:nvSpPr>
          <p:cNvPr id="11" name="Détail étape 2"/>
          <p:cNvSpPr txBox="1"/>
          <p:nvPr/>
        </p:nvSpPr>
        <p:spPr>
          <a:xfrm>
            <a:off x="3520440" y="3017520"/>
            <a:ext cx="2468880" cy="868680"/>
          </a:xfrm>
          <a:prstGeom prst="rect">
            <a:avLst/>
          </a:prstGeom>
          <a:noFill/>
          <a:ln/>
        </p:spPr>
        <p:txBody>
          <a:bodyPr wrap="square" lIns="0" tIns="0" rIns="0" bIns="0" rtlCol="0" anchor="t"/>
          <a:lstStyle/>
          <a:p>
            <a:pPr algn="ctr" indent="0" marL="0">
              <a:buNone/>
            </a:pPr>
            <a:r>
              <a:rPr lang="en-US" sz="1400" dirty="0">
                <a:solidFill>
                  <a:schemeClr val="tx1"/>
                </a:solidFill>
              </a:rPr>
              <a:t>le code à compléter est marqué TODO Exercise NN</a:t>
            </a:r>
            <a:endParaRPr lang="en-US" sz="1400" dirty="0"/>
          </a:p>
        </p:txBody>
      </p:sp>
      <p:pic>
        <p:nvPicPr>
          <p:cNvPr id="12" name="Flèche 2" descr="puis">    </p:cNvPr>
          <p:cNvPicPr>
            <a:picLocks noChangeAspect="1"/>
          </p:cNvPicPr>
          <p:nvPr/>
        </p:nvPicPr>
        <p:blipFill>
          <a:blip r:embed="rId4"/>
          <a:stretch>
            <a:fillRect/>
          </a:stretch>
        </p:blipFill>
        <p:spPr>
          <a:xfrm>
            <a:off x="5989320" y="1828800"/>
            <a:ext cx="365760" cy="365760"/>
          </a:xfrm>
          <a:prstGeom prst="rect">
            <a:avLst/>
          </a:prstGeom>
        </p:spPr>
      </p:pic>
      <p:sp>
        <p:nvSpPr>
          <p:cNvPr id="13" name="Étape 3"/>
          <p:cNvSpPr/>
          <p:nvPr/>
        </p:nvSpPr>
        <p:spPr>
          <a:xfrm>
            <a:off x="6995160" y="1417320"/>
            <a:ext cx="1188720" cy="1029462"/>
          </a:xfrm>
          <a:custGeom>
            <a:avLst/>
            <a:gdLst/>
            <a:ahLst/>
            <a:cxnLst/>
            <a:rect l="l" t="t" r="r" b="b"/>
            <a:pathLst>
              <a:path w="1188720" h="1029462">
                <a:moveTo>
                  <a:pt x="0" y="514731"/>
                </a:moveTo>
                <a:lnTo>
                  <a:pt x="297180" y="0"/>
                </a:lnTo>
                <a:lnTo>
                  <a:pt x="891540" y="0"/>
                </a:lnTo>
                <a:lnTo>
                  <a:pt x="1188720" y="514731"/>
                </a:lnTo>
                <a:lnTo>
                  <a:pt x="891540" y="1029462"/>
                </a:lnTo>
                <a:lnTo>
                  <a:pt x="297180" y="1029462"/>
                </a:lnTo>
                <a:close/>
              </a:path>
            </a:pathLst>
          </a:custGeom>
          <a:solidFill>
            <a:srgbClr val="0040FF"/>
          </a:solidFill>
          <a:ln w="12700">
            <a:solidFill>
              <a:srgbClr val="0040FF">
                <a:alpha val="0"/>
              </a:srgbClr>
            </a:solidFill>
            <a:prstDash val="solid"/>
          </a:ln>
        </p:spPr>
      </p:sp>
      <p:pic>
        <p:nvPicPr>
          <p:cNvPr id="14" name="Icône étape 3" descr="Lancer les tests">    </p:cNvPr>
          <p:cNvPicPr>
            <a:picLocks noChangeAspect="1"/>
          </p:cNvPicPr>
          <p:nvPr/>
        </p:nvPicPr>
        <p:blipFill>
          <a:blip r:embed="rId5"/>
          <a:stretch>
            <a:fillRect/>
          </a:stretch>
        </p:blipFill>
        <p:spPr>
          <a:xfrm>
            <a:off x="7315200" y="1645920"/>
            <a:ext cx="548640" cy="548640"/>
          </a:xfrm>
          <a:prstGeom prst="rect">
            <a:avLst/>
          </a:prstGeom>
        </p:spPr>
      </p:pic>
      <p:sp>
        <p:nvSpPr>
          <p:cNvPr id="15" name="Titre étape 3"/>
          <p:cNvSpPr txBox="1"/>
          <p:nvPr/>
        </p:nvSpPr>
        <p:spPr>
          <a:xfrm>
            <a:off x="6217920" y="2606040"/>
            <a:ext cx="2743200" cy="365760"/>
          </a:xfrm>
          <a:prstGeom prst="rect">
            <a:avLst/>
          </a:prstGeom>
          <a:noFill/>
          <a:ln/>
        </p:spPr>
        <p:txBody>
          <a:bodyPr wrap="square" lIns="0" tIns="0" rIns="0" bIns="0" rtlCol="0" anchor="t"/>
          <a:lstStyle/>
          <a:p>
            <a:pPr algn="ctr" indent="0" marL="0">
              <a:buNone/>
            </a:pPr>
            <a:r>
              <a:rPr lang="en-US" sz="1700" b="1" dirty="0">
                <a:solidFill>
                  <a:schemeClr val="tx2"/>
                </a:solidFill>
              </a:rPr>
              <a:t>3. Lancer les tests</a:t>
            </a:r>
            <a:endParaRPr lang="en-US" sz="1700" dirty="0"/>
          </a:p>
        </p:txBody>
      </p:sp>
      <p:sp>
        <p:nvSpPr>
          <p:cNvPr id="16" name="Détail étape 3"/>
          <p:cNvSpPr txBox="1"/>
          <p:nvPr/>
        </p:nvSpPr>
        <p:spPr>
          <a:xfrm>
            <a:off x="6355080" y="3017520"/>
            <a:ext cx="2468880" cy="868680"/>
          </a:xfrm>
          <a:prstGeom prst="rect">
            <a:avLst/>
          </a:prstGeom>
          <a:noFill/>
          <a:ln/>
        </p:spPr>
        <p:txBody>
          <a:bodyPr wrap="square" lIns="0" tIns="0" rIns="0" bIns="0" rtlCol="0" anchor="t"/>
          <a:lstStyle/>
          <a:p>
            <a:pPr algn="ctr" indent="0" marL="0">
              <a:buNone/>
            </a:pPr>
            <a:r>
              <a:rPr lang="en-US" sz="1400" dirty="0">
                <a:solidFill>
                  <a:schemeClr val="tx1"/>
                </a:solidFill>
              </a:rPr>
              <a:t>chaque exercice donne sa commande dotnet test</a:t>
            </a:r>
            <a:endParaRPr lang="en-US" sz="1400" dirty="0"/>
          </a:p>
        </p:txBody>
      </p:sp>
      <p:pic>
        <p:nvPicPr>
          <p:cNvPr id="17" name="Flèche 3" descr="puis">    </p:cNvPr>
          <p:cNvPicPr>
            <a:picLocks noChangeAspect="1"/>
          </p:cNvPicPr>
          <p:nvPr/>
        </p:nvPicPr>
        <p:blipFill>
          <a:blip r:embed="rId6"/>
          <a:stretch>
            <a:fillRect/>
          </a:stretch>
        </p:blipFill>
        <p:spPr>
          <a:xfrm>
            <a:off x="8823960" y="1828800"/>
            <a:ext cx="365760" cy="365760"/>
          </a:xfrm>
          <a:prstGeom prst="rect">
            <a:avLst/>
          </a:prstGeom>
        </p:spPr>
      </p:pic>
      <p:sp>
        <p:nvSpPr>
          <p:cNvPr id="18" name="Étape 4"/>
          <p:cNvSpPr/>
          <p:nvPr/>
        </p:nvSpPr>
        <p:spPr>
          <a:xfrm>
            <a:off x="9829800" y="1417320"/>
            <a:ext cx="1188720" cy="1029462"/>
          </a:xfrm>
          <a:custGeom>
            <a:avLst/>
            <a:gdLst/>
            <a:ahLst/>
            <a:cxnLst/>
            <a:rect l="l" t="t" r="r" b="b"/>
            <a:pathLst>
              <a:path w="1188720" h="1029462">
                <a:moveTo>
                  <a:pt x="0" y="514731"/>
                </a:moveTo>
                <a:lnTo>
                  <a:pt x="297180" y="0"/>
                </a:lnTo>
                <a:lnTo>
                  <a:pt x="891540" y="0"/>
                </a:lnTo>
                <a:lnTo>
                  <a:pt x="1188720" y="514731"/>
                </a:lnTo>
                <a:lnTo>
                  <a:pt x="891540" y="1029462"/>
                </a:lnTo>
                <a:lnTo>
                  <a:pt x="297180" y="1029462"/>
                </a:lnTo>
                <a:close/>
              </a:path>
            </a:pathLst>
          </a:custGeom>
          <a:solidFill>
            <a:srgbClr val="0040FF"/>
          </a:solidFill>
          <a:ln w="12700">
            <a:solidFill>
              <a:srgbClr val="0040FF">
                <a:alpha val="0"/>
              </a:srgbClr>
            </a:solidFill>
            <a:prstDash val="solid"/>
          </a:ln>
        </p:spPr>
      </p:sp>
      <p:pic>
        <p:nvPicPr>
          <p:cNvPr id="19" name="Icône étape 4" descr="Comparer">    </p:cNvPr>
          <p:cNvPicPr>
            <a:picLocks noChangeAspect="1"/>
          </p:cNvPicPr>
          <p:nvPr/>
        </p:nvPicPr>
        <p:blipFill>
          <a:blip r:embed="rId7"/>
          <a:stretch>
            <a:fillRect/>
          </a:stretch>
        </p:blipFill>
        <p:spPr>
          <a:xfrm>
            <a:off x="10149840" y="1645920"/>
            <a:ext cx="548640" cy="548640"/>
          </a:xfrm>
          <a:prstGeom prst="rect">
            <a:avLst/>
          </a:prstGeom>
        </p:spPr>
      </p:pic>
      <p:sp>
        <p:nvSpPr>
          <p:cNvPr id="20" name="Titre étape 4"/>
          <p:cNvSpPr txBox="1"/>
          <p:nvPr/>
        </p:nvSpPr>
        <p:spPr>
          <a:xfrm>
            <a:off x="9052560" y="2606040"/>
            <a:ext cx="2743200" cy="365760"/>
          </a:xfrm>
          <a:prstGeom prst="rect">
            <a:avLst/>
          </a:prstGeom>
          <a:noFill/>
          <a:ln/>
        </p:spPr>
        <p:txBody>
          <a:bodyPr wrap="square" lIns="0" tIns="0" rIns="0" bIns="0" rtlCol="0" anchor="t"/>
          <a:lstStyle/>
          <a:p>
            <a:pPr algn="ctr" indent="0" marL="0">
              <a:buNone/>
            </a:pPr>
            <a:r>
              <a:rPr lang="en-US" sz="1700" b="1" dirty="0">
                <a:solidFill>
                  <a:schemeClr val="tx2"/>
                </a:solidFill>
              </a:rPr>
              <a:t>4. Comparer</a:t>
            </a:r>
            <a:endParaRPr lang="en-US" sz="1700" dirty="0"/>
          </a:p>
        </p:txBody>
      </p:sp>
      <p:sp>
        <p:nvSpPr>
          <p:cNvPr id="21" name="Détail étape 4"/>
          <p:cNvSpPr txBox="1"/>
          <p:nvPr/>
        </p:nvSpPr>
        <p:spPr>
          <a:xfrm>
            <a:off x="9189720" y="3017520"/>
            <a:ext cx="2468880" cy="868680"/>
          </a:xfrm>
          <a:prstGeom prst="rect">
            <a:avLst/>
          </a:prstGeom>
          <a:noFill/>
          <a:ln/>
        </p:spPr>
        <p:txBody>
          <a:bodyPr wrap="square" lIns="0" tIns="0" rIns="0" bIns="0" rtlCol="0" anchor="t"/>
          <a:lstStyle/>
          <a:p>
            <a:pPr algn="ctr" indent="0" marL="0">
              <a:buNone/>
            </a:pPr>
            <a:r>
              <a:rPr lang="en-US" sz="1400" dirty="0">
                <a:solidFill>
                  <a:schemeClr val="tx1"/>
                </a:solidFill>
              </a:rPr>
              <a:t>avec solution/, dont les commentaires expliquent les choix</a:t>
            </a:r>
            <a:endParaRPr lang="en-US" sz="1400" dirty="0"/>
          </a:p>
        </p:txBody>
      </p:sp>
      <p:sp>
        <p:nvSpPr>
          <p:cNvPr id="22" name="Bloc commande"/>
          <p:cNvSpPr/>
          <p:nvPr/>
        </p:nvSpPr>
        <p:spPr>
          <a:xfrm>
            <a:off x="548640" y="4251960"/>
            <a:ext cx="11109960" cy="1051560"/>
          </a:xfrm>
          <a:prstGeom prst="roundRect">
            <a:avLst>
              <a:gd name="adj" fmla="val 8696"/>
            </a:avLst>
          </a:prstGeom>
          <a:solidFill>
            <a:schemeClr val="tx2"/>
          </a:solidFill>
          <a:ln w="12700">
            <a:solidFill>
              <a:srgbClr val="000057"/>
            </a:solidFill>
            <a:prstDash val="solid"/>
          </a:ln>
        </p:spPr>
      </p:sp>
      <p:sp>
        <p:nvSpPr>
          <p:cNvPr id="23" name="Commande"/>
          <p:cNvSpPr txBox="1"/>
          <p:nvPr/>
        </p:nvSpPr>
        <p:spPr>
          <a:xfrm>
            <a:off x="868680" y="4251960"/>
            <a:ext cx="10515600" cy="1051560"/>
          </a:xfrm>
          <a:prstGeom prst="rect">
            <a:avLst/>
          </a:prstGeom>
          <a:noFill/>
          <a:ln/>
        </p:spPr>
        <p:txBody>
          <a:bodyPr wrap="square" lIns="0" tIns="0" rIns="0" bIns="0" rtlCol="0" anchor="ctr"/>
          <a:lstStyle/>
          <a:p>
            <a:pPr indent="0" marL="0">
              <a:buNone/>
            </a:pPr>
            <a:r>
              <a:rPr lang="en-US" sz="1600" dirty="0">
                <a:solidFill>
                  <a:schemeClr val="accent2"/>
                </a:solidFill>
                <a:latin typeface="Courier New" pitchFamily="34" charset="0"/>
                <a:ea typeface="Courier New" pitchFamily="34" charset="-122"/>
                <a:cs typeface="Courier New" pitchFamily="34" charset="-120"/>
              </a:rPr>
              <a:t>$ </a:t>
            </a:r>
            <a:pPr indent="0" marL="0">
              <a:buNone/>
            </a:pPr>
            <a:r>
              <a:rPr lang="en-US" sz="1600" dirty="0">
                <a:solidFill>
                  <a:schemeClr val="bg1"/>
                </a:solidFill>
                <a:latin typeface="Courier New" pitchFamily="34" charset="0"/>
                <a:ea typeface="Courier New" pitchFamily="34" charset="-122"/>
                <a:cs typeface="Courier New" pitchFamily="34" charset="-120"/>
              </a:rPr>
              <a:t>dotnet test --solution depart/Katas.slnx --filter-namespace "Katas.Tests.Exercise03"</a:t>
            </a:r>
            <a:endParaRPr lang="en-US" sz="1600" dirty="0"/>
          </a:p>
        </p:txBody>
      </p:sp>
      <p:sp>
        <p:nvSpPr>
          <p:cNvPr id="24" name="Note validation"/>
          <p:cNvSpPr txBox="1"/>
          <p:nvPr/>
        </p:nvSpPr>
        <p:spPr>
          <a:xfrm>
            <a:off x="548640" y="5532120"/>
            <a:ext cx="11109960" cy="411480"/>
          </a:xfrm>
          <a:prstGeom prst="rect">
            <a:avLst/>
          </a:prstGeom>
          <a:noFill/>
          <a:ln/>
        </p:spPr>
        <p:txBody>
          <a:bodyPr wrap="square" lIns="0" tIns="0" rIns="0" bIns="0" rtlCol="0" anchor="t"/>
          <a:lstStyle/>
          <a:p>
            <a:pPr indent="0" marL="0">
              <a:buNone/>
            </a:pPr>
            <a:r>
              <a:rPr lang="en-US" sz="1500" i="1" dirty="0">
                <a:solidFill>
                  <a:schemeClr val="tx1"/>
                </a:solidFill>
              </a:rPr>
              <a:t>On se valide soi-même : pas de branche obligatoire, pas de rendu formel. Les tests verts font foi.</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Chaque notion, en face de votre langage</a:t>
            </a:r>
            <a:endParaRPr lang="en-US" sz="3000" dirty="0"/>
          </a:p>
        </p:txBody>
      </p:sp>
      <p:sp>
        <p:nvSpPr>
          <p:cNvPr id="3" name="Explication"/>
          <p:cNvSpPr txBox="1"/>
          <p:nvPr/>
        </p:nvSpPr>
        <p:spPr>
          <a:xfrm>
            <a:off x="548640" y="1417320"/>
            <a:ext cx="3566160" cy="1645920"/>
          </a:xfrm>
          <a:prstGeom prst="rect">
            <a:avLst/>
          </a:prstGeom>
          <a:noFill/>
          <a:ln/>
        </p:spPr>
        <p:txBody>
          <a:bodyPr wrap="square" lIns="0" tIns="0" rIns="0" bIns="0" rtlCol="0" anchor="t"/>
          <a:lstStyle/>
          <a:p>
            <a:pPr indent="0" marL="0">
              <a:buNone/>
            </a:pPr>
            <a:r>
              <a:rPr lang="en-US" sz="1700" dirty="0">
                <a:solidFill>
                  <a:schemeClr val="tx2"/>
                </a:solidFill>
              </a:rPr>
              <a:t>Chaque énoncé montre le C#, et à côté l'équivalent dans l'écosystème de votre choix : Java, Rust, Python ou JavaScript.</a:t>
            </a:r>
            <a:endParaRPr lang="en-US" sz="1700" dirty="0"/>
          </a:p>
        </p:txBody>
      </p:sp>
      <p:sp>
        <p:nvSpPr>
          <p:cNvPr id="4" name="Points"/>
          <p:cNvSpPr txBox="1"/>
          <p:nvPr/>
        </p:nvSpPr>
        <p:spPr>
          <a:xfrm>
            <a:off x="548640" y="3154680"/>
            <a:ext cx="356616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Le choix se fait dans la page, et reste mémorisé.</a:t>
            </a:r>
            <a:endParaRPr lang="en-US" sz="1500" dirty="0"/>
          </a:p>
          <a:p>
            <a:pPr marL="342900" indent="-342900">
              <a:spcAft>
                <a:spcPts val="1000"/>
              </a:spcAft>
              <a:buSzPct val="100000"/>
              <a:buChar char="•"/>
            </a:pPr>
            <a:r>
              <a:rPr lang="en-US" sz="1500" dirty="0">
                <a:solidFill>
                  <a:schemeClr val="tx1"/>
                </a:solidFill>
              </a:rPr>
              <a:t>Les ponts disent aussi ce qui diffère : un Task démarre tout de suite, contrairement à un futur Rust.</a:t>
            </a:r>
            <a:endParaRPr lang="en-US" sz="1500" dirty="0"/>
          </a:p>
        </p:txBody>
      </p:sp>
      <p:sp>
        <p:nvSpPr>
          <p:cNvPr id="5" name="Ligne C#"/>
          <p:cNvSpPr/>
          <p:nvPr/>
        </p:nvSpPr>
        <p:spPr>
          <a:xfrm>
            <a:off x="4389120" y="1417320"/>
            <a:ext cx="7269480" cy="548640"/>
          </a:xfrm>
          <a:prstGeom prst="roundRect">
            <a:avLst>
              <a:gd name="adj" fmla="val 13333"/>
            </a:avLst>
          </a:prstGeom>
          <a:solidFill>
            <a:schemeClr val="tx2"/>
          </a:solidFill>
          <a:ln w="12700">
            <a:solidFill>
              <a:srgbClr val="000057"/>
            </a:solidFill>
            <a:prstDash val="solid"/>
          </a:ln>
        </p:spPr>
      </p:sp>
      <p:sp>
        <p:nvSpPr>
          <p:cNvPr id="6" name="Langage C#"/>
          <p:cNvSpPr txBox="1"/>
          <p:nvPr/>
        </p:nvSpPr>
        <p:spPr>
          <a:xfrm>
            <a:off x="4572000" y="1417320"/>
            <a:ext cx="1188720" cy="548640"/>
          </a:xfrm>
          <a:prstGeom prst="rect">
            <a:avLst/>
          </a:prstGeom>
          <a:noFill/>
          <a:ln/>
        </p:spPr>
        <p:txBody>
          <a:bodyPr wrap="square" lIns="0" tIns="0" rIns="0" bIns="0" rtlCol="0" anchor="ctr"/>
          <a:lstStyle/>
          <a:p>
            <a:pPr indent="0" marL="0">
              <a:buNone/>
            </a:pPr>
            <a:r>
              <a:rPr lang="en-US" sz="1400" b="1" dirty="0">
                <a:solidFill>
                  <a:schemeClr val="accent2"/>
                </a:solidFill>
              </a:rPr>
              <a:t>C#</a:t>
            </a:r>
            <a:endParaRPr lang="en-US" sz="1400" dirty="0"/>
          </a:p>
        </p:txBody>
      </p:sp>
      <p:sp>
        <p:nvSpPr>
          <p:cNvPr id="7" name="Code C#"/>
          <p:cNvSpPr txBox="1"/>
          <p:nvPr/>
        </p:nvSpPr>
        <p:spPr>
          <a:xfrm>
            <a:off x="5806440" y="1417320"/>
            <a:ext cx="5760720" cy="54864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public record Money(decimal Amount, string Currency);</a:t>
            </a:r>
            <a:endParaRPr lang="en-US" sz="1300" dirty="0"/>
          </a:p>
        </p:txBody>
      </p:sp>
      <p:sp>
        <p:nvSpPr>
          <p:cNvPr id="8" name="Ligne Java"/>
          <p:cNvSpPr/>
          <p:nvPr/>
        </p:nvSpPr>
        <p:spPr>
          <a:xfrm>
            <a:off x="4389120" y="2057400"/>
            <a:ext cx="7269480" cy="548640"/>
          </a:xfrm>
          <a:prstGeom prst="roundRect">
            <a:avLst>
              <a:gd name="adj" fmla="val 13333"/>
            </a:avLst>
          </a:prstGeom>
          <a:solidFill>
            <a:schemeClr val="bg2"/>
          </a:solidFill>
          <a:ln w="12700">
            <a:solidFill>
              <a:srgbClr val="E1EAF1"/>
            </a:solidFill>
            <a:prstDash val="solid"/>
          </a:ln>
        </p:spPr>
      </p:sp>
      <p:sp>
        <p:nvSpPr>
          <p:cNvPr id="9" name="Langage Java"/>
          <p:cNvSpPr txBox="1"/>
          <p:nvPr/>
        </p:nvSpPr>
        <p:spPr>
          <a:xfrm>
            <a:off x="4572000" y="2057400"/>
            <a:ext cx="1188720" cy="548640"/>
          </a:xfrm>
          <a:prstGeom prst="rect">
            <a:avLst/>
          </a:prstGeom>
          <a:noFill/>
          <a:ln/>
        </p:spPr>
        <p:txBody>
          <a:bodyPr wrap="square" lIns="0" tIns="0" rIns="0" bIns="0" rtlCol="0" anchor="ctr"/>
          <a:lstStyle/>
          <a:p>
            <a:pPr indent="0" marL="0">
              <a:buNone/>
            </a:pPr>
            <a:r>
              <a:rPr lang="en-US" sz="1400" b="1" dirty="0">
                <a:solidFill>
                  <a:schemeClr val="tx2"/>
                </a:solidFill>
              </a:rPr>
              <a:t>Java</a:t>
            </a:r>
            <a:endParaRPr lang="en-US" sz="1400" dirty="0"/>
          </a:p>
        </p:txBody>
      </p:sp>
      <p:sp>
        <p:nvSpPr>
          <p:cNvPr id="10" name="Code Java"/>
          <p:cNvSpPr txBox="1"/>
          <p:nvPr/>
        </p:nvSpPr>
        <p:spPr>
          <a:xfrm>
            <a:off x="5806440" y="2057400"/>
            <a:ext cx="5760720" cy="54864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record Money(BigDecimal amount, String currency) {}</a:t>
            </a:r>
            <a:endParaRPr lang="en-US" sz="1300" dirty="0"/>
          </a:p>
        </p:txBody>
      </p:sp>
      <p:sp>
        <p:nvSpPr>
          <p:cNvPr id="11" name="Ligne Rust"/>
          <p:cNvSpPr/>
          <p:nvPr/>
        </p:nvSpPr>
        <p:spPr>
          <a:xfrm>
            <a:off x="4389120" y="2697480"/>
            <a:ext cx="7269480" cy="804672"/>
          </a:xfrm>
          <a:prstGeom prst="roundRect">
            <a:avLst>
              <a:gd name="adj" fmla="val 9091"/>
            </a:avLst>
          </a:prstGeom>
          <a:solidFill>
            <a:schemeClr val="bg2"/>
          </a:solidFill>
          <a:ln w="12700">
            <a:solidFill>
              <a:srgbClr val="E1EAF1"/>
            </a:solidFill>
            <a:prstDash val="solid"/>
          </a:ln>
        </p:spPr>
      </p:sp>
      <p:sp>
        <p:nvSpPr>
          <p:cNvPr id="12" name="Langage Rust"/>
          <p:cNvSpPr txBox="1"/>
          <p:nvPr/>
        </p:nvSpPr>
        <p:spPr>
          <a:xfrm>
            <a:off x="4572000" y="2697480"/>
            <a:ext cx="1188720" cy="804672"/>
          </a:xfrm>
          <a:prstGeom prst="rect">
            <a:avLst/>
          </a:prstGeom>
          <a:noFill/>
          <a:ln/>
        </p:spPr>
        <p:txBody>
          <a:bodyPr wrap="square" lIns="0" tIns="0" rIns="0" bIns="0" rtlCol="0" anchor="ctr"/>
          <a:lstStyle/>
          <a:p>
            <a:pPr indent="0" marL="0">
              <a:buNone/>
            </a:pPr>
            <a:r>
              <a:rPr lang="en-US" sz="1400" b="1" dirty="0">
                <a:solidFill>
                  <a:schemeClr val="tx2"/>
                </a:solidFill>
              </a:rPr>
              <a:t>Rust</a:t>
            </a:r>
            <a:endParaRPr lang="en-US" sz="1400" dirty="0"/>
          </a:p>
        </p:txBody>
      </p:sp>
      <p:sp>
        <p:nvSpPr>
          <p:cNvPr id="13" name="Code Rust"/>
          <p:cNvSpPr txBox="1"/>
          <p:nvPr/>
        </p:nvSpPr>
        <p:spPr>
          <a:xfrm>
            <a:off x="5806440" y="2697480"/>
            <a:ext cx="5760720" cy="80467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#[derive(Clone, PartialEq)]</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struct Money { amount: Decimal, currency: String }</a:t>
            </a:r>
            <a:endParaRPr lang="en-US" sz="1300" dirty="0"/>
          </a:p>
        </p:txBody>
      </p:sp>
      <p:sp>
        <p:nvSpPr>
          <p:cNvPr id="14" name="Ligne Python"/>
          <p:cNvSpPr/>
          <p:nvPr/>
        </p:nvSpPr>
        <p:spPr>
          <a:xfrm>
            <a:off x="4389120" y="3593592"/>
            <a:ext cx="7269480" cy="804672"/>
          </a:xfrm>
          <a:prstGeom prst="roundRect">
            <a:avLst>
              <a:gd name="adj" fmla="val 9091"/>
            </a:avLst>
          </a:prstGeom>
          <a:solidFill>
            <a:schemeClr val="bg2"/>
          </a:solidFill>
          <a:ln w="12700">
            <a:solidFill>
              <a:srgbClr val="E1EAF1"/>
            </a:solidFill>
            <a:prstDash val="solid"/>
          </a:ln>
        </p:spPr>
      </p:sp>
      <p:sp>
        <p:nvSpPr>
          <p:cNvPr id="15" name="Langage Python"/>
          <p:cNvSpPr txBox="1"/>
          <p:nvPr/>
        </p:nvSpPr>
        <p:spPr>
          <a:xfrm>
            <a:off x="4572000" y="3593592"/>
            <a:ext cx="1188720" cy="804672"/>
          </a:xfrm>
          <a:prstGeom prst="rect">
            <a:avLst/>
          </a:prstGeom>
          <a:noFill/>
          <a:ln/>
        </p:spPr>
        <p:txBody>
          <a:bodyPr wrap="square" lIns="0" tIns="0" rIns="0" bIns="0" rtlCol="0" anchor="ctr"/>
          <a:lstStyle/>
          <a:p>
            <a:pPr indent="0" marL="0">
              <a:buNone/>
            </a:pPr>
            <a:r>
              <a:rPr lang="en-US" sz="1400" b="1" dirty="0">
                <a:solidFill>
                  <a:schemeClr val="tx2"/>
                </a:solidFill>
              </a:rPr>
              <a:t>Python</a:t>
            </a:r>
            <a:endParaRPr lang="en-US" sz="1400" dirty="0"/>
          </a:p>
        </p:txBody>
      </p:sp>
      <p:sp>
        <p:nvSpPr>
          <p:cNvPr id="16" name="Code Python"/>
          <p:cNvSpPr txBox="1"/>
          <p:nvPr/>
        </p:nvSpPr>
        <p:spPr>
          <a:xfrm>
            <a:off x="5806440" y="3593592"/>
            <a:ext cx="5760720" cy="80467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@dataclass(frozen=True)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class Money: amount: Decimal; currency: str</a:t>
            </a:r>
            <a:endParaRPr lang="en-US" sz="1300" dirty="0"/>
          </a:p>
        </p:txBody>
      </p:sp>
      <p:sp>
        <p:nvSpPr>
          <p:cNvPr id="17" name="Ligne TypeScript"/>
          <p:cNvSpPr/>
          <p:nvPr/>
        </p:nvSpPr>
        <p:spPr>
          <a:xfrm>
            <a:off x="4389120" y="4489704"/>
            <a:ext cx="7269480" cy="804672"/>
          </a:xfrm>
          <a:prstGeom prst="roundRect">
            <a:avLst>
              <a:gd name="adj" fmla="val 9091"/>
            </a:avLst>
          </a:prstGeom>
          <a:solidFill>
            <a:schemeClr val="bg2"/>
          </a:solidFill>
          <a:ln w="12700">
            <a:solidFill>
              <a:srgbClr val="E1EAF1"/>
            </a:solidFill>
            <a:prstDash val="solid"/>
          </a:ln>
        </p:spPr>
      </p:sp>
      <p:sp>
        <p:nvSpPr>
          <p:cNvPr id="18" name="Langage TypeScript"/>
          <p:cNvSpPr txBox="1"/>
          <p:nvPr/>
        </p:nvSpPr>
        <p:spPr>
          <a:xfrm>
            <a:off x="4572000" y="4489704"/>
            <a:ext cx="1188720" cy="804672"/>
          </a:xfrm>
          <a:prstGeom prst="rect">
            <a:avLst/>
          </a:prstGeom>
          <a:noFill/>
          <a:ln/>
        </p:spPr>
        <p:txBody>
          <a:bodyPr wrap="square" lIns="0" tIns="0" rIns="0" bIns="0" rtlCol="0" anchor="ctr"/>
          <a:lstStyle/>
          <a:p>
            <a:pPr indent="0" marL="0">
              <a:buNone/>
            </a:pPr>
            <a:r>
              <a:rPr lang="en-US" sz="1400" b="1" dirty="0">
                <a:solidFill>
                  <a:schemeClr val="tx2"/>
                </a:solidFill>
              </a:rPr>
              <a:t>TypeScript</a:t>
            </a:r>
            <a:endParaRPr lang="en-US" sz="1400" dirty="0"/>
          </a:p>
        </p:txBody>
      </p:sp>
      <p:sp>
        <p:nvSpPr>
          <p:cNvPr id="19" name="Code TypeScript"/>
          <p:cNvSpPr txBox="1"/>
          <p:nvPr/>
        </p:nvSpPr>
        <p:spPr>
          <a:xfrm>
            <a:off x="5806440" y="4489704"/>
            <a:ext cx="5760720" cy="80467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type Money = Readonly&lt;{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amount: number; currency: string }&gt;;</a:t>
            </a:r>
            <a:endParaRPr lang="en-US" sz="13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Avant lundi 9 h : préparer son poste</a:t>
            </a:r>
            <a:endParaRPr lang="en-US" sz="3000" dirty="0"/>
          </a:p>
        </p:txBody>
      </p:sp>
      <p:sp>
        <p:nvSpPr>
          <p:cNvPr id="3" name="Carte SDK .NET 10"/>
          <p:cNvSpPr/>
          <p:nvPr/>
        </p:nvSpPr>
        <p:spPr>
          <a:xfrm>
            <a:off x="548640" y="1417320"/>
            <a:ext cx="2651760" cy="2148840"/>
          </a:xfrm>
          <a:prstGeom prst="roundRect">
            <a:avLst>
              <a:gd name="adj" fmla="val 5106"/>
            </a:avLst>
          </a:prstGeom>
          <a:solidFill>
            <a:schemeClr val="bg2"/>
          </a:solidFill>
          <a:ln w="12700">
            <a:solidFill>
              <a:srgbClr val="E1EAF1"/>
            </a:solidFill>
            <a:prstDash val="solid"/>
          </a:ln>
        </p:spPr>
      </p:sp>
      <p:sp>
        <p:nvSpPr>
          <p:cNvPr id="4" name="Pastille SDK .NET 10"/>
          <p:cNvSpPr/>
          <p:nvPr/>
        </p:nvSpPr>
        <p:spPr>
          <a:xfrm>
            <a:off x="822960" y="16916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5" name="Icône SDK .NET 10" descr="SDK .NET 10">    </p:cNvPr>
          <p:cNvPicPr>
            <a:picLocks noChangeAspect="1"/>
          </p:cNvPicPr>
          <p:nvPr/>
        </p:nvPicPr>
        <p:blipFill>
          <a:blip r:embed="rId1"/>
          <a:stretch>
            <a:fillRect/>
          </a:stretch>
        </p:blipFill>
        <p:spPr>
          <a:xfrm>
            <a:off x="1024128" y="1847088"/>
            <a:ext cx="329184" cy="329184"/>
          </a:xfrm>
          <a:prstGeom prst="rect">
            <a:avLst/>
          </a:prstGeom>
        </p:spPr>
      </p:pic>
      <p:sp>
        <p:nvSpPr>
          <p:cNvPr id="6" name="Titre SDK .NET 10"/>
          <p:cNvSpPr txBox="1"/>
          <p:nvPr/>
        </p:nvSpPr>
        <p:spPr>
          <a:xfrm>
            <a:off x="822960" y="2468880"/>
            <a:ext cx="2194560" cy="365760"/>
          </a:xfrm>
          <a:prstGeom prst="rect">
            <a:avLst/>
          </a:prstGeom>
          <a:noFill/>
          <a:ln/>
        </p:spPr>
        <p:txBody>
          <a:bodyPr wrap="square" lIns="0" tIns="0" rIns="0" bIns="0" rtlCol="0" anchor="t"/>
          <a:lstStyle/>
          <a:p>
            <a:pPr indent="0" marL="0">
              <a:buNone/>
            </a:pPr>
            <a:r>
              <a:rPr lang="en-US" sz="1600" b="1" dirty="0">
                <a:solidFill>
                  <a:schemeClr val="tx2"/>
                </a:solidFill>
              </a:rPr>
              <a:t>SDK .NET 10</a:t>
            </a:r>
            <a:endParaRPr lang="en-US" sz="1600" dirty="0"/>
          </a:p>
        </p:txBody>
      </p:sp>
      <p:sp>
        <p:nvSpPr>
          <p:cNvPr id="7" name="Détail SDK .NET 10"/>
          <p:cNvSpPr txBox="1"/>
          <p:nvPr/>
        </p:nvSpPr>
        <p:spPr>
          <a:xfrm>
            <a:off x="822960" y="2834640"/>
            <a:ext cx="2240280" cy="685800"/>
          </a:xfrm>
          <a:prstGeom prst="rect">
            <a:avLst/>
          </a:prstGeom>
          <a:noFill/>
          <a:ln/>
        </p:spPr>
        <p:txBody>
          <a:bodyPr wrap="square" lIns="0" tIns="0" rIns="0" bIns="0" rtlCol="0" anchor="t"/>
          <a:lstStyle/>
          <a:p>
            <a:pPr indent="0" marL="0">
              <a:buNone/>
            </a:pPr>
            <a:r>
              <a:rPr lang="en-US" sz="1300" dirty="0">
                <a:solidFill>
                  <a:schemeClr val="tx1"/>
                </a:solidFill>
              </a:rPr>
              <a:t>dotnet --list-sdks affiche 10.0.x</a:t>
            </a:r>
            <a:endParaRPr lang="en-US" sz="1300" dirty="0"/>
          </a:p>
        </p:txBody>
      </p:sp>
      <p:sp>
        <p:nvSpPr>
          <p:cNvPr id="8" name="Carte Un IDE"/>
          <p:cNvSpPr/>
          <p:nvPr/>
        </p:nvSpPr>
        <p:spPr>
          <a:xfrm>
            <a:off x="3355848" y="1417320"/>
            <a:ext cx="2651760" cy="2148840"/>
          </a:xfrm>
          <a:prstGeom prst="roundRect">
            <a:avLst>
              <a:gd name="adj" fmla="val 5106"/>
            </a:avLst>
          </a:prstGeom>
          <a:solidFill>
            <a:schemeClr val="bg2"/>
          </a:solidFill>
          <a:ln w="12700">
            <a:solidFill>
              <a:srgbClr val="E1EAF1"/>
            </a:solidFill>
            <a:prstDash val="solid"/>
          </a:ln>
        </p:spPr>
      </p:sp>
      <p:sp>
        <p:nvSpPr>
          <p:cNvPr id="9" name="Pastille Un IDE"/>
          <p:cNvSpPr/>
          <p:nvPr/>
        </p:nvSpPr>
        <p:spPr>
          <a:xfrm>
            <a:off x="3630168" y="16916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10" name="Icône Un IDE" descr="Un IDE">    </p:cNvPr>
          <p:cNvPicPr>
            <a:picLocks noChangeAspect="1"/>
          </p:cNvPicPr>
          <p:nvPr/>
        </p:nvPicPr>
        <p:blipFill>
          <a:blip r:embed="rId2"/>
          <a:stretch>
            <a:fillRect/>
          </a:stretch>
        </p:blipFill>
        <p:spPr>
          <a:xfrm>
            <a:off x="3831336" y="1847088"/>
            <a:ext cx="329184" cy="329184"/>
          </a:xfrm>
          <a:prstGeom prst="rect">
            <a:avLst/>
          </a:prstGeom>
        </p:spPr>
      </p:pic>
      <p:sp>
        <p:nvSpPr>
          <p:cNvPr id="11" name="Titre Un IDE"/>
          <p:cNvSpPr txBox="1"/>
          <p:nvPr/>
        </p:nvSpPr>
        <p:spPr>
          <a:xfrm>
            <a:off x="3630168" y="2468880"/>
            <a:ext cx="2194560" cy="365760"/>
          </a:xfrm>
          <a:prstGeom prst="rect">
            <a:avLst/>
          </a:prstGeom>
          <a:noFill/>
          <a:ln/>
        </p:spPr>
        <p:txBody>
          <a:bodyPr wrap="square" lIns="0" tIns="0" rIns="0" bIns="0" rtlCol="0" anchor="t"/>
          <a:lstStyle/>
          <a:p>
            <a:pPr indent="0" marL="0">
              <a:buNone/>
            </a:pPr>
            <a:r>
              <a:rPr lang="en-US" sz="1600" b="1" dirty="0">
                <a:solidFill>
                  <a:schemeClr val="tx2"/>
                </a:solidFill>
              </a:rPr>
              <a:t>Un IDE</a:t>
            </a:r>
            <a:endParaRPr lang="en-US" sz="1600" dirty="0"/>
          </a:p>
        </p:txBody>
      </p:sp>
      <p:sp>
        <p:nvSpPr>
          <p:cNvPr id="12" name="Détail Un IDE"/>
          <p:cNvSpPr txBox="1"/>
          <p:nvPr/>
        </p:nvSpPr>
        <p:spPr>
          <a:xfrm>
            <a:off x="3630168" y="2834640"/>
            <a:ext cx="2240280" cy="685800"/>
          </a:xfrm>
          <a:prstGeom prst="rect">
            <a:avLst/>
          </a:prstGeom>
          <a:noFill/>
          <a:ln/>
        </p:spPr>
        <p:txBody>
          <a:bodyPr wrap="square" lIns="0" tIns="0" rIns="0" bIns="0" rtlCol="0" anchor="t"/>
          <a:lstStyle/>
          <a:p>
            <a:pPr indent="0" marL="0">
              <a:buNone/>
            </a:pPr>
            <a:r>
              <a:rPr lang="en-US" sz="1300" dirty="0">
                <a:solidFill>
                  <a:schemeClr val="tx1"/>
                </a:solidFill>
              </a:rPr>
              <a:t>Rider, Visual Studio 2026 ou VS Code avec C# Dev Kit</a:t>
            </a:r>
            <a:endParaRPr lang="en-US" sz="1300" dirty="0"/>
          </a:p>
        </p:txBody>
      </p:sp>
      <p:sp>
        <p:nvSpPr>
          <p:cNvPr id="13" name="Carte Git et le dépôt"/>
          <p:cNvSpPr/>
          <p:nvPr/>
        </p:nvSpPr>
        <p:spPr>
          <a:xfrm>
            <a:off x="6163056" y="1417320"/>
            <a:ext cx="2651760" cy="2148840"/>
          </a:xfrm>
          <a:prstGeom prst="roundRect">
            <a:avLst>
              <a:gd name="adj" fmla="val 5106"/>
            </a:avLst>
          </a:prstGeom>
          <a:solidFill>
            <a:schemeClr val="bg2"/>
          </a:solidFill>
          <a:ln w="12700">
            <a:solidFill>
              <a:srgbClr val="E1EAF1"/>
            </a:solidFill>
            <a:prstDash val="solid"/>
          </a:ln>
        </p:spPr>
      </p:sp>
      <p:sp>
        <p:nvSpPr>
          <p:cNvPr id="14" name="Pastille Git et le dépôt"/>
          <p:cNvSpPr/>
          <p:nvPr/>
        </p:nvSpPr>
        <p:spPr>
          <a:xfrm>
            <a:off x="6437376" y="16916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15" name="Icône Git et le dépôt" descr="Git et le dépôt">    </p:cNvPr>
          <p:cNvPicPr>
            <a:picLocks noChangeAspect="1"/>
          </p:cNvPicPr>
          <p:nvPr/>
        </p:nvPicPr>
        <p:blipFill>
          <a:blip r:embed="rId3"/>
          <a:stretch>
            <a:fillRect/>
          </a:stretch>
        </p:blipFill>
        <p:spPr>
          <a:xfrm>
            <a:off x="6638544" y="1847088"/>
            <a:ext cx="329184" cy="329184"/>
          </a:xfrm>
          <a:prstGeom prst="rect">
            <a:avLst/>
          </a:prstGeom>
        </p:spPr>
      </p:pic>
      <p:sp>
        <p:nvSpPr>
          <p:cNvPr id="16" name="Titre Git et le dépôt"/>
          <p:cNvSpPr txBox="1"/>
          <p:nvPr/>
        </p:nvSpPr>
        <p:spPr>
          <a:xfrm>
            <a:off x="6437376" y="2468880"/>
            <a:ext cx="2194560" cy="365760"/>
          </a:xfrm>
          <a:prstGeom prst="rect">
            <a:avLst/>
          </a:prstGeom>
          <a:noFill/>
          <a:ln/>
        </p:spPr>
        <p:txBody>
          <a:bodyPr wrap="square" lIns="0" tIns="0" rIns="0" bIns="0" rtlCol="0" anchor="t"/>
          <a:lstStyle/>
          <a:p>
            <a:pPr indent="0" marL="0">
              <a:buNone/>
            </a:pPr>
            <a:r>
              <a:rPr lang="en-US" sz="1600" b="1" dirty="0">
                <a:solidFill>
                  <a:schemeClr val="tx2"/>
                </a:solidFill>
              </a:rPr>
              <a:t>Git et le dépôt</a:t>
            </a:r>
            <a:endParaRPr lang="en-US" sz="1600" dirty="0"/>
          </a:p>
        </p:txBody>
      </p:sp>
      <p:sp>
        <p:nvSpPr>
          <p:cNvPr id="17" name="Détail Git et le dépôt"/>
          <p:cNvSpPr txBox="1"/>
          <p:nvPr/>
        </p:nvSpPr>
        <p:spPr>
          <a:xfrm>
            <a:off x="6437376" y="2834640"/>
            <a:ext cx="2240280" cy="685800"/>
          </a:xfrm>
          <a:prstGeom prst="rect">
            <a:avLst/>
          </a:prstGeom>
          <a:noFill/>
          <a:ln/>
        </p:spPr>
        <p:txBody>
          <a:bodyPr wrap="square" lIns="0" tIns="0" rIns="0" bIns="0" rtlCol="0" anchor="t"/>
          <a:lstStyle/>
          <a:p>
            <a:pPr indent="0" marL="0">
              <a:buNone/>
            </a:pPr>
            <a:r>
              <a:rPr lang="en-US" sz="1300" dirty="0">
                <a:solidFill>
                  <a:schemeClr val="tx1"/>
                </a:solidFill>
              </a:rPr>
              <a:t>Tp.Net cloné en local</a:t>
            </a:r>
            <a:endParaRPr lang="en-US" sz="1300" dirty="0"/>
          </a:p>
        </p:txBody>
      </p:sp>
      <p:sp>
        <p:nvSpPr>
          <p:cNvPr id="18" name="Carte SQL Server et SSMS"/>
          <p:cNvSpPr/>
          <p:nvPr/>
        </p:nvSpPr>
        <p:spPr>
          <a:xfrm>
            <a:off x="8970264" y="1417320"/>
            <a:ext cx="2651760" cy="2148840"/>
          </a:xfrm>
          <a:prstGeom prst="roundRect">
            <a:avLst>
              <a:gd name="adj" fmla="val 5106"/>
            </a:avLst>
          </a:prstGeom>
          <a:solidFill>
            <a:schemeClr val="bg2"/>
          </a:solidFill>
          <a:ln w="12700">
            <a:solidFill>
              <a:srgbClr val="E1EAF1"/>
            </a:solidFill>
            <a:prstDash val="solid"/>
          </a:ln>
        </p:spPr>
      </p:sp>
      <p:sp>
        <p:nvSpPr>
          <p:cNvPr id="19" name="Pastille SQL Server et SSMS"/>
          <p:cNvSpPr/>
          <p:nvPr/>
        </p:nvSpPr>
        <p:spPr>
          <a:xfrm>
            <a:off x="9244584" y="16916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20" name="Icône SQL Server et SSMS" descr="SQL Server et SSMS">    </p:cNvPr>
          <p:cNvPicPr>
            <a:picLocks noChangeAspect="1"/>
          </p:cNvPicPr>
          <p:nvPr/>
        </p:nvPicPr>
        <p:blipFill>
          <a:blip r:embed="rId4"/>
          <a:stretch>
            <a:fillRect/>
          </a:stretch>
        </p:blipFill>
        <p:spPr>
          <a:xfrm>
            <a:off x="9445752" y="1847088"/>
            <a:ext cx="329184" cy="329184"/>
          </a:xfrm>
          <a:prstGeom prst="rect">
            <a:avLst/>
          </a:prstGeom>
        </p:spPr>
      </p:pic>
      <p:sp>
        <p:nvSpPr>
          <p:cNvPr id="21" name="Titre SQL Server et SSMS"/>
          <p:cNvSpPr txBox="1"/>
          <p:nvPr/>
        </p:nvSpPr>
        <p:spPr>
          <a:xfrm>
            <a:off x="9244584" y="2468880"/>
            <a:ext cx="2194560" cy="365760"/>
          </a:xfrm>
          <a:prstGeom prst="rect">
            <a:avLst/>
          </a:prstGeom>
          <a:noFill/>
          <a:ln/>
        </p:spPr>
        <p:txBody>
          <a:bodyPr wrap="square" lIns="0" tIns="0" rIns="0" bIns="0" rtlCol="0" anchor="t"/>
          <a:lstStyle/>
          <a:p>
            <a:pPr indent="0" marL="0">
              <a:buNone/>
            </a:pPr>
            <a:r>
              <a:rPr lang="en-US" sz="1600" b="1" dirty="0">
                <a:solidFill>
                  <a:schemeClr val="tx2"/>
                </a:solidFill>
              </a:rPr>
              <a:t>SQL Server et SSMS</a:t>
            </a:r>
            <a:endParaRPr lang="en-US" sz="1600" dirty="0"/>
          </a:p>
        </p:txBody>
      </p:sp>
      <p:sp>
        <p:nvSpPr>
          <p:cNvPr id="22" name="Détail SQL Server et SSMS"/>
          <p:cNvSpPr txBox="1"/>
          <p:nvPr/>
        </p:nvSpPr>
        <p:spPr>
          <a:xfrm>
            <a:off x="9244584" y="2834640"/>
            <a:ext cx="2240280" cy="685800"/>
          </a:xfrm>
          <a:prstGeom prst="rect">
            <a:avLst/>
          </a:prstGeom>
          <a:noFill/>
          <a:ln/>
        </p:spPr>
        <p:txBody>
          <a:bodyPr wrap="square" lIns="0" tIns="0" rIns="0" bIns="0" rtlCol="0" anchor="t"/>
          <a:lstStyle/>
          <a:p>
            <a:pPr indent="0" marL="0">
              <a:buNone/>
            </a:pPr>
            <a:r>
              <a:rPr lang="en-US" sz="1300" dirty="0">
                <a:solidFill>
                  <a:schemeClr val="tx1"/>
                </a:solidFill>
              </a:rPr>
              <a:t>une instance locale, pour le TP-02</a:t>
            </a:r>
            <a:endParaRPr lang="en-US" sz="1300" dirty="0"/>
          </a:p>
        </p:txBody>
      </p:sp>
      <p:sp>
        <p:nvSpPr>
          <p:cNvPr id="23" name="Carte L'outil dotnet-ef"/>
          <p:cNvSpPr/>
          <p:nvPr/>
        </p:nvSpPr>
        <p:spPr>
          <a:xfrm>
            <a:off x="548640" y="3794760"/>
            <a:ext cx="2651760" cy="2148840"/>
          </a:xfrm>
          <a:prstGeom prst="roundRect">
            <a:avLst>
              <a:gd name="adj" fmla="val 5106"/>
            </a:avLst>
          </a:prstGeom>
          <a:solidFill>
            <a:schemeClr val="bg2"/>
          </a:solidFill>
          <a:ln w="12700">
            <a:solidFill>
              <a:srgbClr val="E1EAF1"/>
            </a:solidFill>
            <a:prstDash val="solid"/>
          </a:ln>
        </p:spPr>
      </p:sp>
      <p:sp>
        <p:nvSpPr>
          <p:cNvPr id="24" name="Pastille L'outil dotnet-ef"/>
          <p:cNvSpPr/>
          <p:nvPr/>
        </p:nvSpPr>
        <p:spPr>
          <a:xfrm>
            <a:off x="822960" y="406908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25" name="Icône L'outil dotnet-ef" descr="L'outil dotnet-ef">    </p:cNvPr>
          <p:cNvPicPr>
            <a:picLocks noChangeAspect="1"/>
          </p:cNvPicPr>
          <p:nvPr/>
        </p:nvPicPr>
        <p:blipFill>
          <a:blip r:embed="rId5"/>
          <a:stretch>
            <a:fillRect/>
          </a:stretch>
        </p:blipFill>
        <p:spPr>
          <a:xfrm>
            <a:off x="1024128" y="4224528"/>
            <a:ext cx="329184" cy="329184"/>
          </a:xfrm>
          <a:prstGeom prst="rect">
            <a:avLst/>
          </a:prstGeom>
        </p:spPr>
      </p:pic>
      <p:sp>
        <p:nvSpPr>
          <p:cNvPr id="26" name="Titre L&amp;apos;outil dotnet-ef"/>
          <p:cNvSpPr txBox="1"/>
          <p:nvPr/>
        </p:nvSpPr>
        <p:spPr>
          <a:xfrm>
            <a:off x="822960" y="48463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L'outil dotnet-ef</a:t>
            </a:r>
            <a:endParaRPr lang="en-US" sz="1600" dirty="0"/>
          </a:p>
        </p:txBody>
      </p:sp>
      <p:sp>
        <p:nvSpPr>
          <p:cNvPr id="27" name="Détail L&amp;apos;outil dotnet-ef"/>
          <p:cNvSpPr txBox="1"/>
          <p:nvPr/>
        </p:nvSpPr>
        <p:spPr>
          <a:xfrm>
            <a:off x="822960" y="5212080"/>
            <a:ext cx="2240280" cy="685800"/>
          </a:xfrm>
          <a:prstGeom prst="rect">
            <a:avLst/>
          </a:prstGeom>
          <a:noFill/>
          <a:ln/>
        </p:spPr>
        <p:txBody>
          <a:bodyPr wrap="square" lIns="0" tIns="0" rIns="0" bIns="0" rtlCol="0" anchor="t"/>
          <a:lstStyle/>
          <a:p>
            <a:pPr indent="0" marL="0">
              <a:buNone/>
            </a:pPr>
            <a:r>
              <a:rPr lang="en-US" sz="1300" dirty="0">
                <a:solidFill>
                  <a:schemeClr val="tx1"/>
                </a:solidFill>
              </a:rPr>
              <a:t>dotnet tool install --global dotnet-ef</a:t>
            </a:r>
            <a:endParaRPr lang="en-US" sz="1300" dirty="0"/>
          </a:p>
        </p:txBody>
      </p:sp>
      <p:sp>
        <p:nvSpPr>
          <p:cNvPr id="28" name="Carte Le SDK .NET 11"/>
          <p:cNvSpPr/>
          <p:nvPr/>
        </p:nvSpPr>
        <p:spPr>
          <a:xfrm>
            <a:off x="3355848" y="3794760"/>
            <a:ext cx="2651760" cy="2148840"/>
          </a:xfrm>
          <a:prstGeom prst="roundRect">
            <a:avLst>
              <a:gd name="adj" fmla="val 5106"/>
            </a:avLst>
          </a:prstGeom>
          <a:solidFill>
            <a:schemeClr val="bg2"/>
          </a:solidFill>
          <a:ln w="12700">
            <a:solidFill>
              <a:srgbClr val="E1EAF1"/>
            </a:solidFill>
            <a:prstDash val="solid"/>
          </a:ln>
        </p:spPr>
      </p:sp>
      <p:sp>
        <p:nvSpPr>
          <p:cNvPr id="29" name="Pastille Le SDK .NET 11"/>
          <p:cNvSpPr/>
          <p:nvPr/>
        </p:nvSpPr>
        <p:spPr>
          <a:xfrm>
            <a:off x="3630168" y="406908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30" name="Icône Le SDK .NET 11" descr="Le SDK .NET 11">    </p:cNvPr>
          <p:cNvPicPr>
            <a:picLocks noChangeAspect="1"/>
          </p:cNvPicPr>
          <p:nvPr/>
        </p:nvPicPr>
        <p:blipFill>
          <a:blip r:embed="rId6"/>
          <a:stretch>
            <a:fillRect/>
          </a:stretch>
        </p:blipFill>
        <p:spPr>
          <a:xfrm>
            <a:off x="3831336" y="4224528"/>
            <a:ext cx="329184" cy="329184"/>
          </a:xfrm>
          <a:prstGeom prst="rect">
            <a:avLst/>
          </a:prstGeom>
        </p:spPr>
      </p:pic>
      <p:sp>
        <p:nvSpPr>
          <p:cNvPr id="31" name="Titre Le SDK .NET 11"/>
          <p:cNvSpPr txBox="1"/>
          <p:nvPr/>
        </p:nvSpPr>
        <p:spPr>
          <a:xfrm>
            <a:off x="3630168" y="48463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Le SDK .NET 11</a:t>
            </a:r>
            <a:endParaRPr lang="en-US" sz="1600" dirty="0"/>
          </a:p>
        </p:txBody>
      </p:sp>
      <p:sp>
        <p:nvSpPr>
          <p:cNvPr id="32" name="Détail Le SDK .NET 11"/>
          <p:cNvSpPr txBox="1"/>
          <p:nvPr/>
        </p:nvSpPr>
        <p:spPr>
          <a:xfrm>
            <a:off x="3630168" y="5212080"/>
            <a:ext cx="2240280" cy="685800"/>
          </a:xfrm>
          <a:prstGeom prst="rect">
            <a:avLst/>
          </a:prstGeom>
          <a:noFill/>
          <a:ln/>
        </p:spPr>
        <p:txBody>
          <a:bodyPr wrap="square" lIns="0" tIns="0" rIns="0" bIns="0" rtlCol="0" anchor="t"/>
          <a:lstStyle/>
          <a:p>
            <a:pPr indent="0" marL="0">
              <a:buNone/>
            </a:pPr>
            <a:r>
              <a:rPr lang="en-US" sz="1300" dirty="0">
                <a:solidFill>
                  <a:schemeClr val="tx1"/>
                </a:solidFill>
              </a:rPr>
              <a:t>en RC, pour l'exercice 5 du TP-05</a:t>
            </a:r>
            <a:endParaRPr lang="en-US" sz="1300" dirty="0"/>
          </a:p>
        </p:txBody>
      </p:sp>
      <p:sp>
        <p:nvSpPr>
          <p:cNvPr id="33" name="Carte Docker, facultatif"/>
          <p:cNvSpPr/>
          <p:nvPr/>
        </p:nvSpPr>
        <p:spPr>
          <a:xfrm>
            <a:off x="6163056" y="3794760"/>
            <a:ext cx="2651760" cy="2148840"/>
          </a:xfrm>
          <a:prstGeom prst="roundRect">
            <a:avLst>
              <a:gd name="adj" fmla="val 5106"/>
            </a:avLst>
          </a:prstGeom>
          <a:solidFill>
            <a:schemeClr val="bg2"/>
          </a:solidFill>
          <a:ln w="12700">
            <a:solidFill>
              <a:srgbClr val="E1EAF1"/>
            </a:solidFill>
            <a:prstDash val="solid"/>
          </a:ln>
        </p:spPr>
      </p:sp>
      <p:sp>
        <p:nvSpPr>
          <p:cNvPr id="34" name="Pastille Docker, facultatif"/>
          <p:cNvSpPr/>
          <p:nvPr/>
        </p:nvSpPr>
        <p:spPr>
          <a:xfrm>
            <a:off x="6437376" y="406908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35" name="Icône Docker, facultatif" descr="Docker, facultatif">    </p:cNvPr>
          <p:cNvPicPr>
            <a:picLocks noChangeAspect="1"/>
          </p:cNvPicPr>
          <p:nvPr/>
        </p:nvPicPr>
        <p:blipFill>
          <a:blip r:embed="rId7"/>
          <a:stretch>
            <a:fillRect/>
          </a:stretch>
        </p:blipFill>
        <p:spPr>
          <a:xfrm>
            <a:off x="6638544" y="4224528"/>
            <a:ext cx="329184" cy="329184"/>
          </a:xfrm>
          <a:prstGeom prst="rect">
            <a:avLst/>
          </a:prstGeom>
        </p:spPr>
      </p:pic>
      <p:sp>
        <p:nvSpPr>
          <p:cNvPr id="36" name="Titre Docker, facultatif"/>
          <p:cNvSpPr txBox="1"/>
          <p:nvPr/>
        </p:nvSpPr>
        <p:spPr>
          <a:xfrm>
            <a:off x="6437376" y="48463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Docker, facultatif</a:t>
            </a:r>
            <a:endParaRPr lang="en-US" sz="1600" dirty="0"/>
          </a:p>
        </p:txBody>
      </p:sp>
      <p:sp>
        <p:nvSpPr>
          <p:cNvPr id="37" name="Détail Docker, facultatif"/>
          <p:cNvSpPr txBox="1"/>
          <p:nvPr/>
        </p:nvSpPr>
        <p:spPr>
          <a:xfrm>
            <a:off x="6437376" y="5212080"/>
            <a:ext cx="2240280" cy="685800"/>
          </a:xfrm>
          <a:prstGeom prst="rect">
            <a:avLst/>
          </a:prstGeom>
          <a:noFill/>
          <a:ln/>
        </p:spPr>
        <p:txBody>
          <a:bodyPr wrap="square" lIns="0" tIns="0" rIns="0" bIns="0" rtlCol="0" anchor="t"/>
          <a:lstStyle/>
          <a:p>
            <a:pPr indent="0" marL="0">
              <a:buNone/>
            </a:pPr>
            <a:r>
              <a:rPr lang="en-US" sz="1300" dirty="0">
                <a:solidFill>
                  <a:schemeClr val="tx1"/>
                </a:solidFill>
              </a:rPr>
              <a:t>pour aller plus loin avec Aspire</a:t>
            </a:r>
            <a:endParaRPr lang="en-US" sz="1300" dirty="0"/>
          </a:p>
        </p:txBody>
      </p:sp>
      <p:sp>
        <p:nvSpPr>
          <p:cNvPr id="38" name="Carte index.html"/>
          <p:cNvSpPr/>
          <p:nvPr/>
        </p:nvSpPr>
        <p:spPr>
          <a:xfrm>
            <a:off x="8970264" y="3794760"/>
            <a:ext cx="2651760" cy="2148840"/>
          </a:xfrm>
          <a:prstGeom prst="roundRect">
            <a:avLst>
              <a:gd name="adj" fmla="val 5106"/>
            </a:avLst>
          </a:prstGeom>
          <a:solidFill>
            <a:schemeClr val="bg2"/>
          </a:solidFill>
          <a:ln w="12700">
            <a:solidFill>
              <a:srgbClr val="E1EAF1"/>
            </a:solidFill>
            <a:prstDash val="solid"/>
          </a:ln>
        </p:spPr>
      </p:sp>
      <p:sp>
        <p:nvSpPr>
          <p:cNvPr id="39" name="Pastille index.html"/>
          <p:cNvSpPr/>
          <p:nvPr/>
        </p:nvSpPr>
        <p:spPr>
          <a:xfrm>
            <a:off x="9244584" y="406908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40" name="Icône index.html" descr="index.html">    </p:cNvPr>
          <p:cNvPicPr>
            <a:picLocks noChangeAspect="1"/>
          </p:cNvPicPr>
          <p:nvPr/>
        </p:nvPicPr>
        <p:blipFill>
          <a:blip r:embed="rId8"/>
          <a:stretch>
            <a:fillRect/>
          </a:stretch>
        </p:blipFill>
        <p:spPr>
          <a:xfrm>
            <a:off x="9445752" y="4224528"/>
            <a:ext cx="329184" cy="329184"/>
          </a:xfrm>
          <a:prstGeom prst="rect">
            <a:avLst/>
          </a:prstGeom>
        </p:spPr>
      </p:pic>
      <p:sp>
        <p:nvSpPr>
          <p:cNvPr id="41" name="Titre index.html"/>
          <p:cNvSpPr txBox="1"/>
          <p:nvPr/>
        </p:nvSpPr>
        <p:spPr>
          <a:xfrm>
            <a:off x="9244584" y="48463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index.html</a:t>
            </a:r>
            <a:endParaRPr lang="en-US" sz="1600" dirty="0"/>
          </a:p>
        </p:txBody>
      </p:sp>
      <p:sp>
        <p:nvSpPr>
          <p:cNvPr id="42" name="Détail index.html"/>
          <p:cNvSpPr txBox="1"/>
          <p:nvPr/>
        </p:nvSpPr>
        <p:spPr>
          <a:xfrm>
            <a:off x="9244584" y="5212080"/>
            <a:ext cx="2240280" cy="685800"/>
          </a:xfrm>
          <a:prstGeom prst="rect">
            <a:avLst/>
          </a:prstGeom>
          <a:noFill/>
          <a:ln/>
        </p:spPr>
        <p:txBody>
          <a:bodyPr wrap="square" lIns="0" tIns="0" rIns="0" bIns="0" rtlCol="0" anchor="t"/>
          <a:lstStyle/>
          <a:p>
            <a:pPr indent="0" marL="0">
              <a:buNone/>
            </a:pPr>
            <a:r>
              <a:rPr lang="en-US" sz="1300" dirty="0">
                <a:solidFill>
                  <a:schemeClr val="tx1"/>
                </a:solidFill>
              </a:rPr>
              <a:t>la page d'accueil : TP, liste de préparation, langue</a:t>
            </a:r>
            <a:endParaRPr lang="en-US" sz="13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Grand hexagone TP-01"/>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TP-01"/>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8000" b="1" dirty="0">
                <a:solidFill>
                  <a:schemeClr val="tx2"/>
                </a:solidFill>
              </a:rPr>
              <a:t>01</a:t>
            </a:r>
            <a:endParaRPr lang="en-US" sz="80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TP-01"/>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TP-01</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200" b="1" dirty="0">
                <a:solidFill>
                  <a:schemeClr val="bg1"/>
                </a:solidFill>
              </a:rPr>
              <a:t>Tour de .NET et C# express</a:t>
            </a:r>
            <a:endParaRPr lang="en-US" sz="3200" dirty="0"/>
          </a:p>
        </p:txBody>
      </p:sp>
      <p:sp>
        <p:nvSpPr>
          <p:cNvPr id="9" name="Text 0"/>
          <p:cNvSpPr/>
          <p:nvPr>
            <p:ph idx="101" type="body" hasCustomPrompt="1"/>
          </p:nvPr>
        </p:nvSpPr>
        <p:spPr>
          <a:xfrm>
            <a:off x="4572000" y="4343400"/>
            <a:ext cx="6949440" cy="822960"/>
          </a:xfrm>
          <a:prstGeom prst="rect">
            <a:avLst/>
          </a:prstGeom>
          <a:noFill/>
          <a:ln/>
        </p:spPr>
        <p:txBody>
          <a:bodyPr wrap="square" lIns="0" tIns="0" rIns="0" bIns="0" rtlCol="0" anchor="t"/>
          <a:lstStyle/>
          <a:p>
            <a:pPr algn="l" indent="0" marL="0">
              <a:buNone/>
            </a:pPr>
            <a:r>
              <a:rPr lang="en-US" sz="1800" dirty="0">
                <a:solidFill>
                  <a:schemeClr val="bg2"/>
                </a:solidFill>
              </a:rPr>
              <a:t>Lundi 19 octobre, matin · 7 exercices · 3 h</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TP-01 : l'outillage .NET et l'essentiel du langage</a:t>
            </a:r>
            <a:endParaRPr lang="en-US" sz="3000" dirty="0"/>
          </a:p>
        </p:txBody>
      </p:sp>
      <p:sp>
        <p:nvSpPr>
          <p:cNvPr id="3" name="Introduction"/>
          <p:cNvSpPr txBox="1"/>
          <p:nvPr/>
        </p:nvSpPr>
        <p:spPr>
          <a:xfrm>
            <a:off x="548640" y="1463040"/>
            <a:ext cx="4206240" cy="1920240"/>
          </a:xfrm>
          <a:prstGeom prst="rect">
            <a:avLst/>
          </a:prstGeom>
          <a:noFill/>
          <a:ln/>
        </p:spPr>
        <p:txBody>
          <a:bodyPr wrap="square" lIns="0" tIns="0" rIns="0" bIns="0" rtlCol="0" anchor="t"/>
          <a:lstStyle/>
          <a:p>
            <a:pPr indent="0" marL="0">
              <a:buNone/>
            </a:pPr>
            <a:r>
              <a:rPr lang="en-US" sz="1600" dirty="0">
                <a:solidFill>
                  <a:schemeClr val="tx2"/>
                </a:solidFill>
              </a:rPr>
              <a:t>Prendre en main la CLI, NuGet et l'essentiel de C#, en tapant du code plutôt qu'en lisant de la théorie. Chaque exercice a ses tests : rouges au départ, verts à la fin.</a:t>
            </a:r>
            <a:endParaRPr lang="en-US" sz="1600" dirty="0"/>
          </a:p>
        </p:txBody>
      </p:sp>
      <p:sp>
        <p:nvSpPr>
          <p:cNvPr id="4" name="Intertitre"/>
          <p:cNvSpPr txBox="1"/>
          <p:nvPr/>
        </p:nvSpPr>
        <p:spPr>
          <a:xfrm>
            <a:off x="548640" y="3566160"/>
            <a:ext cx="4206240" cy="365760"/>
          </a:xfrm>
          <a:prstGeom prst="rect">
            <a:avLst/>
          </a:prstGeom>
          <a:noFill/>
          <a:ln/>
        </p:spPr>
        <p:txBody>
          <a:bodyPr wrap="square" lIns="0" tIns="0" rIns="0" bIns="0" rtlCol="0" anchor="t"/>
          <a:lstStyle/>
          <a:p>
            <a:pPr indent="0" marL="0">
              <a:buNone/>
            </a:pPr>
            <a:r>
              <a:rPr lang="en-US" sz="1600" b="1" dirty="0">
                <a:solidFill>
                  <a:schemeClr val="accent1"/>
                </a:solidFill>
              </a:rPr>
              <a:t>À retenir</a:t>
            </a:r>
            <a:endParaRPr lang="en-US" sz="1600" dirty="0"/>
          </a:p>
        </p:txBody>
      </p:sp>
      <p:sp>
        <p:nvSpPr>
          <p:cNvPr id="5" name="Points clés"/>
          <p:cNvSpPr txBox="1"/>
          <p:nvPr/>
        </p:nvSpPr>
        <p:spPr>
          <a:xfrm>
            <a:off x="548640" y="3977640"/>
            <a:ext cx="42062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dotnet et ses commandes, le .csproj</a:t>
            </a:r>
            <a:endParaRPr lang="en-US" sz="1500" dirty="0"/>
          </a:p>
          <a:p>
            <a:pPr marL="342900" indent="-342900">
              <a:spcAft>
                <a:spcPts val="800"/>
              </a:spcAft>
              <a:buSzPct val="100000"/>
              <a:buChar char="•"/>
            </a:pPr>
            <a:r>
              <a:rPr lang="en-US" sz="1500" dirty="0">
                <a:solidFill>
                  <a:schemeClr val="tx1"/>
                </a:solidFill>
              </a:rPr>
              <a:t>class, struct, record, nullabilité</a:t>
            </a:r>
            <a:endParaRPr lang="en-US" sz="1500" dirty="0"/>
          </a:p>
          <a:p>
            <a:pPr marL="342900" indent="-342900">
              <a:spcAft>
                <a:spcPts val="800"/>
              </a:spcAft>
              <a:buSzPct val="100000"/>
              <a:buChar char="•"/>
            </a:pPr>
            <a:r>
              <a:rPr lang="en-US" sz="1500" dirty="0">
                <a:solidFill>
                  <a:schemeClr val="tx1"/>
                </a:solidFill>
              </a:rPr>
              <a:t>LINQ et async/await</a:t>
            </a:r>
            <a:endParaRPr lang="en-US" sz="1500" dirty="0"/>
          </a:p>
        </p:txBody>
      </p:sp>
      <p:graphicFrame>
        <p:nvGraphicFramePr>
          <p:cNvPr id="6" name="Durées TP-01" descr="Durée des exercices du TP-01"/>
          <p:cNvGraphicFramePr/>
          <p:nvPr/>
        </p:nvGraphicFramePr>
        <p:xfrm>
          <a:off x="5120640" y="1371600"/>
          <a:ext cx="653796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C# pour qui vient de Java, Rust, Python ou JS</a:t>
            </a:r>
            <a:endParaRPr lang="en-US" sz="3000" dirty="0"/>
          </a:p>
        </p:txBody>
      </p:sp>
      <p:sp>
        <p:nvSpPr>
          <p:cNvPr id="3" name="Carte class, struct, record"/>
          <p:cNvSpPr/>
          <p:nvPr/>
        </p:nvSpPr>
        <p:spPr>
          <a:xfrm>
            <a:off x="548640" y="1463040"/>
            <a:ext cx="5486400" cy="2103120"/>
          </a:xfrm>
          <a:prstGeom prst="roundRect">
            <a:avLst>
              <a:gd name="adj" fmla="val 5217"/>
            </a:avLst>
          </a:prstGeom>
          <a:solidFill>
            <a:schemeClr val="bg2"/>
          </a:solidFill>
          <a:ln w="12700">
            <a:solidFill>
              <a:srgbClr val="E1EAF1"/>
            </a:solidFill>
            <a:prstDash val="solid"/>
          </a:ln>
        </p:spPr>
      </p:sp>
      <p:sp>
        <p:nvSpPr>
          <p:cNvPr id="4" name="Pastille class, struct, record"/>
          <p:cNvSpPr/>
          <p:nvPr/>
        </p:nvSpPr>
        <p:spPr>
          <a:xfrm>
            <a:off x="868680" y="1874520"/>
            <a:ext cx="1143000" cy="989867"/>
          </a:xfrm>
          <a:custGeom>
            <a:avLst/>
            <a:gdLst/>
            <a:ahLst/>
            <a:cxnLst/>
            <a:rect l="l" t="t" r="r" b="b"/>
            <a:pathLst>
              <a:path w="1143000" h="989867">
                <a:moveTo>
                  <a:pt x="0" y="494934"/>
                </a:moveTo>
                <a:lnTo>
                  <a:pt x="285750" y="0"/>
                </a:lnTo>
                <a:lnTo>
                  <a:pt x="857250" y="0"/>
                </a:lnTo>
                <a:lnTo>
                  <a:pt x="1143000" y="494934"/>
                </a:lnTo>
                <a:lnTo>
                  <a:pt x="857250" y="989867"/>
                </a:lnTo>
                <a:lnTo>
                  <a:pt x="285750" y="989867"/>
                </a:lnTo>
                <a:close/>
              </a:path>
            </a:pathLst>
          </a:custGeom>
          <a:solidFill>
            <a:srgbClr val="0040FF"/>
          </a:solidFill>
          <a:ln w="12700">
            <a:solidFill>
              <a:srgbClr val="0040FF">
                <a:alpha val="0"/>
              </a:srgbClr>
            </a:solidFill>
            <a:prstDash val="solid"/>
          </a:ln>
        </p:spPr>
      </p:sp>
      <p:pic>
        <p:nvPicPr>
          <p:cNvPr id="5" name="Icône class, struct, record" descr="class, struct, record">    </p:cNvPr>
          <p:cNvPicPr>
            <a:picLocks noChangeAspect="1"/>
          </p:cNvPicPr>
          <p:nvPr/>
        </p:nvPicPr>
        <p:blipFill>
          <a:blip r:embed="rId1"/>
          <a:stretch>
            <a:fillRect/>
          </a:stretch>
        </p:blipFill>
        <p:spPr>
          <a:xfrm>
            <a:off x="1188720" y="2121408"/>
            <a:ext cx="502920" cy="502920"/>
          </a:xfrm>
          <a:prstGeom prst="rect">
            <a:avLst/>
          </a:prstGeom>
        </p:spPr>
      </p:pic>
      <p:sp>
        <p:nvSpPr>
          <p:cNvPr id="6" name="Titre class, struct, record"/>
          <p:cNvSpPr txBox="1"/>
          <p:nvPr/>
        </p:nvSpPr>
        <p:spPr>
          <a:xfrm>
            <a:off x="2286000" y="1783080"/>
            <a:ext cx="3520440" cy="411480"/>
          </a:xfrm>
          <a:prstGeom prst="rect">
            <a:avLst/>
          </a:prstGeom>
          <a:noFill/>
          <a:ln/>
        </p:spPr>
        <p:txBody>
          <a:bodyPr wrap="square" lIns="0" tIns="0" rIns="0" bIns="0" rtlCol="0" anchor="t"/>
          <a:lstStyle/>
          <a:p>
            <a:pPr indent="0" marL="0">
              <a:buNone/>
            </a:pPr>
            <a:r>
              <a:rPr lang="en-US" sz="1800" b="1" dirty="0">
                <a:solidFill>
                  <a:schemeClr val="tx2"/>
                </a:solidFill>
              </a:rPr>
              <a:t>class, struct, record</a:t>
            </a:r>
            <a:endParaRPr lang="en-US" sz="1800" dirty="0"/>
          </a:p>
        </p:txBody>
      </p:sp>
      <p:sp>
        <p:nvSpPr>
          <p:cNvPr id="7" name="Détail class, struct, record"/>
          <p:cNvSpPr txBox="1"/>
          <p:nvPr/>
        </p:nvSpPr>
        <p:spPr>
          <a:xfrm>
            <a:off x="2286000" y="2240280"/>
            <a:ext cx="3520440" cy="1188720"/>
          </a:xfrm>
          <a:prstGeom prst="rect">
            <a:avLst/>
          </a:prstGeom>
          <a:noFill/>
          <a:ln/>
        </p:spPr>
        <p:txBody>
          <a:bodyPr wrap="square" lIns="0" tIns="0" rIns="0" bIns="0" rtlCol="0" anchor="t"/>
          <a:lstStyle/>
          <a:p>
            <a:pPr indent="0" marL="0">
              <a:buNone/>
            </a:pPr>
            <a:r>
              <a:rPr lang="en-US" sz="1500" dirty="0">
                <a:solidFill>
                  <a:schemeClr val="tx1"/>
                </a:solidFill>
              </a:rPr>
              <a:t>Référence ou valeur ; le record compare par valeur. Une entité reste une classe.</a:t>
            </a:r>
            <a:endParaRPr lang="en-US" sz="1500" dirty="0"/>
          </a:p>
        </p:txBody>
      </p:sp>
      <p:sp>
        <p:nvSpPr>
          <p:cNvPr id="8" name="Carte Nullabilité"/>
          <p:cNvSpPr/>
          <p:nvPr/>
        </p:nvSpPr>
        <p:spPr>
          <a:xfrm>
            <a:off x="6172200" y="1463040"/>
            <a:ext cx="5486400" cy="2103120"/>
          </a:xfrm>
          <a:prstGeom prst="roundRect">
            <a:avLst>
              <a:gd name="adj" fmla="val 5217"/>
            </a:avLst>
          </a:prstGeom>
          <a:solidFill>
            <a:schemeClr val="bg2"/>
          </a:solidFill>
          <a:ln w="12700">
            <a:solidFill>
              <a:srgbClr val="E1EAF1"/>
            </a:solidFill>
            <a:prstDash val="solid"/>
          </a:ln>
        </p:spPr>
      </p:sp>
      <p:sp>
        <p:nvSpPr>
          <p:cNvPr id="9" name="Pastille Nullabilité"/>
          <p:cNvSpPr/>
          <p:nvPr/>
        </p:nvSpPr>
        <p:spPr>
          <a:xfrm>
            <a:off x="6492240" y="1874520"/>
            <a:ext cx="1143000" cy="989867"/>
          </a:xfrm>
          <a:custGeom>
            <a:avLst/>
            <a:gdLst/>
            <a:ahLst/>
            <a:cxnLst/>
            <a:rect l="l" t="t" r="r" b="b"/>
            <a:pathLst>
              <a:path w="1143000" h="989867">
                <a:moveTo>
                  <a:pt x="0" y="494934"/>
                </a:moveTo>
                <a:lnTo>
                  <a:pt x="285750" y="0"/>
                </a:lnTo>
                <a:lnTo>
                  <a:pt x="857250" y="0"/>
                </a:lnTo>
                <a:lnTo>
                  <a:pt x="1143000" y="494934"/>
                </a:lnTo>
                <a:lnTo>
                  <a:pt x="857250" y="989867"/>
                </a:lnTo>
                <a:lnTo>
                  <a:pt x="285750" y="989867"/>
                </a:lnTo>
                <a:close/>
              </a:path>
            </a:pathLst>
          </a:custGeom>
          <a:solidFill>
            <a:srgbClr val="0040FF"/>
          </a:solidFill>
          <a:ln w="12700">
            <a:solidFill>
              <a:srgbClr val="0040FF">
                <a:alpha val="0"/>
              </a:srgbClr>
            </a:solidFill>
            <a:prstDash val="solid"/>
          </a:ln>
        </p:spPr>
      </p:sp>
      <p:pic>
        <p:nvPicPr>
          <p:cNvPr id="10" name="Icône Nullabilité" descr="Nullabilité">    </p:cNvPr>
          <p:cNvPicPr>
            <a:picLocks noChangeAspect="1"/>
          </p:cNvPicPr>
          <p:nvPr/>
        </p:nvPicPr>
        <p:blipFill>
          <a:blip r:embed="rId2"/>
          <a:stretch>
            <a:fillRect/>
          </a:stretch>
        </p:blipFill>
        <p:spPr>
          <a:xfrm>
            <a:off x="6812280" y="2121408"/>
            <a:ext cx="502920" cy="502920"/>
          </a:xfrm>
          <a:prstGeom prst="rect">
            <a:avLst/>
          </a:prstGeom>
        </p:spPr>
      </p:pic>
      <p:sp>
        <p:nvSpPr>
          <p:cNvPr id="11" name="Titre Nullabilité"/>
          <p:cNvSpPr txBox="1"/>
          <p:nvPr/>
        </p:nvSpPr>
        <p:spPr>
          <a:xfrm>
            <a:off x="7909560" y="1783080"/>
            <a:ext cx="3520440" cy="411480"/>
          </a:xfrm>
          <a:prstGeom prst="rect">
            <a:avLst/>
          </a:prstGeom>
          <a:noFill/>
          <a:ln/>
        </p:spPr>
        <p:txBody>
          <a:bodyPr wrap="square" lIns="0" tIns="0" rIns="0" bIns="0" rtlCol="0" anchor="t"/>
          <a:lstStyle/>
          <a:p>
            <a:pPr indent="0" marL="0">
              <a:buNone/>
            </a:pPr>
            <a:r>
              <a:rPr lang="en-US" sz="1800" b="1" dirty="0">
                <a:solidFill>
                  <a:schemeClr val="tx2"/>
                </a:solidFill>
              </a:rPr>
              <a:t>Nullabilité</a:t>
            </a:r>
            <a:endParaRPr lang="en-US" sz="1800" dirty="0"/>
          </a:p>
        </p:txBody>
      </p:sp>
      <p:sp>
        <p:nvSpPr>
          <p:cNvPr id="12" name="Détail Nullabilité"/>
          <p:cNvSpPr txBox="1"/>
          <p:nvPr/>
        </p:nvSpPr>
        <p:spPr>
          <a:xfrm>
            <a:off x="7909560" y="2240280"/>
            <a:ext cx="3520440" cy="1188720"/>
          </a:xfrm>
          <a:prstGeom prst="rect">
            <a:avLst/>
          </a:prstGeom>
          <a:noFill/>
          <a:ln/>
        </p:spPr>
        <p:txBody>
          <a:bodyPr wrap="square" lIns="0" tIns="0" rIns="0" bIns="0" rtlCol="0" anchor="t"/>
          <a:lstStyle/>
          <a:p>
            <a:pPr indent="0" marL="0">
              <a:buNone/>
            </a:pPr>
            <a:r>
              <a:rPr lang="en-US" sz="1500" dirty="0">
                <a:solidFill>
                  <a:schemeClr val="tx1"/>
                </a:solidFill>
              </a:rPr>
              <a:t>string? est vérifié à la compilation, pas à l'exécution : moins fort qu'Option&lt;T&gt;.</a:t>
            </a:r>
            <a:endParaRPr lang="en-US" sz="1500" dirty="0"/>
          </a:p>
        </p:txBody>
      </p:sp>
      <p:sp>
        <p:nvSpPr>
          <p:cNvPr id="13" name="Carte LINQ"/>
          <p:cNvSpPr/>
          <p:nvPr/>
        </p:nvSpPr>
        <p:spPr>
          <a:xfrm>
            <a:off x="548640" y="3794760"/>
            <a:ext cx="5486400" cy="2103120"/>
          </a:xfrm>
          <a:prstGeom prst="roundRect">
            <a:avLst>
              <a:gd name="adj" fmla="val 5217"/>
            </a:avLst>
          </a:prstGeom>
          <a:solidFill>
            <a:schemeClr val="bg2"/>
          </a:solidFill>
          <a:ln w="12700">
            <a:solidFill>
              <a:srgbClr val="E1EAF1"/>
            </a:solidFill>
            <a:prstDash val="solid"/>
          </a:ln>
        </p:spPr>
      </p:sp>
      <p:sp>
        <p:nvSpPr>
          <p:cNvPr id="14" name="Pastille LINQ"/>
          <p:cNvSpPr/>
          <p:nvPr/>
        </p:nvSpPr>
        <p:spPr>
          <a:xfrm>
            <a:off x="868680" y="4206240"/>
            <a:ext cx="1143000" cy="989867"/>
          </a:xfrm>
          <a:custGeom>
            <a:avLst/>
            <a:gdLst/>
            <a:ahLst/>
            <a:cxnLst/>
            <a:rect l="l" t="t" r="r" b="b"/>
            <a:pathLst>
              <a:path w="1143000" h="989867">
                <a:moveTo>
                  <a:pt x="0" y="494934"/>
                </a:moveTo>
                <a:lnTo>
                  <a:pt x="285750" y="0"/>
                </a:lnTo>
                <a:lnTo>
                  <a:pt x="857250" y="0"/>
                </a:lnTo>
                <a:lnTo>
                  <a:pt x="1143000" y="494934"/>
                </a:lnTo>
                <a:lnTo>
                  <a:pt x="857250" y="989867"/>
                </a:lnTo>
                <a:lnTo>
                  <a:pt x="285750" y="989867"/>
                </a:lnTo>
                <a:close/>
              </a:path>
            </a:pathLst>
          </a:custGeom>
          <a:solidFill>
            <a:srgbClr val="0040FF"/>
          </a:solidFill>
          <a:ln w="12700">
            <a:solidFill>
              <a:srgbClr val="0040FF">
                <a:alpha val="0"/>
              </a:srgbClr>
            </a:solidFill>
            <a:prstDash val="solid"/>
          </a:ln>
        </p:spPr>
      </p:sp>
      <p:pic>
        <p:nvPicPr>
          <p:cNvPr id="15" name="Icône LINQ" descr="LINQ">    </p:cNvPr>
          <p:cNvPicPr>
            <a:picLocks noChangeAspect="1"/>
          </p:cNvPicPr>
          <p:nvPr/>
        </p:nvPicPr>
        <p:blipFill>
          <a:blip r:embed="rId3"/>
          <a:stretch>
            <a:fillRect/>
          </a:stretch>
        </p:blipFill>
        <p:spPr>
          <a:xfrm>
            <a:off x="1188720" y="4453128"/>
            <a:ext cx="502920" cy="502920"/>
          </a:xfrm>
          <a:prstGeom prst="rect">
            <a:avLst/>
          </a:prstGeom>
        </p:spPr>
      </p:pic>
      <p:sp>
        <p:nvSpPr>
          <p:cNvPr id="16" name="Titre LINQ"/>
          <p:cNvSpPr txBox="1"/>
          <p:nvPr/>
        </p:nvSpPr>
        <p:spPr>
          <a:xfrm>
            <a:off x="2286000" y="4114800"/>
            <a:ext cx="3520440" cy="411480"/>
          </a:xfrm>
          <a:prstGeom prst="rect">
            <a:avLst/>
          </a:prstGeom>
          <a:noFill/>
          <a:ln/>
        </p:spPr>
        <p:txBody>
          <a:bodyPr wrap="square" lIns="0" tIns="0" rIns="0" bIns="0" rtlCol="0" anchor="t"/>
          <a:lstStyle/>
          <a:p>
            <a:pPr indent="0" marL="0">
              <a:buNone/>
            </a:pPr>
            <a:r>
              <a:rPr lang="en-US" sz="1800" b="1" dirty="0">
                <a:solidFill>
                  <a:schemeClr val="tx2"/>
                </a:solidFill>
              </a:rPr>
              <a:t>LINQ</a:t>
            </a:r>
            <a:endParaRPr lang="en-US" sz="1800" dirty="0"/>
          </a:p>
        </p:txBody>
      </p:sp>
      <p:sp>
        <p:nvSpPr>
          <p:cNvPr id="17" name="Détail LINQ"/>
          <p:cNvSpPr txBox="1"/>
          <p:nvPr/>
        </p:nvSpPr>
        <p:spPr>
          <a:xfrm>
            <a:off x="2286000" y="4572000"/>
            <a:ext cx="3520440" cy="1188720"/>
          </a:xfrm>
          <a:prstGeom prst="rect">
            <a:avLst/>
          </a:prstGeom>
          <a:noFill/>
          <a:ln/>
        </p:spPr>
        <p:txBody>
          <a:bodyPr wrap="square" lIns="0" tIns="0" rIns="0" bIns="0" rtlCol="0" anchor="t"/>
          <a:lstStyle/>
          <a:p>
            <a:pPr indent="0" marL="0">
              <a:buNone/>
            </a:pPr>
            <a:r>
              <a:rPr lang="en-US" sz="1500" dirty="0">
                <a:solidFill>
                  <a:schemeClr val="tx1"/>
                </a:solidFill>
              </a:rPr>
              <a:t>Where, Select, GroupBy ≈ filter, map, groupingBy. Paresseux comme un itérateur.</a:t>
            </a:r>
            <a:endParaRPr lang="en-US" sz="1500" dirty="0"/>
          </a:p>
        </p:txBody>
      </p:sp>
      <p:sp>
        <p:nvSpPr>
          <p:cNvPr id="18" name="Carte async/await"/>
          <p:cNvSpPr/>
          <p:nvPr/>
        </p:nvSpPr>
        <p:spPr>
          <a:xfrm>
            <a:off x="6172200" y="3794760"/>
            <a:ext cx="5486400" cy="2103120"/>
          </a:xfrm>
          <a:prstGeom prst="roundRect">
            <a:avLst>
              <a:gd name="adj" fmla="val 5217"/>
            </a:avLst>
          </a:prstGeom>
          <a:solidFill>
            <a:schemeClr val="bg2"/>
          </a:solidFill>
          <a:ln w="12700">
            <a:solidFill>
              <a:srgbClr val="E1EAF1"/>
            </a:solidFill>
            <a:prstDash val="solid"/>
          </a:ln>
        </p:spPr>
      </p:sp>
      <p:sp>
        <p:nvSpPr>
          <p:cNvPr id="19" name="Pastille async/await"/>
          <p:cNvSpPr/>
          <p:nvPr/>
        </p:nvSpPr>
        <p:spPr>
          <a:xfrm>
            <a:off x="6492240" y="4206240"/>
            <a:ext cx="1143000" cy="989867"/>
          </a:xfrm>
          <a:custGeom>
            <a:avLst/>
            <a:gdLst/>
            <a:ahLst/>
            <a:cxnLst/>
            <a:rect l="l" t="t" r="r" b="b"/>
            <a:pathLst>
              <a:path w="1143000" h="989867">
                <a:moveTo>
                  <a:pt x="0" y="494934"/>
                </a:moveTo>
                <a:lnTo>
                  <a:pt x="285750" y="0"/>
                </a:lnTo>
                <a:lnTo>
                  <a:pt x="857250" y="0"/>
                </a:lnTo>
                <a:lnTo>
                  <a:pt x="1143000" y="494934"/>
                </a:lnTo>
                <a:lnTo>
                  <a:pt x="857250" y="989867"/>
                </a:lnTo>
                <a:lnTo>
                  <a:pt x="285750" y="989867"/>
                </a:lnTo>
                <a:close/>
              </a:path>
            </a:pathLst>
          </a:custGeom>
          <a:solidFill>
            <a:srgbClr val="0040FF"/>
          </a:solidFill>
          <a:ln w="12700">
            <a:solidFill>
              <a:srgbClr val="0040FF">
                <a:alpha val="0"/>
              </a:srgbClr>
            </a:solidFill>
            <a:prstDash val="solid"/>
          </a:ln>
        </p:spPr>
      </p:sp>
      <p:pic>
        <p:nvPicPr>
          <p:cNvPr id="20" name="Icône async/await" descr="async/await">    </p:cNvPr>
          <p:cNvPicPr>
            <a:picLocks noChangeAspect="1"/>
          </p:cNvPicPr>
          <p:nvPr/>
        </p:nvPicPr>
        <p:blipFill>
          <a:blip r:embed="rId4"/>
          <a:stretch>
            <a:fillRect/>
          </a:stretch>
        </p:blipFill>
        <p:spPr>
          <a:xfrm>
            <a:off x="6812280" y="4453128"/>
            <a:ext cx="502920" cy="502920"/>
          </a:xfrm>
          <a:prstGeom prst="rect">
            <a:avLst/>
          </a:prstGeom>
        </p:spPr>
      </p:pic>
      <p:sp>
        <p:nvSpPr>
          <p:cNvPr id="21" name="Titre async/await"/>
          <p:cNvSpPr txBox="1"/>
          <p:nvPr/>
        </p:nvSpPr>
        <p:spPr>
          <a:xfrm>
            <a:off x="7909560" y="4114800"/>
            <a:ext cx="3520440" cy="411480"/>
          </a:xfrm>
          <a:prstGeom prst="rect">
            <a:avLst/>
          </a:prstGeom>
          <a:noFill/>
          <a:ln/>
        </p:spPr>
        <p:txBody>
          <a:bodyPr wrap="square" lIns="0" tIns="0" rIns="0" bIns="0" rtlCol="0" anchor="t"/>
          <a:lstStyle/>
          <a:p>
            <a:pPr indent="0" marL="0">
              <a:buNone/>
            </a:pPr>
            <a:r>
              <a:rPr lang="en-US" sz="1800" b="1" dirty="0">
                <a:solidFill>
                  <a:schemeClr val="tx2"/>
                </a:solidFill>
              </a:rPr>
              <a:t>async/await</a:t>
            </a:r>
            <a:endParaRPr lang="en-US" sz="1800" dirty="0"/>
          </a:p>
        </p:txBody>
      </p:sp>
      <p:sp>
        <p:nvSpPr>
          <p:cNvPr id="22" name="Détail async/await"/>
          <p:cNvSpPr txBox="1"/>
          <p:nvPr/>
        </p:nvSpPr>
        <p:spPr>
          <a:xfrm>
            <a:off x="7909560" y="4572000"/>
            <a:ext cx="3520440" cy="1188720"/>
          </a:xfrm>
          <a:prstGeom prst="rect">
            <a:avLst/>
          </a:prstGeom>
          <a:noFill/>
          <a:ln/>
        </p:spPr>
        <p:txBody>
          <a:bodyPr wrap="square" lIns="0" tIns="0" rIns="0" bIns="0" rtlCol="0" anchor="t"/>
          <a:lstStyle/>
          <a:p>
            <a:pPr indent="0" marL="0">
              <a:buNone/>
            </a:pPr>
            <a:r>
              <a:rPr lang="en-US" sz="1500" dirty="0">
                <a:solidFill>
                  <a:schemeClr val="tx1"/>
                </a:solidFill>
              </a:rPr>
              <a:t>Un Task ≈ une Promise : il démarre dès l'appel. Task.WhenAll pour attendre ensemble.</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Grand hexagone TP-02"/>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TP-02"/>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8000" b="1" dirty="0">
                <a:solidFill>
                  <a:schemeClr val="tx2"/>
                </a:solidFill>
              </a:rPr>
              <a:t>02</a:t>
            </a:r>
            <a:endParaRPr lang="en-US" sz="80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TP-02"/>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TP-02</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200" b="1" dirty="0">
                <a:solidFill>
                  <a:schemeClr val="bg1"/>
                </a:solidFill>
              </a:rPr>
              <a:t>Serveur web et Entity Framework Core</a:t>
            </a:r>
            <a:endParaRPr lang="en-US" sz="3200" dirty="0"/>
          </a:p>
        </p:txBody>
      </p:sp>
      <p:sp>
        <p:nvSpPr>
          <p:cNvPr id="9" name="Text 0"/>
          <p:cNvSpPr/>
          <p:nvPr>
            <p:ph idx="101" type="body" hasCustomPrompt="1"/>
          </p:nvPr>
        </p:nvSpPr>
        <p:spPr>
          <a:xfrm>
            <a:off x="4572000" y="4343400"/>
            <a:ext cx="6949440" cy="822960"/>
          </a:xfrm>
          <a:prstGeom prst="rect">
            <a:avLst/>
          </a:prstGeom>
          <a:noFill/>
          <a:ln/>
        </p:spPr>
        <p:txBody>
          <a:bodyPr wrap="square" lIns="0" tIns="0" rIns="0" bIns="0" rtlCol="0" anchor="t"/>
          <a:lstStyle/>
          <a:p>
            <a:pPr algn="l" indent="0" marL="0">
              <a:buNone/>
            </a:pPr>
            <a:r>
              <a:rPr lang="en-US" sz="1800" dirty="0">
                <a:solidFill>
                  <a:schemeClr val="bg2"/>
                </a:solidFill>
              </a:rPr>
              <a:t>Mardi 20 octobre, matin · 8 exercices · 3 h</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TP-02 : une API web, du démarrage à la base</a:t>
            </a:r>
            <a:endParaRPr lang="en-US" sz="3000" dirty="0"/>
          </a:p>
        </p:txBody>
      </p:sp>
      <p:sp>
        <p:nvSpPr>
          <p:cNvPr id="3" name="Introduction"/>
          <p:cNvSpPr txBox="1"/>
          <p:nvPr/>
        </p:nvSpPr>
        <p:spPr>
          <a:xfrm>
            <a:off x="548640" y="1463040"/>
            <a:ext cx="4206240" cy="1920240"/>
          </a:xfrm>
          <a:prstGeom prst="rect">
            <a:avLst/>
          </a:prstGeom>
          <a:noFill/>
          <a:ln/>
        </p:spPr>
        <p:txBody>
          <a:bodyPr wrap="square" lIns="0" tIns="0" rIns="0" bIns="0" rtlCol="0" anchor="t"/>
          <a:lstStyle/>
          <a:p>
            <a:pPr indent="0" marL="0">
              <a:buNone/>
            </a:pPr>
            <a:r>
              <a:rPr lang="en-US" sz="1600" dirty="0">
                <a:solidFill>
                  <a:schemeClr val="tx2"/>
                </a:solidFill>
              </a:rPr>
              <a:t>Comment tourne une application web .NET : une petite API de tickets, d'abord en mémoire, puis branchée sur SQL Server avec Entity Framework Core.</a:t>
            </a:r>
            <a:endParaRPr lang="en-US" sz="1600" dirty="0"/>
          </a:p>
        </p:txBody>
      </p:sp>
      <p:sp>
        <p:nvSpPr>
          <p:cNvPr id="4" name="Intertitre"/>
          <p:cNvSpPr txBox="1"/>
          <p:nvPr/>
        </p:nvSpPr>
        <p:spPr>
          <a:xfrm>
            <a:off x="548640" y="3566160"/>
            <a:ext cx="4206240" cy="365760"/>
          </a:xfrm>
          <a:prstGeom prst="rect">
            <a:avLst/>
          </a:prstGeom>
          <a:noFill/>
          <a:ln/>
        </p:spPr>
        <p:txBody>
          <a:bodyPr wrap="square" lIns="0" tIns="0" rIns="0" bIns="0" rtlCol="0" anchor="t"/>
          <a:lstStyle/>
          <a:p>
            <a:pPr indent="0" marL="0">
              <a:buNone/>
            </a:pPr>
            <a:r>
              <a:rPr lang="en-US" sz="1600" b="1" dirty="0">
                <a:solidFill>
                  <a:schemeClr val="accent1"/>
                </a:solidFill>
              </a:rPr>
              <a:t>À retenir</a:t>
            </a:r>
            <a:endParaRPr lang="en-US" sz="1600" dirty="0"/>
          </a:p>
        </p:txBody>
      </p:sp>
      <p:sp>
        <p:nvSpPr>
          <p:cNvPr id="5" name="Points clés"/>
          <p:cNvSpPr txBox="1"/>
          <p:nvPr/>
        </p:nvSpPr>
        <p:spPr>
          <a:xfrm>
            <a:off x="548640" y="3977640"/>
            <a:ext cx="42062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Pipeline, injection de dépendances, options</a:t>
            </a:r>
            <a:endParaRPr lang="en-US" sz="1500" dirty="0"/>
          </a:p>
          <a:p>
            <a:pPr marL="342900" indent="-342900">
              <a:spcAft>
                <a:spcPts val="800"/>
              </a:spcAft>
              <a:buSzPct val="100000"/>
              <a:buChar char="•"/>
            </a:pPr>
            <a:r>
              <a:rPr lang="en-US" sz="1500" dirty="0">
                <a:solidFill>
                  <a:schemeClr val="tx1"/>
                </a:solidFill>
              </a:rPr>
              <a:t>Minimal APIs, validation, OpenAPI</a:t>
            </a:r>
            <a:endParaRPr lang="en-US" sz="1500" dirty="0"/>
          </a:p>
          <a:p>
            <a:pPr marL="342900" indent="-342900">
              <a:spcAft>
                <a:spcPts val="800"/>
              </a:spcAft>
              <a:buSzPct val="100000"/>
              <a:buChar char="•"/>
            </a:pPr>
            <a:r>
              <a:rPr lang="en-US" sz="1500" dirty="0">
                <a:solidFill>
                  <a:schemeClr val="tx1"/>
                </a:solidFill>
              </a:rPr>
              <a:t>EF Core : migrations, Include, N+1</a:t>
            </a:r>
            <a:endParaRPr lang="en-US" sz="1500" dirty="0"/>
          </a:p>
        </p:txBody>
      </p:sp>
      <p:graphicFrame>
        <p:nvGraphicFramePr>
          <p:cNvPr id="6" name="Durées TP-02" descr="Durée des exercices du TP-02"/>
          <p:cNvGraphicFramePr/>
          <p:nvPr/>
        </p:nvGraphicFramePr>
        <p:xfrm>
          <a:off x="5120640" y="1371600"/>
          <a:ext cx="653796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Le trajet d'une requête, du HTTP à SQL Server</a:t>
            </a:r>
            <a:endParaRPr lang="en-US" sz="3000" dirty="0"/>
          </a:p>
        </p:txBody>
      </p:sp>
      <p:sp>
        <p:nvSpPr>
          <p:cNvPr id="3" name="Maillon Requête HTTP"/>
          <p:cNvSpPr/>
          <p:nvPr/>
        </p:nvSpPr>
        <p:spPr>
          <a:xfrm>
            <a:off x="822960" y="173736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4" name="Icône Requête HTTP" descr="Requête HTTP">    </p:cNvPr>
          <p:cNvPicPr>
            <a:picLocks noChangeAspect="1"/>
          </p:cNvPicPr>
          <p:nvPr/>
        </p:nvPicPr>
        <p:blipFill>
          <a:blip r:embed="rId1"/>
          <a:stretch>
            <a:fillRect/>
          </a:stretch>
        </p:blipFill>
        <p:spPr>
          <a:xfrm>
            <a:off x="1152144" y="2011680"/>
            <a:ext cx="548640" cy="548640"/>
          </a:xfrm>
          <a:prstGeom prst="rect">
            <a:avLst/>
          </a:prstGeom>
        </p:spPr>
      </p:pic>
      <p:sp>
        <p:nvSpPr>
          <p:cNvPr id="5" name="Titre Requête HTTP"/>
          <p:cNvSpPr txBox="1"/>
          <p:nvPr/>
        </p:nvSpPr>
        <p:spPr>
          <a:xfrm>
            <a:off x="502920" y="2971800"/>
            <a:ext cx="1874520" cy="365760"/>
          </a:xfrm>
          <a:prstGeom prst="rect">
            <a:avLst/>
          </a:prstGeom>
          <a:noFill/>
          <a:ln/>
        </p:spPr>
        <p:txBody>
          <a:bodyPr wrap="square" lIns="0" tIns="0" rIns="0" bIns="0" rtlCol="0" anchor="t"/>
          <a:lstStyle/>
          <a:p>
            <a:pPr algn="ctr" indent="0" marL="0">
              <a:buNone/>
            </a:pPr>
            <a:r>
              <a:rPr lang="en-US" sz="1600" b="1" dirty="0">
                <a:solidFill>
                  <a:schemeClr val="tx2"/>
                </a:solidFill>
              </a:rPr>
              <a:t>Requête HTTP</a:t>
            </a:r>
            <a:endParaRPr lang="en-US" sz="1600" dirty="0"/>
          </a:p>
        </p:txBody>
      </p:sp>
      <p:sp>
        <p:nvSpPr>
          <p:cNvPr id="6" name="Détail Requête HTTP"/>
          <p:cNvSpPr txBox="1"/>
          <p:nvPr/>
        </p:nvSpPr>
        <p:spPr>
          <a:xfrm>
            <a:off x="594360" y="333756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GET /tickets</a:t>
            </a:r>
            <a:endParaRPr lang="en-US" sz="1300" dirty="0"/>
          </a:p>
        </p:txBody>
      </p:sp>
      <p:pic>
        <p:nvPicPr>
          <p:cNvPr id="7" name="Flèche 1" descr="puis">    </p:cNvPr>
          <p:cNvPicPr>
            <a:picLocks noChangeAspect="1"/>
          </p:cNvPicPr>
          <p:nvPr/>
        </p:nvPicPr>
        <p:blipFill>
          <a:blip r:embed="rId2"/>
          <a:stretch>
            <a:fillRect/>
          </a:stretch>
        </p:blipFill>
        <p:spPr>
          <a:xfrm>
            <a:off x="2176272" y="2157984"/>
            <a:ext cx="274320" cy="274320"/>
          </a:xfrm>
          <a:prstGeom prst="rect">
            <a:avLst/>
          </a:prstGeom>
        </p:spPr>
      </p:pic>
      <p:sp>
        <p:nvSpPr>
          <p:cNvPr id="8" name="Maillon Middlewares"/>
          <p:cNvSpPr/>
          <p:nvPr/>
        </p:nvSpPr>
        <p:spPr>
          <a:xfrm>
            <a:off x="2697480" y="173736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9" name="Icône Middlewares" descr="Middlewares">    </p:cNvPr>
          <p:cNvPicPr>
            <a:picLocks noChangeAspect="1"/>
          </p:cNvPicPr>
          <p:nvPr/>
        </p:nvPicPr>
        <p:blipFill>
          <a:blip r:embed="rId3"/>
          <a:stretch>
            <a:fillRect/>
          </a:stretch>
        </p:blipFill>
        <p:spPr>
          <a:xfrm>
            <a:off x="3026664" y="2011680"/>
            <a:ext cx="548640" cy="548640"/>
          </a:xfrm>
          <a:prstGeom prst="rect">
            <a:avLst/>
          </a:prstGeom>
        </p:spPr>
      </p:pic>
      <p:sp>
        <p:nvSpPr>
          <p:cNvPr id="10" name="Titre Middlewares"/>
          <p:cNvSpPr txBox="1"/>
          <p:nvPr/>
        </p:nvSpPr>
        <p:spPr>
          <a:xfrm>
            <a:off x="2377440" y="2971800"/>
            <a:ext cx="1874520" cy="365760"/>
          </a:xfrm>
          <a:prstGeom prst="rect">
            <a:avLst/>
          </a:prstGeom>
          <a:noFill/>
          <a:ln/>
        </p:spPr>
        <p:txBody>
          <a:bodyPr wrap="square" lIns="0" tIns="0" rIns="0" bIns="0" rtlCol="0" anchor="t"/>
          <a:lstStyle/>
          <a:p>
            <a:pPr algn="ctr" indent="0" marL="0">
              <a:buNone/>
            </a:pPr>
            <a:r>
              <a:rPr lang="en-US" sz="1600" b="1" dirty="0">
                <a:solidFill>
                  <a:schemeClr val="tx2"/>
                </a:solidFill>
              </a:rPr>
              <a:t>Middlewares</a:t>
            </a:r>
            <a:endParaRPr lang="en-US" sz="1600" dirty="0"/>
          </a:p>
        </p:txBody>
      </p:sp>
      <p:sp>
        <p:nvSpPr>
          <p:cNvPr id="11" name="Détail Middlewares"/>
          <p:cNvSpPr txBox="1"/>
          <p:nvPr/>
        </p:nvSpPr>
        <p:spPr>
          <a:xfrm>
            <a:off x="2468880" y="333756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dans l'ordre de Program.cs</a:t>
            </a:r>
            <a:endParaRPr lang="en-US" sz="1300" dirty="0"/>
          </a:p>
        </p:txBody>
      </p:sp>
      <p:pic>
        <p:nvPicPr>
          <p:cNvPr id="12" name="Flèche 2" descr="puis">    </p:cNvPr>
          <p:cNvPicPr>
            <a:picLocks noChangeAspect="1"/>
          </p:cNvPicPr>
          <p:nvPr/>
        </p:nvPicPr>
        <p:blipFill>
          <a:blip r:embed="rId4"/>
          <a:stretch>
            <a:fillRect/>
          </a:stretch>
        </p:blipFill>
        <p:spPr>
          <a:xfrm>
            <a:off x="4050792" y="2157984"/>
            <a:ext cx="274320" cy="274320"/>
          </a:xfrm>
          <a:prstGeom prst="rect">
            <a:avLst/>
          </a:prstGeom>
        </p:spPr>
      </p:pic>
      <p:sp>
        <p:nvSpPr>
          <p:cNvPr id="13" name="Maillon Minimal API"/>
          <p:cNvSpPr/>
          <p:nvPr/>
        </p:nvSpPr>
        <p:spPr>
          <a:xfrm>
            <a:off x="4572000" y="173736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14" name="Icône Minimal API" descr="Minimal API">    </p:cNvPr>
          <p:cNvPicPr>
            <a:picLocks noChangeAspect="1"/>
          </p:cNvPicPr>
          <p:nvPr/>
        </p:nvPicPr>
        <p:blipFill>
          <a:blip r:embed="rId5"/>
          <a:stretch>
            <a:fillRect/>
          </a:stretch>
        </p:blipFill>
        <p:spPr>
          <a:xfrm>
            <a:off x="4901184" y="2011680"/>
            <a:ext cx="548640" cy="548640"/>
          </a:xfrm>
          <a:prstGeom prst="rect">
            <a:avLst/>
          </a:prstGeom>
        </p:spPr>
      </p:pic>
      <p:sp>
        <p:nvSpPr>
          <p:cNvPr id="15" name="Titre Minimal API"/>
          <p:cNvSpPr txBox="1"/>
          <p:nvPr/>
        </p:nvSpPr>
        <p:spPr>
          <a:xfrm>
            <a:off x="4251960" y="2971800"/>
            <a:ext cx="1874520" cy="365760"/>
          </a:xfrm>
          <a:prstGeom prst="rect">
            <a:avLst/>
          </a:prstGeom>
          <a:noFill/>
          <a:ln/>
        </p:spPr>
        <p:txBody>
          <a:bodyPr wrap="square" lIns="0" tIns="0" rIns="0" bIns="0" rtlCol="0" anchor="t"/>
          <a:lstStyle/>
          <a:p>
            <a:pPr algn="ctr" indent="0" marL="0">
              <a:buNone/>
            </a:pPr>
            <a:r>
              <a:rPr lang="en-US" sz="1600" b="1" dirty="0">
                <a:solidFill>
                  <a:schemeClr val="tx2"/>
                </a:solidFill>
              </a:rPr>
              <a:t>Minimal API</a:t>
            </a:r>
            <a:endParaRPr lang="en-US" sz="1600" dirty="0"/>
          </a:p>
        </p:txBody>
      </p:sp>
      <p:sp>
        <p:nvSpPr>
          <p:cNvPr id="16" name="Détail Minimal API"/>
          <p:cNvSpPr txBox="1"/>
          <p:nvPr/>
        </p:nvSpPr>
        <p:spPr>
          <a:xfrm>
            <a:off x="4343400" y="333756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MapGet, validation, TypedResults</a:t>
            </a:r>
            <a:endParaRPr lang="en-US" sz="1300" dirty="0"/>
          </a:p>
        </p:txBody>
      </p:sp>
      <p:pic>
        <p:nvPicPr>
          <p:cNvPr id="17" name="Flèche 3" descr="puis">    </p:cNvPr>
          <p:cNvPicPr>
            <a:picLocks noChangeAspect="1"/>
          </p:cNvPicPr>
          <p:nvPr/>
        </p:nvPicPr>
        <p:blipFill>
          <a:blip r:embed="rId6"/>
          <a:stretch>
            <a:fillRect/>
          </a:stretch>
        </p:blipFill>
        <p:spPr>
          <a:xfrm>
            <a:off x="5925312" y="2157984"/>
            <a:ext cx="274320" cy="274320"/>
          </a:xfrm>
          <a:prstGeom prst="rect">
            <a:avLst/>
          </a:prstGeom>
        </p:spPr>
      </p:pic>
      <p:sp>
        <p:nvSpPr>
          <p:cNvPr id="18" name="Maillon Injection"/>
          <p:cNvSpPr/>
          <p:nvPr/>
        </p:nvSpPr>
        <p:spPr>
          <a:xfrm>
            <a:off x="6446520" y="173736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19" name="Icône Injection" descr="Injection">    </p:cNvPr>
          <p:cNvPicPr>
            <a:picLocks noChangeAspect="1"/>
          </p:cNvPicPr>
          <p:nvPr/>
        </p:nvPicPr>
        <p:blipFill>
          <a:blip r:embed="rId7"/>
          <a:stretch>
            <a:fillRect/>
          </a:stretch>
        </p:blipFill>
        <p:spPr>
          <a:xfrm>
            <a:off x="6775704" y="2011680"/>
            <a:ext cx="548640" cy="548640"/>
          </a:xfrm>
          <a:prstGeom prst="rect">
            <a:avLst/>
          </a:prstGeom>
        </p:spPr>
      </p:pic>
      <p:sp>
        <p:nvSpPr>
          <p:cNvPr id="20" name="Titre Injection"/>
          <p:cNvSpPr txBox="1"/>
          <p:nvPr/>
        </p:nvSpPr>
        <p:spPr>
          <a:xfrm>
            <a:off x="6126480" y="2971800"/>
            <a:ext cx="1874520" cy="365760"/>
          </a:xfrm>
          <a:prstGeom prst="rect">
            <a:avLst/>
          </a:prstGeom>
          <a:noFill/>
          <a:ln/>
        </p:spPr>
        <p:txBody>
          <a:bodyPr wrap="square" lIns="0" tIns="0" rIns="0" bIns="0" rtlCol="0" anchor="t"/>
          <a:lstStyle/>
          <a:p>
            <a:pPr algn="ctr" indent="0" marL="0">
              <a:buNone/>
            </a:pPr>
            <a:r>
              <a:rPr lang="en-US" sz="1600" b="1" dirty="0">
                <a:solidFill>
                  <a:schemeClr val="tx2"/>
                </a:solidFill>
              </a:rPr>
              <a:t>Injection</a:t>
            </a:r>
            <a:endParaRPr lang="en-US" sz="1600" dirty="0"/>
          </a:p>
        </p:txBody>
      </p:sp>
      <p:sp>
        <p:nvSpPr>
          <p:cNvPr id="21" name="Détail Injection"/>
          <p:cNvSpPr txBox="1"/>
          <p:nvPr/>
        </p:nvSpPr>
        <p:spPr>
          <a:xfrm>
            <a:off x="6217920" y="333756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ITicketRepository, scoped</a:t>
            </a:r>
            <a:endParaRPr lang="en-US" sz="1300" dirty="0"/>
          </a:p>
        </p:txBody>
      </p:sp>
      <p:pic>
        <p:nvPicPr>
          <p:cNvPr id="22" name="Flèche 4" descr="puis">    </p:cNvPr>
          <p:cNvPicPr>
            <a:picLocks noChangeAspect="1"/>
          </p:cNvPicPr>
          <p:nvPr/>
        </p:nvPicPr>
        <p:blipFill>
          <a:blip r:embed="rId8"/>
          <a:stretch>
            <a:fillRect/>
          </a:stretch>
        </p:blipFill>
        <p:spPr>
          <a:xfrm>
            <a:off x="7799832" y="2157984"/>
            <a:ext cx="274320" cy="274320"/>
          </a:xfrm>
          <a:prstGeom prst="rect">
            <a:avLst/>
          </a:prstGeom>
        </p:spPr>
      </p:pic>
      <p:sp>
        <p:nvSpPr>
          <p:cNvPr id="23" name="Maillon EF Core"/>
          <p:cNvSpPr/>
          <p:nvPr/>
        </p:nvSpPr>
        <p:spPr>
          <a:xfrm>
            <a:off x="8321040" y="173736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FFFF00"/>
          </a:solidFill>
          <a:ln w="12700">
            <a:solidFill>
              <a:srgbClr val="FFFF00">
                <a:alpha val="0"/>
              </a:srgbClr>
            </a:solidFill>
            <a:prstDash val="solid"/>
          </a:ln>
        </p:spPr>
      </p:sp>
      <p:pic>
        <p:nvPicPr>
          <p:cNvPr id="24" name="Icône EF Core" descr="EF Core">    </p:cNvPr>
          <p:cNvPicPr>
            <a:picLocks noChangeAspect="1"/>
          </p:cNvPicPr>
          <p:nvPr/>
        </p:nvPicPr>
        <p:blipFill>
          <a:blip r:embed="rId9"/>
          <a:stretch>
            <a:fillRect/>
          </a:stretch>
        </p:blipFill>
        <p:spPr>
          <a:xfrm>
            <a:off x="8650224" y="2011680"/>
            <a:ext cx="548640" cy="548640"/>
          </a:xfrm>
          <a:prstGeom prst="rect">
            <a:avLst/>
          </a:prstGeom>
        </p:spPr>
      </p:pic>
      <p:sp>
        <p:nvSpPr>
          <p:cNvPr id="25" name="Titre EF Core"/>
          <p:cNvSpPr txBox="1"/>
          <p:nvPr/>
        </p:nvSpPr>
        <p:spPr>
          <a:xfrm>
            <a:off x="8001000" y="2971800"/>
            <a:ext cx="1874520" cy="365760"/>
          </a:xfrm>
          <a:prstGeom prst="rect">
            <a:avLst/>
          </a:prstGeom>
          <a:noFill/>
          <a:ln/>
        </p:spPr>
        <p:txBody>
          <a:bodyPr wrap="square" lIns="0" tIns="0" rIns="0" bIns="0" rtlCol="0" anchor="t"/>
          <a:lstStyle/>
          <a:p>
            <a:pPr algn="ctr" indent="0" marL="0">
              <a:buNone/>
            </a:pPr>
            <a:r>
              <a:rPr lang="en-US" sz="1600" b="1" dirty="0">
                <a:solidFill>
                  <a:schemeClr val="tx2"/>
                </a:solidFill>
              </a:rPr>
              <a:t>EF Core</a:t>
            </a:r>
            <a:endParaRPr lang="en-US" sz="1600" dirty="0"/>
          </a:p>
        </p:txBody>
      </p:sp>
      <p:sp>
        <p:nvSpPr>
          <p:cNvPr id="26" name="Détail EF Core"/>
          <p:cNvSpPr txBox="1"/>
          <p:nvPr/>
        </p:nvSpPr>
        <p:spPr>
          <a:xfrm>
            <a:off x="8092440" y="333756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LINQ traduit en SQL</a:t>
            </a:r>
            <a:endParaRPr lang="en-US" sz="1300" dirty="0"/>
          </a:p>
        </p:txBody>
      </p:sp>
      <p:pic>
        <p:nvPicPr>
          <p:cNvPr id="27" name="Flèche 5" descr="puis">    </p:cNvPr>
          <p:cNvPicPr>
            <a:picLocks noChangeAspect="1"/>
          </p:cNvPicPr>
          <p:nvPr/>
        </p:nvPicPr>
        <p:blipFill>
          <a:blip r:embed="rId10"/>
          <a:stretch>
            <a:fillRect/>
          </a:stretch>
        </p:blipFill>
        <p:spPr>
          <a:xfrm>
            <a:off x="9674352" y="2157984"/>
            <a:ext cx="274320" cy="274320"/>
          </a:xfrm>
          <a:prstGeom prst="rect">
            <a:avLst/>
          </a:prstGeom>
        </p:spPr>
      </p:pic>
      <p:sp>
        <p:nvSpPr>
          <p:cNvPr id="28" name="Maillon SQL Server"/>
          <p:cNvSpPr/>
          <p:nvPr/>
        </p:nvSpPr>
        <p:spPr>
          <a:xfrm>
            <a:off x="10195560" y="1737360"/>
            <a:ext cx="1234440" cy="1069056"/>
          </a:xfrm>
          <a:custGeom>
            <a:avLst/>
            <a:gdLst/>
            <a:ahLst/>
            <a:cxnLst/>
            <a:rect l="l" t="t" r="r" b="b"/>
            <a:pathLst>
              <a:path w="1234440" h="1069056">
                <a:moveTo>
                  <a:pt x="0" y="534528"/>
                </a:moveTo>
                <a:lnTo>
                  <a:pt x="308610" y="0"/>
                </a:lnTo>
                <a:lnTo>
                  <a:pt x="925830" y="0"/>
                </a:lnTo>
                <a:lnTo>
                  <a:pt x="1234440" y="534528"/>
                </a:lnTo>
                <a:lnTo>
                  <a:pt x="925830" y="1069056"/>
                </a:lnTo>
                <a:lnTo>
                  <a:pt x="308610" y="1069056"/>
                </a:lnTo>
                <a:close/>
              </a:path>
            </a:pathLst>
          </a:custGeom>
          <a:solidFill>
            <a:srgbClr val="000057"/>
          </a:solidFill>
          <a:ln w="12700">
            <a:solidFill>
              <a:srgbClr val="000057">
                <a:alpha val="0"/>
              </a:srgbClr>
            </a:solidFill>
            <a:prstDash val="solid"/>
          </a:ln>
        </p:spPr>
      </p:sp>
      <p:pic>
        <p:nvPicPr>
          <p:cNvPr id="29" name="Icône SQL Server" descr="SQL Server">    </p:cNvPr>
          <p:cNvPicPr>
            <a:picLocks noChangeAspect="1"/>
          </p:cNvPicPr>
          <p:nvPr/>
        </p:nvPicPr>
        <p:blipFill>
          <a:blip r:embed="rId11"/>
          <a:stretch>
            <a:fillRect/>
          </a:stretch>
        </p:blipFill>
        <p:spPr>
          <a:xfrm>
            <a:off x="10524744" y="2011680"/>
            <a:ext cx="548640" cy="548640"/>
          </a:xfrm>
          <a:prstGeom prst="rect">
            <a:avLst/>
          </a:prstGeom>
        </p:spPr>
      </p:pic>
      <p:sp>
        <p:nvSpPr>
          <p:cNvPr id="30" name="Titre SQL Server"/>
          <p:cNvSpPr txBox="1"/>
          <p:nvPr/>
        </p:nvSpPr>
        <p:spPr>
          <a:xfrm>
            <a:off x="9875520" y="2971800"/>
            <a:ext cx="1874520" cy="365760"/>
          </a:xfrm>
          <a:prstGeom prst="rect">
            <a:avLst/>
          </a:prstGeom>
          <a:noFill/>
          <a:ln/>
        </p:spPr>
        <p:txBody>
          <a:bodyPr wrap="square" lIns="0" tIns="0" rIns="0" bIns="0" rtlCol="0" anchor="t"/>
          <a:lstStyle/>
          <a:p>
            <a:pPr algn="ctr" indent="0" marL="0">
              <a:buNone/>
            </a:pPr>
            <a:r>
              <a:rPr lang="en-US" sz="1600" b="1" dirty="0">
                <a:solidFill>
                  <a:schemeClr val="tx2"/>
                </a:solidFill>
              </a:rPr>
              <a:t>SQL Server</a:t>
            </a:r>
            <a:endParaRPr lang="en-US" sz="1600" dirty="0"/>
          </a:p>
        </p:txBody>
      </p:sp>
      <p:sp>
        <p:nvSpPr>
          <p:cNvPr id="31" name="Détail SQL Server"/>
          <p:cNvSpPr txBox="1"/>
          <p:nvPr/>
        </p:nvSpPr>
        <p:spPr>
          <a:xfrm>
            <a:off x="9966960" y="333756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migrations versionnées</a:t>
            </a:r>
            <a:endParaRPr lang="en-US" sz="1300" dirty="0"/>
          </a:p>
        </p:txBody>
      </p:sp>
      <p:sp>
        <p:nvSpPr>
          <p:cNvPr id="32" name="Encadré N+1"/>
          <p:cNvSpPr/>
          <p:nvPr/>
        </p:nvSpPr>
        <p:spPr>
          <a:xfrm>
            <a:off x="548640" y="4526280"/>
            <a:ext cx="11109960" cy="1371600"/>
          </a:xfrm>
          <a:prstGeom prst="roundRect">
            <a:avLst>
              <a:gd name="adj" fmla="val 8000"/>
            </a:avLst>
          </a:prstGeom>
          <a:solidFill>
            <a:schemeClr val="bg2"/>
          </a:solidFill>
          <a:ln w="12700">
            <a:solidFill>
              <a:srgbClr val="E1EAF1"/>
            </a:solidFill>
            <a:prstDash val="solid"/>
          </a:ln>
        </p:spPr>
      </p:sp>
      <p:pic>
        <p:nvPicPr>
          <p:cNvPr id="33" name="Icône N+1" descr="Détection">    </p:cNvPr>
          <p:cNvPicPr>
            <a:picLocks noChangeAspect="1"/>
          </p:cNvPicPr>
          <p:nvPr/>
        </p:nvPicPr>
        <p:blipFill>
          <a:blip r:embed="rId12"/>
          <a:stretch>
            <a:fillRect/>
          </a:stretch>
        </p:blipFill>
        <p:spPr>
          <a:xfrm>
            <a:off x="868680" y="4937760"/>
            <a:ext cx="548640" cy="548640"/>
          </a:xfrm>
          <a:prstGeom prst="rect">
            <a:avLst/>
          </a:prstGeom>
        </p:spPr>
      </p:pic>
      <p:sp>
        <p:nvSpPr>
          <p:cNvPr id="34" name="Texte N+1"/>
          <p:cNvSpPr txBox="1"/>
          <p:nvPr/>
        </p:nvSpPr>
        <p:spPr>
          <a:xfrm>
            <a:off x="1691640" y="4526280"/>
            <a:ext cx="9692640" cy="1371600"/>
          </a:xfrm>
          <a:prstGeom prst="rect">
            <a:avLst/>
          </a:prstGeom>
          <a:noFill/>
          <a:ln/>
        </p:spPr>
        <p:txBody>
          <a:bodyPr wrap="square" lIns="0" tIns="0" rIns="0" bIns="0" rtlCol="0" anchor="ctr"/>
          <a:lstStyle/>
          <a:p>
            <a:pPr indent="0" marL="0">
              <a:buNone/>
            </a:pPr>
            <a:r>
              <a:rPr lang="en-US" sz="1500" b="1" dirty="0">
                <a:solidFill>
                  <a:schemeClr val="tx2"/>
                </a:solidFill>
              </a:rPr>
              <a:t>Le piège du jour : le N+1. </a:t>
            </a:r>
            <a:pPr indent="0" marL="0">
              <a:buNone/>
            </a:pPr>
            <a:r>
              <a:rPr lang="en-US" sz="1500" dirty="0">
                <a:solidFill>
                  <a:schemeClr val="tx1"/>
                </a:solidFill>
              </a:rPr>
              <a:t>Une requête pour la liste, puis une par ticket. Les logs SQL d'EF Core le montrent, un test compte les commandes, et une projection règle tout en une requête.</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Grand hexagone TP-03"/>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TP-03"/>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8000" b="1" dirty="0">
                <a:solidFill>
                  <a:schemeClr val="tx2"/>
                </a:solidFill>
              </a:rPr>
              <a:t>03</a:t>
            </a:r>
            <a:endParaRPr lang="en-US" sz="80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TP-03"/>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TP-03</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200" b="1" dirty="0">
                <a:solidFill>
                  <a:schemeClr val="bg1"/>
                </a:solidFill>
              </a:rPr>
              <a:t>Blazor : composants, modes de rendu et formulaires</a:t>
            </a:r>
            <a:endParaRPr lang="en-US" sz="3200" dirty="0"/>
          </a:p>
        </p:txBody>
      </p:sp>
      <p:sp>
        <p:nvSpPr>
          <p:cNvPr id="9" name="Text 0"/>
          <p:cNvSpPr/>
          <p:nvPr>
            <p:ph idx="101" type="body" hasCustomPrompt="1"/>
          </p:nvPr>
        </p:nvSpPr>
        <p:spPr>
          <a:xfrm>
            <a:off x="4572000" y="4343400"/>
            <a:ext cx="6949440" cy="822960"/>
          </a:xfrm>
          <a:prstGeom prst="rect">
            <a:avLst/>
          </a:prstGeom>
          <a:noFill/>
          <a:ln/>
        </p:spPr>
        <p:txBody>
          <a:bodyPr wrap="square" lIns="0" tIns="0" rIns="0" bIns="0" rtlCol="0" anchor="t"/>
          <a:lstStyle/>
          <a:p>
            <a:pPr algn="l" indent="0" marL="0">
              <a:buNone/>
            </a:pPr>
            <a:r>
              <a:rPr lang="en-US" sz="1800" dirty="0">
                <a:solidFill>
                  <a:schemeClr val="bg2"/>
                </a:solidFill>
              </a:rPr>
              <a:t>Mercredi 21 octobre, matin · 7 exercices · 3 h</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TP-03 : le front des tickets, en composants</a:t>
            </a:r>
            <a:endParaRPr lang="en-US" sz="3000" dirty="0"/>
          </a:p>
        </p:txBody>
      </p:sp>
      <p:sp>
        <p:nvSpPr>
          <p:cNvPr id="3" name="Introduction"/>
          <p:cNvSpPr txBox="1"/>
          <p:nvPr/>
        </p:nvSpPr>
        <p:spPr>
          <a:xfrm>
            <a:off x="548640" y="1463040"/>
            <a:ext cx="4206240" cy="1920240"/>
          </a:xfrm>
          <a:prstGeom prst="rect">
            <a:avLst/>
          </a:prstGeom>
          <a:noFill/>
          <a:ln/>
        </p:spPr>
        <p:txBody>
          <a:bodyPr wrap="square" lIns="0" tIns="0" rIns="0" bIns="0" rtlCol="0" anchor="t"/>
          <a:lstStyle/>
          <a:p>
            <a:pPr indent="0" marL="0">
              <a:buNone/>
            </a:pPr>
            <a:r>
              <a:rPr lang="en-US" sz="1600" dirty="0">
                <a:solidFill>
                  <a:schemeClr val="tx2"/>
                </a:solidFill>
              </a:rPr>
              <a:t>Blazor écrit des interfaces web en C# avec des composants, comme React ou Vue : c'est l'outil de la plupart de nos applis. On construit le front de l'API de la veille.</a:t>
            </a:r>
            <a:endParaRPr lang="en-US" sz="1600" dirty="0"/>
          </a:p>
        </p:txBody>
      </p:sp>
      <p:sp>
        <p:nvSpPr>
          <p:cNvPr id="4" name="Intertitre"/>
          <p:cNvSpPr txBox="1"/>
          <p:nvPr/>
        </p:nvSpPr>
        <p:spPr>
          <a:xfrm>
            <a:off x="548640" y="3566160"/>
            <a:ext cx="4206240" cy="365760"/>
          </a:xfrm>
          <a:prstGeom prst="rect">
            <a:avLst/>
          </a:prstGeom>
          <a:noFill/>
          <a:ln/>
        </p:spPr>
        <p:txBody>
          <a:bodyPr wrap="square" lIns="0" tIns="0" rIns="0" bIns="0" rtlCol="0" anchor="t"/>
          <a:lstStyle/>
          <a:p>
            <a:pPr indent="0" marL="0">
              <a:buNone/>
            </a:pPr>
            <a:r>
              <a:rPr lang="en-US" sz="1600" b="1" dirty="0">
                <a:solidFill>
                  <a:schemeClr val="accent1"/>
                </a:solidFill>
              </a:rPr>
              <a:t>À retenir</a:t>
            </a:r>
            <a:endParaRPr lang="en-US" sz="1600" dirty="0"/>
          </a:p>
        </p:txBody>
      </p:sp>
      <p:sp>
        <p:nvSpPr>
          <p:cNvPr id="5" name="Points clés"/>
          <p:cNvSpPr txBox="1"/>
          <p:nvPr/>
        </p:nvSpPr>
        <p:spPr>
          <a:xfrm>
            <a:off x="548640" y="3977640"/>
            <a:ext cx="42062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Paramètres, EventCallback, cycle de vie</a:t>
            </a:r>
            <a:endParaRPr lang="en-US" sz="1500" dirty="0"/>
          </a:p>
          <a:p>
            <a:pPr marL="342900" indent="-342900">
              <a:spcAft>
                <a:spcPts val="800"/>
              </a:spcAft>
              <a:buSzPct val="100000"/>
              <a:buChar char="•"/>
            </a:pPr>
            <a:r>
              <a:rPr lang="en-US" sz="1500" dirty="0">
                <a:solidFill>
                  <a:schemeClr val="tx1"/>
                </a:solidFill>
              </a:rPr>
              <a:t>Static, Server, WebAssembly, Auto</a:t>
            </a:r>
            <a:endParaRPr lang="en-US" sz="1500" dirty="0"/>
          </a:p>
          <a:p>
            <a:pPr marL="342900" indent="-342900">
              <a:spcAft>
                <a:spcPts val="800"/>
              </a:spcAft>
              <a:buSzPct val="100000"/>
              <a:buChar char="•"/>
            </a:pPr>
            <a:r>
              <a:rPr lang="en-US" sz="1500" dirty="0">
                <a:solidFill>
                  <a:schemeClr val="tx1"/>
                </a:solidFill>
              </a:rPr>
              <a:t>EditForm, QuickGrid, CSS isolé</a:t>
            </a:r>
            <a:endParaRPr lang="en-US" sz="1500" dirty="0"/>
          </a:p>
        </p:txBody>
      </p:sp>
      <p:graphicFrame>
        <p:nvGraphicFramePr>
          <p:cNvPr id="6" name="Durées TP-03" descr="Durée des exercices du TP-03"/>
          <p:cNvGraphicFramePr/>
          <p:nvPr/>
        </p:nvGraphicFramePr>
        <p:xfrm>
          <a:off x="5120640" y="1371600"/>
          <a:ext cx="653796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Quatre modes de rendu, un même composant</a:t>
            </a:r>
            <a:endParaRPr lang="en-US" sz="3000" dirty="0"/>
          </a:p>
        </p:txBody>
      </p:sp>
      <p:sp>
        <p:nvSpPr>
          <p:cNvPr id="3" name="Mode Static SSR"/>
          <p:cNvSpPr/>
          <p:nvPr/>
        </p:nvSpPr>
        <p:spPr>
          <a:xfrm>
            <a:off x="548640" y="1463040"/>
            <a:ext cx="2651760" cy="4434840"/>
          </a:xfrm>
          <a:prstGeom prst="roundRect">
            <a:avLst>
              <a:gd name="adj" fmla="val 4138"/>
            </a:avLst>
          </a:prstGeom>
          <a:solidFill>
            <a:schemeClr val="bg2"/>
          </a:solidFill>
          <a:ln w="12700">
            <a:solidFill>
              <a:srgbClr val="E1EAF1"/>
            </a:solidFill>
            <a:prstDash val="solid"/>
          </a:ln>
        </p:spPr>
      </p:sp>
      <p:sp>
        <p:nvSpPr>
          <p:cNvPr id="4" name="Pastille Static SSR"/>
          <p:cNvSpPr/>
          <p:nvPr/>
        </p:nvSpPr>
        <p:spPr>
          <a:xfrm>
            <a:off x="822960" y="173736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0057"/>
          </a:solidFill>
          <a:ln w="12700">
            <a:solidFill>
              <a:srgbClr val="000057">
                <a:alpha val="0"/>
              </a:srgbClr>
            </a:solidFill>
            <a:prstDash val="solid"/>
          </a:ln>
        </p:spPr>
      </p:sp>
      <p:pic>
        <p:nvPicPr>
          <p:cNvPr id="5" name="Icône Static SSR" descr="Static SSR">    </p:cNvPr>
          <p:cNvPicPr>
            <a:picLocks noChangeAspect="1"/>
          </p:cNvPicPr>
          <p:nvPr/>
        </p:nvPicPr>
        <p:blipFill>
          <a:blip r:embed="rId1"/>
          <a:stretch>
            <a:fillRect/>
          </a:stretch>
        </p:blipFill>
        <p:spPr>
          <a:xfrm>
            <a:off x="1069848" y="1920240"/>
            <a:ext cx="420624" cy="420624"/>
          </a:xfrm>
          <a:prstGeom prst="rect">
            <a:avLst/>
          </a:prstGeom>
        </p:spPr>
      </p:pic>
      <p:sp>
        <p:nvSpPr>
          <p:cNvPr id="6" name="Titre Static SSR"/>
          <p:cNvSpPr txBox="1"/>
          <p:nvPr/>
        </p:nvSpPr>
        <p:spPr>
          <a:xfrm>
            <a:off x="822960" y="2743200"/>
            <a:ext cx="2240280" cy="685800"/>
          </a:xfrm>
          <a:prstGeom prst="rect">
            <a:avLst/>
          </a:prstGeom>
          <a:noFill/>
          <a:ln/>
        </p:spPr>
        <p:txBody>
          <a:bodyPr wrap="square" lIns="0" tIns="0" rIns="0" bIns="0" rtlCol="0" anchor="t"/>
          <a:lstStyle/>
          <a:p>
            <a:pPr indent="0" marL="0">
              <a:buNone/>
            </a:pPr>
            <a:r>
              <a:rPr lang="en-US" sz="1800" b="1" dirty="0">
                <a:solidFill>
                  <a:schemeClr val="tx2"/>
                </a:solidFill>
              </a:rPr>
              <a:t>Static SSR</a:t>
            </a:r>
            <a:endParaRPr lang="en-US" sz="1800" dirty="0"/>
          </a:p>
        </p:txBody>
      </p:sp>
      <p:sp>
        <p:nvSpPr>
          <p:cNvPr id="7" name="Fonctionnement Static SSR"/>
          <p:cNvSpPr txBox="1"/>
          <p:nvPr/>
        </p:nvSpPr>
        <p:spPr>
          <a:xfrm>
            <a:off x="822960" y="3474720"/>
            <a:ext cx="2194560" cy="1143000"/>
          </a:xfrm>
          <a:prstGeom prst="rect">
            <a:avLst/>
          </a:prstGeom>
          <a:noFill/>
          <a:ln/>
        </p:spPr>
        <p:txBody>
          <a:bodyPr wrap="square" lIns="0" tIns="0" rIns="0" bIns="0" rtlCol="0" anchor="t"/>
          <a:lstStyle/>
          <a:p>
            <a:pPr indent="0" marL="0">
              <a:buNone/>
            </a:pPr>
            <a:r>
              <a:rPr lang="en-US" sz="1400" dirty="0">
                <a:solidFill>
                  <a:schemeClr val="tx1"/>
                </a:solidFill>
              </a:rPr>
              <a:t>HTML rendu sur le serveur, sans interactivité</a:t>
            </a:r>
            <a:endParaRPr lang="en-US" sz="1400" dirty="0"/>
          </a:p>
        </p:txBody>
      </p:sp>
      <p:sp>
        <p:nvSpPr>
          <p:cNvPr id="8" name="Usage Static SSR"/>
          <p:cNvSpPr txBox="1"/>
          <p:nvPr/>
        </p:nvSpPr>
        <p:spPr>
          <a:xfrm>
            <a:off x="822960" y="4709160"/>
            <a:ext cx="2194560" cy="1005840"/>
          </a:xfrm>
          <a:prstGeom prst="rect">
            <a:avLst/>
          </a:prstGeom>
          <a:noFill/>
          <a:ln/>
        </p:spPr>
        <p:txBody>
          <a:bodyPr wrap="square" lIns="0" tIns="0" rIns="0" bIns="0" rtlCol="0" anchor="t"/>
          <a:lstStyle/>
          <a:p>
            <a:pPr indent="0" marL="0">
              <a:buNone/>
            </a:pPr>
            <a:r>
              <a:rPr lang="en-US" sz="1400" i="1" dirty="0">
                <a:solidFill>
                  <a:schemeClr val="accent1"/>
                </a:solidFill>
              </a:rPr>
              <a:t>Pages de contenu, formulaires simples</a:t>
            </a:r>
            <a:endParaRPr lang="en-US" sz="1400" dirty="0"/>
          </a:p>
        </p:txBody>
      </p:sp>
      <p:sp>
        <p:nvSpPr>
          <p:cNvPr id="9" name="Mode Interactive Server"/>
          <p:cNvSpPr/>
          <p:nvPr/>
        </p:nvSpPr>
        <p:spPr>
          <a:xfrm>
            <a:off x="3355848" y="1463040"/>
            <a:ext cx="2651760" cy="4434840"/>
          </a:xfrm>
          <a:prstGeom prst="roundRect">
            <a:avLst>
              <a:gd name="adj" fmla="val 4138"/>
            </a:avLst>
          </a:prstGeom>
          <a:solidFill>
            <a:schemeClr val="tx2"/>
          </a:solidFill>
          <a:ln w="12700">
            <a:solidFill>
              <a:srgbClr val="000057"/>
            </a:solidFill>
            <a:prstDash val="solid"/>
          </a:ln>
        </p:spPr>
      </p:sp>
      <p:sp>
        <p:nvSpPr>
          <p:cNvPr id="10" name="Pastille Interactive Server"/>
          <p:cNvSpPr/>
          <p:nvPr/>
        </p:nvSpPr>
        <p:spPr>
          <a:xfrm>
            <a:off x="3630168" y="173736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FFFF00"/>
          </a:solidFill>
          <a:ln w="12700">
            <a:solidFill>
              <a:srgbClr val="FFFF00">
                <a:alpha val="0"/>
              </a:srgbClr>
            </a:solidFill>
            <a:prstDash val="solid"/>
          </a:ln>
        </p:spPr>
      </p:sp>
      <p:pic>
        <p:nvPicPr>
          <p:cNvPr id="11" name="Icône Interactive Server" descr="Interactive Server">    </p:cNvPr>
          <p:cNvPicPr>
            <a:picLocks noChangeAspect="1"/>
          </p:cNvPicPr>
          <p:nvPr/>
        </p:nvPicPr>
        <p:blipFill>
          <a:blip r:embed="rId2"/>
          <a:stretch>
            <a:fillRect/>
          </a:stretch>
        </p:blipFill>
        <p:spPr>
          <a:xfrm>
            <a:off x="3877056" y="1920240"/>
            <a:ext cx="420624" cy="420624"/>
          </a:xfrm>
          <a:prstGeom prst="rect">
            <a:avLst/>
          </a:prstGeom>
        </p:spPr>
      </p:pic>
      <p:sp>
        <p:nvSpPr>
          <p:cNvPr id="12" name="Titre Interactive Server"/>
          <p:cNvSpPr txBox="1"/>
          <p:nvPr/>
        </p:nvSpPr>
        <p:spPr>
          <a:xfrm>
            <a:off x="3630168" y="2743200"/>
            <a:ext cx="2240280" cy="685800"/>
          </a:xfrm>
          <a:prstGeom prst="rect">
            <a:avLst/>
          </a:prstGeom>
          <a:noFill/>
          <a:ln/>
        </p:spPr>
        <p:txBody>
          <a:bodyPr wrap="square" lIns="0" tIns="0" rIns="0" bIns="0" rtlCol="0" anchor="t"/>
          <a:lstStyle/>
          <a:p>
            <a:pPr indent="0" marL="0">
              <a:buNone/>
            </a:pPr>
            <a:r>
              <a:rPr lang="en-US" sz="1800" b="1" dirty="0">
                <a:solidFill>
                  <a:schemeClr val="accent2"/>
                </a:solidFill>
              </a:rPr>
              <a:t>Interactive Server</a:t>
            </a:r>
            <a:endParaRPr lang="en-US" sz="1800" dirty="0"/>
          </a:p>
        </p:txBody>
      </p:sp>
      <p:sp>
        <p:nvSpPr>
          <p:cNvPr id="13" name="Fonctionnement Interactive Server"/>
          <p:cNvSpPr txBox="1"/>
          <p:nvPr/>
        </p:nvSpPr>
        <p:spPr>
          <a:xfrm>
            <a:off x="3630168" y="3474720"/>
            <a:ext cx="2194560" cy="1143000"/>
          </a:xfrm>
          <a:prstGeom prst="rect">
            <a:avLst/>
          </a:prstGeom>
          <a:noFill/>
          <a:ln/>
        </p:spPr>
        <p:txBody>
          <a:bodyPr wrap="square" lIns="0" tIns="0" rIns="0" bIns="0" rtlCol="0" anchor="t"/>
          <a:lstStyle/>
          <a:p>
            <a:pPr indent="0" marL="0">
              <a:buNone/>
            </a:pPr>
            <a:r>
              <a:rPr lang="en-US" sz="1400" dirty="0">
                <a:solidFill>
                  <a:schemeClr val="bg1"/>
                </a:solidFill>
              </a:rPr>
              <a:t>Le composant reste sur le serveur, l'écran suit par SignalR</a:t>
            </a:r>
            <a:endParaRPr lang="en-US" sz="1400" dirty="0"/>
          </a:p>
        </p:txBody>
      </p:sp>
      <p:sp>
        <p:nvSpPr>
          <p:cNvPr id="14" name="Usage Interactive Server"/>
          <p:cNvSpPr txBox="1"/>
          <p:nvPr/>
        </p:nvSpPr>
        <p:spPr>
          <a:xfrm>
            <a:off x="3630168" y="4709160"/>
            <a:ext cx="2194560" cy="1005840"/>
          </a:xfrm>
          <a:prstGeom prst="rect">
            <a:avLst/>
          </a:prstGeom>
          <a:noFill/>
          <a:ln/>
        </p:spPr>
        <p:txBody>
          <a:bodyPr wrap="square" lIns="0" tIns="0" rIns="0" bIns="0" rtlCol="0" anchor="t"/>
          <a:lstStyle/>
          <a:p>
            <a:pPr indent="0" marL="0">
              <a:buNone/>
            </a:pPr>
            <a:r>
              <a:rPr lang="en-US" sz="1400" i="1" dirty="0">
                <a:solidFill>
                  <a:schemeClr val="bg2"/>
                </a:solidFill>
              </a:rPr>
              <a:t>Nos applis métier, proches de la base</a:t>
            </a:r>
            <a:endParaRPr lang="en-US" sz="1400" dirty="0"/>
          </a:p>
        </p:txBody>
      </p:sp>
      <p:sp>
        <p:nvSpPr>
          <p:cNvPr id="15" name="Mode WebAssembly"/>
          <p:cNvSpPr/>
          <p:nvPr/>
        </p:nvSpPr>
        <p:spPr>
          <a:xfrm>
            <a:off x="6163056" y="1463040"/>
            <a:ext cx="2651760" cy="4434840"/>
          </a:xfrm>
          <a:prstGeom prst="roundRect">
            <a:avLst>
              <a:gd name="adj" fmla="val 4138"/>
            </a:avLst>
          </a:prstGeom>
          <a:solidFill>
            <a:schemeClr val="bg2"/>
          </a:solidFill>
          <a:ln w="12700">
            <a:solidFill>
              <a:srgbClr val="E1EAF1"/>
            </a:solidFill>
            <a:prstDash val="solid"/>
          </a:ln>
        </p:spPr>
      </p:sp>
      <p:sp>
        <p:nvSpPr>
          <p:cNvPr id="16" name="Pastille WebAssembly"/>
          <p:cNvSpPr/>
          <p:nvPr/>
        </p:nvSpPr>
        <p:spPr>
          <a:xfrm>
            <a:off x="6437376" y="173736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0057"/>
          </a:solidFill>
          <a:ln w="12700">
            <a:solidFill>
              <a:srgbClr val="000057">
                <a:alpha val="0"/>
              </a:srgbClr>
            </a:solidFill>
            <a:prstDash val="solid"/>
          </a:ln>
        </p:spPr>
      </p:sp>
      <p:pic>
        <p:nvPicPr>
          <p:cNvPr id="17" name="Icône WebAssembly" descr="WebAssembly">    </p:cNvPr>
          <p:cNvPicPr>
            <a:picLocks noChangeAspect="1"/>
          </p:cNvPicPr>
          <p:nvPr/>
        </p:nvPicPr>
        <p:blipFill>
          <a:blip r:embed="rId3"/>
          <a:stretch>
            <a:fillRect/>
          </a:stretch>
        </p:blipFill>
        <p:spPr>
          <a:xfrm>
            <a:off x="6684264" y="1920240"/>
            <a:ext cx="420624" cy="420624"/>
          </a:xfrm>
          <a:prstGeom prst="rect">
            <a:avLst/>
          </a:prstGeom>
        </p:spPr>
      </p:pic>
      <p:sp>
        <p:nvSpPr>
          <p:cNvPr id="18" name="Titre WebAssembly"/>
          <p:cNvSpPr txBox="1"/>
          <p:nvPr/>
        </p:nvSpPr>
        <p:spPr>
          <a:xfrm>
            <a:off x="6437376" y="2743200"/>
            <a:ext cx="2240280" cy="685800"/>
          </a:xfrm>
          <a:prstGeom prst="rect">
            <a:avLst/>
          </a:prstGeom>
          <a:noFill/>
          <a:ln/>
        </p:spPr>
        <p:txBody>
          <a:bodyPr wrap="square" lIns="0" tIns="0" rIns="0" bIns="0" rtlCol="0" anchor="t"/>
          <a:lstStyle/>
          <a:p>
            <a:pPr indent="0" marL="0">
              <a:buNone/>
            </a:pPr>
            <a:r>
              <a:rPr lang="en-US" sz="1800" b="1" dirty="0">
                <a:solidFill>
                  <a:schemeClr val="tx2"/>
                </a:solidFill>
              </a:rPr>
              <a:t>WebAssembly</a:t>
            </a:r>
            <a:endParaRPr lang="en-US" sz="1800" dirty="0"/>
          </a:p>
        </p:txBody>
      </p:sp>
      <p:sp>
        <p:nvSpPr>
          <p:cNvPr id="19" name="Fonctionnement WebAssembly"/>
          <p:cNvSpPr txBox="1"/>
          <p:nvPr/>
        </p:nvSpPr>
        <p:spPr>
          <a:xfrm>
            <a:off x="6437376" y="3474720"/>
            <a:ext cx="2194560" cy="1143000"/>
          </a:xfrm>
          <a:prstGeom prst="rect">
            <a:avLst/>
          </a:prstGeom>
          <a:noFill/>
          <a:ln/>
        </p:spPr>
        <p:txBody>
          <a:bodyPr wrap="square" lIns="0" tIns="0" rIns="0" bIns="0" rtlCol="0" anchor="t"/>
          <a:lstStyle/>
          <a:p>
            <a:pPr indent="0" marL="0">
              <a:buNone/>
            </a:pPr>
            <a:r>
              <a:rPr lang="en-US" sz="1400" dirty="0">
                <a:solidFill>
                  <a:schemeClr val="tx1"/>
                </a:solidFill>
              </a:rPr>
              <a:t>Le runtime .NET tourne dans le navigateur</a:t>
            </a:r>
            <a:endParaRPr lang="en-US" sz="1400" dirty="0"/>
          </a:p>
        </p:txBody>
      </p:sp>
      <p:sp>
        <p:nvSpPr>
          <p:cNvPr id="20" name="Usage WebAssembly"/>
          <p:cNvSpPr txBox="1"/>
          <p:nvPr/>
        </p:nvSpPr>
        <p:spPr>
          <a:xfrm>
            <a:off x="6437376" y="4709160"/>
            <a:ext cx="2194560" cy="1005840"/>
          </a:xfrm>
          <a:prstGeom prst="rect">
            <a:avLst/>
          </a:prstGeom>
          <a:noFill/>
          <a:ln/>
        </p:spPr>
        <p:txBody>
          <a:bodyPr wrap="square" lIns="0" tIns="0" rIns="0" bIns="0" rtlCol="0" anchor="t"/>
          <a:lstStyle/>
          <a:p>
            <a:pPr indent="0" marL="0">
              <a:buNone/>
            </a:pPr>
            <a:r>
              <a:rPr lang="en-US" sz="1400" i="1" dirty="0">
                <a:solidFill>
                  <a:schemeClr val="accent1"/>
                </a:solidFill>
              </a:rPr>
              <a:t>Hors ligne, calculs côté client</a:t>
            </a:r>
            <a:endParaRPr lang="en-US" sz="1400" dirty="0"/>
          </a:p>
        </p:txBody>
      </p:sp>
      <p:sp>
        <p:nvSpPr>
          <p:cNvPr id="21" name="Mode Auto"/>
          <p:cNvSpPr/>
          <p:nvPr/>
        </p:nvSpPr>
        <p:spPr>
          <a:xfrm>
            <a:off x="8970264" y="1463040"/>
            <a:ext cx="2651760" cy="4434840"/>
          </a:xfrm>
          <a:prstGeom prst="roundRect">
            <a:avLst>
              <a:gd name="adj" fmla="val 4138"/>
            </a:avLst>
          </a:prstGeom>
          <a:solidFill>
            <a:schemeClr val="bg2"/>
          </a:solidFill>
          <a:ln w="12700">
            <a:solidFill>
              <a:srgbClr val="E1EAF1"/>
            </a:solidFill>
            <a:prstDash val="solid"/>
          </a:ln>
        </p:spPr>
      </p:sp>
      <p:sp>
        <p:nvSpPr>
          <p:cNvPr id="22" name="Pastille Auto"/>
          <p:cNvSpPr/>
          <p:nvPr/>
        </p:nvSpPr>
        <p:spPr>
          <a:xfrm>
            <a:off x="9244584" y="173736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0057"/>
          </a:solidFill>
          <a:ln w="12700">
            <a:solidFill>
              <a:srgbClr val="000057">
                <a:alpha val="0"/>
              </a:srgbClr>
            </a:solidFill>
            <a:prstDash val="solid"/>
          </a:ln>
        </p:spPr>
      </p:sp>
      <p:pic>
        <p:nvPicPr>
          <p:cNvPr id="23" name="Icône Auto" descr="Auto">    </p:cNvPr>
          <p:cNvPicPr>
            <a:picLocks noChangeAspect="1"/>
          </p:cNvPicPr>
          <p:nvPr/>
        </p:nvPicPr>
        <p:blipFill>
          <a:blip r:embed="rId4"/>
          <a:stretch>
            <a:fillRect/>
          </a:stretch>
        </p:blipFill>
        <p:spPr>
          <a:xfrm>
            <a:off x="9491472" y="1920240"/>
            <a:ext cx="420624" cy="420624"/>
          </a:xfrm>
          <a:prstGeom prst="rect">
            <a:avLst/>
          </a:prstGeom>
        </p:spPr>
      </p:pic>
      <p:sp>
        <p:nvSpPr>
          <p:cNvPr id="24" name="Titre Auto"/>
          <p:cNvSpPr txBox="1"/>
          <p:nvPr/>
        </p:nvSpPr>
        <p:spPr>
          <a:xfrm>
            <a:off x="9244584" y="2743200"/>
            <a:ext cx="2240280" cy="685800"/>
          </a:xfrm>
          <a:prstGeom prst="rect">
            <a:avLst/>
          </a:prstGeom>
          <a:noFill/>
          <a:ln/>
        </p:spPr>
        <p:txBody>
          <a:bodyPr wrap="square" lIns="0" tIns="0" rIns="0" bIns="0" rtlCol="0" anchor="t"/>
          <a:lstStyle/>
          <a:p>
            <a:pPr indent="0" marL="0">
              <a:buNone/>
            </a:pPr>
            <a:r>
              <a:rPr lang="en-US" sz="1800" b="1" dirty="0">
                <a:solidFill>
                  <a:schemeClr val="tx2"/>
                </a:solidFill>
              </a:rPr>
              <a:t>Auto</a:t>
            </a:r>
            <a:endParaRPr lang="en-US" sz="1800" dirty="0"/>
          </a:p>
        </p:txBody>
      </p:sp>
      <p:sp>
        <p:nvSpPr>
          <p:cNvPr id="25" name="Fonctionnement Auto"/>
          <p:cNvSpPr txBox="1"/>
          <p:nvPr/>
        </p:nvSpPr>
        <p:spPr>
          <a:xfrm>
            <a:off x="9244584" y="3474720"/>
            <a:ext cx="2194560" cy="1143000"/>
          </a:xfrm>
          <a:prstGeom prst="rect">
            <a:avLst/>
          </a:prstGeom>
          <a:noFill/>
          <a:ln/>
        </p:spPr>
        <p:txBody>
          <a:bodyPr wrap="square" lIns="0" tIns="0" rIns="0" bIns="0" rtlCol="0" anchor="t"/>
          <a:lstStyle/>
          <a:p>
            <a:pPr indent="0" marL="0">
              <a:buNone/>
            </a:pPr>
            <a:r>
              <a:rPr lang="en-US" sz="1400" dirty="0">
                <a:solidFill>
                  <a:schemeClr val="tx1"/>
                </a:solidFill>
              </a:rPr>
              <a:t>Server à la première visite, WebAssembly ensuite</a:t>
            </a:r>
            <a:endParaRPr lang="en-US" sz="1400" dirty="0"/>
          </a:p>
        </p:txBody>
      </p:sp>
      <p:sp>
        <p:nvSpPr>
          <p:cNvPr id="26" name="Usage Auto"/>
          <p:cNvSpPr txBox="1"/>
          <p:nvPr/>
        </p:nvSpPr>
        <p:spPr>
          <a:xfrm>
            <a:off x="9244584" y="4709160"/>
            <a:ext cx="2194560" cy="1005840"/>
          </a:xfrm>
          <a:prstGeom prst="rect">
            <a:avLst/>
          </a:prstGeom>
          <a:noFill/>
          <a:ln/>
        </p:spPr>
        <p:txBody>
          <a:bodyPr wrap="square" lIns="0" tIns="0" rIns="0" bIns="0" rtlCol="0" anchor="t"/>
          <a:lstStyle/>
          <a:p>
            <a:pPr indent="0" marL="0">
              <a:buNone/>
            </a:pPr>
            <a:r>
              <a:rPr lang="en-US" sz="1400" i="1" dirty="0">
                <a:solidFill>
                  <a:schemeClr val="accent1"/>
                </a:solidFill>
              </a:rPr>
              <a:t>Le meilleur des deux, au prix de deux projets</a:t>
            </a:r>
            <a:endParaRPr lang="en-US" sz="14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Grand hexagone TP-04"/>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TP-04"/>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8000" b="1" dirty="0">
                <a:solidFill>
                  <a:schemeClr val="tx2"/>
                </a:solidFill>
              </a:rPr>
              <a:t>04</a:t>
            </a:r>
            <a:endParaRPr lang="en-US" sz="80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TP-04"/>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TP-04</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200" b="1" dirty="0">
                <a:solidFill>
                  <a:schemeClr val="bg1"/>
                </a:solidFill>
              </a:rPr>
              <a:t>Blazor : authentification, état et composants réutilisables</a:t>
            </a:r>
            <a:endParaRPr lang="en-US" sz="3200" dirty="0"/>
          </a:p>
        </p:txBody>
      </p:sp>
      <p:sp>
        <p:nvSpPr>
          <p:cNvPr id="9" name="Text 0"/>
          <p:cNvSpPr/>
          <p:nvPr>
            <p:ph idx="101" type="body" hasCustomPrompt="1"/>
          </p:nvPr>
        </p:nvSpPr>
        <p:spPr>
          <a:xfrm>
            <a:off x="4572000" y="4343400"/>
            <a:ext cx="6949440" cy="822960"/>
          </a:xfrm>
          <a:prstGeom prst="rect">
            <a:avLst/>
          </a:prstGeom>
          <a:noFill/>
          <a:ln/>
        </p:spPr>
        <p:txBody>
          <a:bodyPr wrap="square" lIns="0" tIns="0" rIns="0" bIns="0" rtlCol="0" anchor="t"/>
          <a:lstStyle/>
          <a:p>
            <a:pPr algn="l" indent="0" marL="0">
              <a:buNone/>
            </a:pPr>
            <a:r>
              <a:rPr lang="en-US" sz="1800" dirty="0">
                <a:solidFill>
                  <a:schemeClr val="bg2"/>
                </a:solidFill>
              </a:rPr>
              <a:t>Jeudi 22 octobre, matin · 7 exercices · 2 h 50</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TP-04 : sécuriser l'appli et la structurer</a:t>
            </a:r>
            <a:endParaRPr lang="en-US" sz="3000" dirty="0"/>
          </a:p>
        </p:txBody>
      </p:sp>
      <p:sp>
        <p:nvSpPr>
          <p:cNvPr id="3" name="Introduction"/>
          <p:cNvSpPr txBox="1"/>
          <p:nvPr/>
        </p:nvSpPr>
        <p:spPr>
          <a:xfrm>
            <a:off x="548640" y="1463040"/>
            <a:ext cx="4206240" cy="1920240"/>
          </a:xfrm>
          <a:prstGeom prst="rect">
            <a:avLst/>
          </a:prstGeom>
          <a:noFill/>
          <a:ln/>
        </p:spPr>
        <p:txBody>
          <a:bodyPr wrap="square" lIns="0" tIns="0" rIns="0" bIns="0" rtlCol="0" anchor="t"/>
          <a:lstStyle/>
          <a:p>
            <a:pPr indent="0" marL="0">
              <a:buNone/>
            </a:pPr>
            <a:r>
              <a:rPr lang="en-US" sz="1600" dirty="0">
                <a:solidFill>
                  <a:schemeClr val="tx2"/>
                </a:solidFill>
              </a:rPr>
              <a:t>L'API exige un jeton, le front connaît son utilisateur. On partage de l'état, on supprime le double chargement du prérendu et on extrait un composant testé avec bUnit.</a:t>
            </a:r>
            <a:endParaRPr lang="en-US" sz="1600" dirty="0"/>
          </a:p>
        </p:txBody>
      </p:sp>
      <p:sp>
        <p:nvSpPr>
          <p:cNvPr id="4" name="Intertitre"/>
          <p:cNvSpPr txBox="1"/>
          <p:nvPr/>
        </p:nvSpPr>
        <p:spPr>
          <a:xfrm>
            <a:off x="548640" y="3566160"/>
            <a:ext cx="4206240" cy="365760"/>
          </a:xfrm>
          <a:prstGeom prst="rect">
            <a:avLst/>
          </a:prstGeom>
          <a:noFill/>
          <a:ln/>
        </p:spPr>
        <p:txBody>
          <a:bodyPr wrap="square" lIns="0" tIns="0" rIns="0" bIns="0" rtlCol="0" anchor="t"/>
          <a:lstStyle/>
          <a:p>
            <a:pPr indent="0" marL="0">
              <a:buNone/>
            </a:pPr>
            <a:r>
              <a:rPr lang="en-US" sz="1600" b="1" dirty="0">
                <a:solidFill>
                  <a:schemeClr val="accent1"/>
                </a:solidFill>
              </a:rPr>
              <a:t>À retenir</a:t>
            </a:r>
            <a:endParaRPr lang="en-US" sz="1600" dirty="0"/>
          </a:p>
        </p:txBody>
      </p:sp>
      <p:sp>
        <p:nvSpPr>
          <p:cNvPr id="5" name="Points clés"/>
          <p:cNvSpPr txBox="1"/>
          <p:nvPr/>
        </p:nvSpPr>
        <p:spPr>
          <a:xfrm>
            <a:off x="548640" y="3977640"/>
            <a:ext cx="42062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JWT, policies, AuthorizeView</a:t>
            </a:r>
            <a:endParaRPr lang="en-US" sz="1500" dirty="0"/>
          </a:p>
          <a:p>
            <a:pPr marL="342900" indent="-342900">
              <a:spcAft>
                <a:spcPts val="800"/>
              </a:spcAft>
              <a:buSzPct val="100000"/>
              <a:buChar char="•"/>
            </a:pPr>
            <a:r>
              <a:rPr lang="en-US" sz="1500" dirty="0">
                <a:solidFill>
                  <a:schemeClr val="tx1"/>
                </a:solidFill>
              </a:rPr>
              <a:t>État partagé et [PersistentState]</a:t>
            </a:r>
            <a:endParaRPr lang="en-US" sz="1500" dirty="0"/>
          </a:p>
          <a:p>
            <a:pPr marL="342900" indent="-342900">
              <a:spcAft>
                <a:spcPts val="800"/>
              </a:spcAft>
              <a:buSzPct val="100000"/>
              <a:buChar char="•"/>
            </a:pPr>
            <a:r>
              <a:rPr lang="en-US" sz="1500" dirty="0">
                <a:solidFill>
                  <a:schemeClr val="tx1"/>
                </a:solidFill>
              </a:rPr>
              <a:t>Razor Class Library et bUnit</a:t>
            </a:r>
            <a:endParaRPr lang="en-US" sz="1500" dirty="0"/>
          </a:p>
        </p:txBody>
      </p:sp>
      <p:graphicFrame>
        <p:nvGraphicFramePr>
          <p:cNvPr id="6" name="Durées TP-04" descr="Durée des exercices du TP-04"/>
          <p:cNvGraphicFramePr/>
          <p:nvPr/>
        </p:nvGraphicFramePr>
        <p:xfrm>
          <a:off x="5120640" y="1371600"/>
          <a:ext cx="653796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Qui parle à qui, et avec quelle preuve</a:t>
            </a:r>
            <a:endParaRPr lang="en-US" sz="3000" dirty="0"/>
          </a:p>
        </p:txBody>
      </p:sp>
      <p:sp>
        <p:nvSpPr>
          <p:cNvPr id="3" name="Bloc Navigateur"/>
          <p:cNvSpPr/>
          <p:nvPr/>
        </p:nvSpPr>
        <p:spPr>
          <a:xfrm>
            <a:off x="548640" y="1463040"/>
            <a:ext cx="2743200" cy="2194560"/>
          </a:xfrm>
          <a:prstGeom prst="roundRect">
            <a:avLst>
              <a:gd name="adj" fmla="val 5000"/>
            </a:avLst>
          </a:prstGeom>
          <a:solidFill>
            <a:schemeClr val="tx2"/>
          </a:solidFill>
          <a:ln w="12700">
            <a:solidFill>
              <a:srgbClr val="000057"/>
            </a:solidFill>
            <a:prstDash val="solid"/>
          </a:ln>
        </p:spPr>
      </p:sp>
      <p:pic>
        <p:nvPicPr>
          <p:cNvPr id="4" name="Icône Navigateur" descr="Navigateur">    </p:cNvPr>
          <p:cNvPicPr>
            <a:picLocks noChangeAspect="1"/>
          </p:cNvPicPr>
          <p:nvPr/>
        </p:nvPicPr>
        <p:blipFill>
          <a:blip r:embed="rId1"/>
          <a:stretch>
            <a:fillRect/>
          </a:stretch>
        </p:blipFill>
        <p:spPr>
          <a:xfrm>
            <a:off x="822960" y="1737360"/>
            <a:ext cx="502920" cy="502920"/>
          </a:xfrm>
          <a:prstGeom prst="rect">
            <a:avLst/>
          </a:prstGeom>
        </p:spPr>
      </p:pic>
      <p:sp>
        <p:nvSpPr>
          <p:cNvPr id="5" name="Titre Navigateur"/>
          <p:cNvSpPr txBox="1"/>
          <p:nvPr/>
        </p:nvSpPr>
        <p:spPr>
          <a:xfrm>
            <a:off x="822960" y="2377440"/>
            <a:ext cx="2286000" cy="411480"/>
          </a:xfrm>
          <a:prstGeom prst="rect">
            <a:avLst/>
          </a:prstGeom>
          <a:noFill/>
          <a:ln/>
        </p:spPr>
        <p:txBody>
          <a:bodyPr wrap="square" lIns="0" tIns="0" rIns="0" bIns="0" rtlCol="0" anchor="t"/>
          <a:lstStyle/>
          <a:p>
            <a:pPr indent="0" marL="0">
              <a:buNone/>
            </a:pPr>
            <a:r>
              <a:rPr lang="en-US" sz="1800" b="1" dirty="0">
                <a:solidFill>
                  <a:schemeClr val="bg1"/>
                </a:solidFill>
              </a:rPr>
              <a:t>Navigateur</a:t>
            </a:r>
            <a:endParaRPr lang="en-US" sz="1800" dirty="0"/>
          </a:p>
        </p:txBody>
      </p:sp>
      <p:sp>
        <p:nvSpPr>
          <p:cNvPr id="6" name="Détail Navigateur"/>
          <p:cNvSpPr txBox="1"/>
          <p:nvPr/>
        </p:nvSpPr>
        <p:spPr>
          <a:xfrm>
            <a:off x="822960" y="2788920"/>
            <a:ext cx="2286000" cy="777240"/>
          </a:xfrm>
          <a:prstGeom prst="rect">
            <a:avLst/>
          </a:prstGeom>
          <a:noFill/>
          <a:ln/>
        </p:spPr>
        <p:txBody>
          <a:bodyPr wrap="square" lIns="0" tIns="0" rIns="0" bIns="0" rtlCol="0" anchor="t"/>
          <a:lstStyle/>
          <a:p>
            <a:pPr indent="0" marL="0">
              <a:buNone/>
            </a:pPr>
            <a:r>
              <a:rPr lang="en-US" sz="1400" dirty="0">
                <a:solidFill>
                  <a:schemeClr val="bg2"/>
                </a:solidFill>
              </a:rPr>
              <a:t>alice ou admin ; un cookie après la connexion</a:t>
            </a:r>
            <a:endParaRPr lang="en-US" sz="1400" dirty="0"/>
          </a:p>
        </p:txBody>
      </p:sp>
      <p:sp>
        <p:nvSpPr>
          <p:cNvPr id="7" name="Lien cookie"/>
          <p:cNvSpPr/>
          <p:nvPr/>
        </p:nvSpPr>
        <p:spPr>
          <a:xfrm>
            <a:off x="3575304" y="2011680"/>
            <a:ext cx="868680" cy="752299"/>
          </a:xfrm>
          <a:custGeom>
            <a:avLst/>
            <a:gdLst/>
            <a:ahLst/>
            <a:cxnLst/>
            <a:rect l="l" t="t" r="r" b="b"/>
            <a:pathLst>
              <a:path w="868680" h="752299">
                <a:moveTo>
                  <a:pt x="0" y="376149"/>
                </a:moveTo>
                <a:lnTo>
                  <a:pt x="217170" y="0"/>
                </a:lnTo>
                <a:lnTo>
                  <a:pt x="651510" y="0"/>
                </a:lnTo>
                <a:lnTo>
                  <a:pt x="868680" y="376149"/>
                </a:lnTo>
                <a:lnTo>
                  <a:pt x="651510" y="752299"/>
                </a:lnTo>
                <a:lnTo>
                  <a:pt x="217170" y="752299"/>
                </a:lnTo>
                <a:close/>
              </a:path>
            </a:pathLst>
          </a:custGeom>
          <a:solidFill>
            <a:srgbClr val="FFFF00"/>
          </a:solidFill>
          <a:ln w="12700">
            <a:solidFill>
              <a:srgbClr val="FFFF00">
                <a:alpha val="0"/>
              </a:srgbClr>
            </a:solidFill>
            <a:prstDash val="solid"/>
          </a:ln>
        </p:spPr>
      </p:sp>
      <p:pic>
        <p:nvPicPr>
          <p:cNvPr id="8" name="Icône cookie" descr="cookie">    </p:cNvPr>
          <p:cNvPicPr>
            <a:picLocks noChangeAspect="1"/>
          </p:cNvPicPr>
          <p:nvPr/>
        </p:nvPicPr>
        <p:blipFill>
          <a:blip r:embed="rId2"/>
          <a:stretch>
            <a:fillRect/>
          </a:stretch>
        </p:blipFill>
        <p:spPr>
          <a:xfrm>
            <a:off x="3813048" y="2176272"/>
            <a:ext cx="393192" cy="393192"/>
          </a:xfrm>
          <a:prstGeom prst="rect">
            <a:avLst/>
          </a:prstGeom>
        </p:spPr>
      </p:pic>
      <p:sp>
        <p:nvSpPr>
          <p:cNvPr id="9" name="Libellé cookie"/>
          <p:cNvSpPr txBox="1"/>
          <p:nvPr/>
        </p:nvSpPr>
        <p:spPr>
          <a:xfrm>
            <a:off x="3337560" y="2852928"/>
            <a:ext cx="1371600" cy="365760"/>
          </a:xfrm>
          <a:prstGeom prst="rect">
            <a:avLst/>
          </a:prstGeom>
          <a:noFill/>
          <a:ln/>
        </p:spPr>
        <p:txBody>
          <a:bodyPr wrap="square" lIns="0" tIns="0" rIns="0" bIns="0" rtlCol="0" anchor="t"/>
          <a:lstStyle/>
          <a:p>
            <a:pPr algn="ctr" indent="0" marL="0">
              <a:buNone/>
            </a:pPr>
            <a:r>
              <a:rPr lang="en-US" sz="1400" b="1" dirty="0">
                <a:solidFill>
                  <a:schemeClr val="tx2"/>
                </a:solidFill>
              </a:rPr>
              <a:t>cookie</a:t>
            </a:r>
            <a:endParaRPr lang="en-US" sz="1400" dirty="0"/>
          </a:p>
        </p:txBody>
      </p:sp>
      <p:sp>
        <p:nvSpPr>
          <p:cNvPr id="10" name="Bloc Tickets.Web"/>
          <p:cNvSpPr/>
          <p:nvPr/>
        </p:nvSpPr>
        <p:spPr>
          <a:xfrm>
            <a:off x="4732020" y="1463040"/>
            <a:ext cx="2743200" cy="2194560"/>
          </a:xfrm>
          <a:prstGeom prst="roundRect">
            <a:avLst>
              <a:gd name="adj" fmla="val 5000"/>
            </a:avLst>
          </a:prstGeom>
          <a:solidFill>
            <a:schemeClr val="tx2"/>
          </a:solidFill>
          <a:ln w="12700">
            <a:solidFill>
              <a:srgbClr val="000057"/>
            </a:solidFill>
            <a:prstDash val="solid"/>
          </a:ln>
        </p:spPr>
      </p:sp>
      <p:pic>
        <p:nvPicPr>
          <p:cNvPr id="11" name="Icône Tickets.Web" descr="Tickets.Web">    </p:cNvPr>
          <p:cNvPicPr>
            <a:picLocks noChangeAspect="1"/>
          </p:cNvPicPr>
          <p:nvPr/>
        </p:nvPicPr>
        <p:blipFill>
          <a:blip r:embed="rId3"/>
          <a:stretch>
            <a:fillRect/>
          </a:stretch>
        </p:blipFill>
        <p:spPr>
          <a:xfrm>
            <a:off x="5006340" y="1737360"/>
            <a:ext cx="502920" cy="502920"/>
          </a:xfrm>
          <a:prstGeom prst="rect">
            <a:avLst/>
          </a:prstGeom>
        </p:spPr>
      </p:pic>
      <p:sp>
        <p:nvSpPr>
          <p:cNvPr id="12" name="Titre Tickets.Web"/>
          <p:cNvSpPr txBox="1"/>
          <p:nvPr/>
        </p:nvSpPr>
        <p:spPr>
          <a:xfrm>
            <a:off x="5006340" y="2377440"/>
            <a:ext cx="2286000" cy="411480"/>
          </a:xfrm>
          <a:prstGeom prst="rect">
            <a:avLst/>
          </a:prstGeom>
          <a:noFill/>
          <a:ln/>
        </p:spPr>
        <p:txBody>
          <a:bodyPr wrap="square" lIns="0" tIns="0" rIns="0" bIns="0" rtlCol="0" anchor="t"/>
          <a:lstStyle/>
          <a:p>
            <a:pPr indent="0" marL="0">
              <a:buNone/>
            </a:pPr>
            <a:r>
              <a:rPr lang="en-US" sz="1800" b="1" dirty="0">
                <a:solidFill>
                  <a:schemeClr val="bg1"/>
                </a:solidFill>
              </a:rPr>
              <a:t>Tickets.Web</a:t>
            </a:r>
            <a:endParaRPr lang="en-US" sz="1800" dirty="0"/>
          </a:p>
        </p:txBody>
      </p:sp>
      <p:sp>
        <p:nvSpPr>
          <p:cNvPr id="13" name="Détail Tickets.Web"/>
          <p:cNvSpPr txBox="1"/>
          <p:nvPr/>
        </p:nvSpPr>
        <p:spPr>
          <a:xfrm>
            <a:off x="5006340" y="2788920"/>
            <a:ext cx="2286000" cy="777240"/>
          </a:xfrm>
          <a:prstGeom prst="rect">
            <a:avLst/>
          </a:prstGeom>
          <a:noFill/>
          <a:ln/>
        </p:spPr>
        <p:txBody>
          <a:bodyPr wrap="square" lIns="0" tIns="0" rIns="0" bIns="0" rtlCol="0" anchor="t"/>
          <a:lstStyle/>
          <a:p>
            <a:pPr indent="0" marL="0">
              <a:buNone/>
            </a:pPr>
            <a:r>
              <a:rPr lang="en-US" sz="1400" dirty="0">
                <a:solidFill>
                  <a:schemeClr val="bg2"/>
                </a:solidFill>
              </a:rPr>
              <a:t>AuthorizeView, [Authorize] ; un jeton de service vers l'API</a:t>
            </a:r>
            <a:endParaRPr lang="en-US" sz="1400" dirty="0"/>
          </a:p>
        </p:txBody>
      </p:sp>
      <p:sp>
        <p:nvSpPr>
          <p:cNvPr id="14" name="Lien jeton JWT"/>
          <p:cNvSpPr/>
          <p:nvPr/>
        </p:nvSpPr>
        <p:spPr>
          <a:xfrm>
            <a:off x="7758684" y="2011680"/>
            <a:ext cx="868680" cy="752299"/>
          </a:xfrm>
          <a:custGeom>
            <a:avLst/>
            <a:gdLst/>
            <a:ahLst/>
            <a:cxnLst/>
            <a:rect l="l" t="t" r="r" b="b"/>
            <a:pathLst>
              <a:path w="868680" h="752299">
                <a:moveTo>
                  <a:pt x="0" y="376149"/>
                </a:moveTo>
                <a:lnTo>
                  <a:pt x="217170" y="0"/>
                </a:lnTo>
                <a:lnTo>
                  <a:pt x="651510" y="0"/>
                </a:lnTo>
                <a:lnTo>
                  <a:pt x="868680" y="376149"/>
                </a:lnTo>
                <a:lnTo>
                  <a:pt x="651510" y="752299"/>
                </a:lnTo>
                <a:lnTo>
                  <a:pt x="217170" y="752299"/>
                </a:lnTo>
                <a:close/>
              </a:path>
            </a:pathLst>
          </a:custGeom>
          <a:solidFill>
            <a:srgbClr val="FFFF00"/>
          </a:solidFill>
          <a:ln w="12700">
            <a:solidFill>
              <a:srgbClr val="FFFF00">
                <a:alpha val="0"/>
              </a:srgbClr>
            </a:solidFill>
            <a:prstDash val="solid"/>
          </a:ln>
        </p:spPr>
      </p:sp>
      <p:pic>
        <p:nvPicPr>
          <p:cNvPr id="15" name="Icône jeton JWT" descr="jeton JWT">    </p:cNvPr>
          <p:cNvPicPr>
            <a:picLocks noChangeAspect="1"/>
          </p:cNvPicPr>
          <p:nvPr/>
        </p:nvPicPr>
        <p:blipFill>
          <a:blip r:embed="rId4"/>
          <a:stretch>
            <a:fillRect/>
          </a:stretch>
        </p:blipFill>
        <p:spPr>
          <a:xfrm>
            <a:off x="7996428" y="2176272"/>
            <a:ext cx="393192" cy="393192"/>
          </a:xfrm>
          <a:prstGeom prst="rect">
            <a:avLst/>
          </a:prstGeom>
        </p:spPr>
      </p:pic>
      <p:sp>
        <p:nvSpPr>
          <p:cNvPr id="16" name="Libellé jeton JWT"/>
          <p:cNvSpPr txBox="1"/>
          <p:nvPr/>
        </p:nvSpPr>
        <p:spPr>
          <a:xfrm>
            <a:off x="7520940" y="2852928"/>
            <a:ext cx="1371600" cy="365760"/>
          </a:xfrm>
          <a:prstGeom prst="rect">
            <a:avLst/>
          </a:prstGeom>
          <a:noFill/>
          <a:ln/>
        </p:spPr>
        <p:txBody>
          <a:bodyPr wrap="square" lIns="0" tIns="0" rIns="0" bIns="0" rtlCol="0" anchor="t"/>
          <a:lstStyle/>
          <a:p>
            <a:pPr algn="ctr" indent="0" marL="0">
              <a:buNone/>
            </a:pPr>
            <a:r>
              <a:rPr lang="en-US" sz="1400" b="1" dirty="0">
                <a:solidFill>
                  <a:schemeClr val="tx2"/>
                </a:solidFill>
              </a:rPr>
              <a:t>jeton JWT</a:t>
            </a:r>
            <a:endParaRPr lang="en-US" sz="1400" dirty="0"/>
          </a:p>
        </p:txBody>
      </p:sp>
      <p:sp>
        <p:nvSpPr>
          <p:cNvPr id="17" name="Bloc Tickets.Api"/>
          <p:cNvSpPr/>
          <p:nvPr/>
        </p:nvSpPr>
        <p:spPr>
          <a:xfrm>
            <a:off x="8915400" y="1463040"/>
            <a:ext cx="2743200" cy="2194560"/>
          </a:xfrm>
          <a:prstGeom prst="roundRect">
            <a:avLst>
              <a:gd name="adj" fmla="val 5000"/>
            </a:avLst>
          </a:prstGeom>
          <a:solidFill>
            <a:schemeClr val="tx2"/>
          </a:solidFill>
          <a:ln w="12700">
            <a:solidFill>
              <a:srgbClr val="000057"/>
            </a:solidFill>
            <a:prstDash val="solid"/>
          </a:ln>
        </p:spPr>
      </p:sp>
      <p:pic>
        <p:nvPicPr>
          <p:cNvPr id="18" name="Icône Tickets.Api" descr="Tickets.Api">    </p:cNvPr>
          <p:cNvPicPr>
            <a:picLocks noChangeAspect="1"/>
          </p:cNvPicPr>
          <p:nvPr/>
        </p:nvPicPr>
        <p:blipFill>
          <a:blip r:embed="rId5"/>
          <a:stretch>
            <a:fillRect/>
          </a:stretch>
        </p:blipFill>
        <p:spPr>
          <a:xfrm>
            <a:off x="9189720" y="1737360"/>
            <a:ext cx="502920" cy="502920"/>
          </a:xfrm>
          <a:prstGeom prst="rect">
            <a:avLst/>
          </a:prstGeom>
        </p:spPr>
      </p:pic>
      <p:sp>
        <p:nvSpPr>
          <p:cNvPr id="19" name="Titre Tickets.Api"/>
          <p:cNvSpPr txBox="1"/>
          <p:nvPr/>
        </p:nvSpPr>
        <p:spPr>
          <a:xfrm>
            <a:off x="9189720" y="2377440"/>
            <a:ext cx="2286000" cy="411480"/>
          </a:xfrm>
          <a:prstGeom prst="rect">
            <a:avLst/>
          </a:prstGeom>
          <a:noFill/>
          <a:ln/>
        </p:spPr>
        <p:txBody>
          <a:bodyPr wrap="square" lIns="0" tIns="0" rIns="0" bIns="0" rtlCol="0" anchor="t"/>
          <a:lstStyle/>
          <a:p>
            <a:pPr indent="0" marL="0">
              <a:buNone/>
            </a:pPr>
            <a:r>
              <a:rPr lang="en-US" sz="1800" b="1" dirty="0">
                <a:solidFill>
                  <a:schemeClr val="bg1"/>
                </a:solidFill>
              </a:rPr>
              <a:t>Tickets.Api</a:t>
            </a:r>
            <a:endParaRPr lang="en-US" sz="1800" dirty="0"/>
          </a:p>
        </p:txBody>
      </p:sp>
      <p:sp>
        <p:nvSpPr>
          <p:cNvPr id="20" name="Détail Tickets.Api"/>
          <p:cNvSpPr txBox="1"/>
          <p:nvPr/>
        </p:nvSpPr>
        <p:spPr>
          <a:xfrm>
            <a:off x="9189720" y="2788920"/>
            <a:ext cx="2286000" cy="777240"/>
          </a:xfrm>
          <a:prstGeom prst="rect">
            <a:avLst/>
          </a:prstGeom>
          <a:noFill/>
          <a:ln/>
        </p:spPr>
        <p:txBody>
          <a:bodyPr wrap="square" lIns="0" tIns="0" rIns="0" bIns="0" rtlCol="0" anchor="t"/>
          <a:lstStyle/>
          <a:p>
            <a:pPr indent="0" marL="0">
              <a:buNone/>
            </a:pPr>
            <a:r>
              <a:rPr lang="en-US" sz="1400" dirty="0">
                <a:solidFill>
                  <a:schemeClr val="bg2"/>
                </a:solidFill>
              </a:rPr>
              <a:t>JWT Bearer, policy « admin » sur DELETE</a:t>
            </a:r>
            <a:endParaRPr lang="en-US" sz="1400" dirty="0"/>
          </a:p>
        </p:txBody>
      </p:sp>
      <p:sp>
        <p:nvSpPr>
          <p:cNvPr id="21" name="Pastille État partagé"/>
          <p:cNvSpPr/>
          <p:nvPr/>
        </p:nvSpPr>
        <p:spPr>
          <a:xfrm>
            <a:off x="548640" y="4206240"/>
            <a:ext cx="1005840" cy="871083"/>
          </a:xfrm>
          <a:custGeom>
            <a:avLst/>
            <a:gdLst/>
            <a:ahLst/>
            <a:cxnLst/>
            <a:rect l="l" t="t" r="r" b="b"/>
            <a:pathLst>
              <a:path w="1005840" h="871083">
                <a:moveTo>
                  <a:pt x="0" y="435541"/>
                </a:moveTo>
                <a:lnTo>
                  <a:pt x="251460" y="0"/>
                </a:lnTo>
                <a:lnTo>
                  <a:pt x="754380" y="0"/>
                </a:lnTo>
                <a:lnTo>
                  <a:pt x="1005840" y="435541"/>
                </a:lnTo>
                <a:lnTo>
                  <a:pt x="754380" y="871083"/>
                </a:lnTo>
                <a:lnTo>
                  <a:pt x="251460" y="871083"/>
                </a:lnTo>
                <a:close/>
              </a:path>
            </a:pathLst>
          </a:custGeom>
          <a:solidFill>
            <a:srgbClr val="0040FF"/>
          </a:solidFill>
          <a:ln w="12700">
            <a:solidFill>
              <a:srgbClr val="0040FF">
                <a:alpha val="0"/>
              </a:srgbClr>
            </a:solidFill>
            <a:prstDash val="solid"/>
          </a:ln>
        </p:spPr>
      </p:sp>
      <p:pic>
        <p:nvPicPr>
          <p:cNvPr id="22" name="Icône État partagé" descr="État partagé">    </p:cNvPr>
          <p:cNvPicPr>
            <a:picLocks noChangeAspect="1"/>
          </p:cNvPicPr>
          <p:nvPr/>
        </p:nvPicPr>
        <p:blipFill>
          <a:blip r:embed="rId6"/>
          <a:stretch>
            <a:fillRect/>
          </a:stretch>
        </p:blipFill>
        <p:spPr>
          <a:xfrm>
            <a:off x="822960" y="4407408"/>
            <a:ext cx="457200" cy="457200"/>
          </a:xfrm>
          <a:prstGeom prst="rect">
            <a:avLst/>
          </a:prstGeom>
        </p:spPr>
      </p:pic>
      <p:sp>
        <p:nvSpPr>
          <p:cNvPr id="23" name="Titre État partagé"/>
          <p:cNvSpPr txBox="1"/>
          <p:nvPr/>
        </p:nvSpPr>
        <p:spPr>
          <a:xfrm>
            <a:off x="1737360" y="4224528"/>
            <a:ext cx="2423160" cy="365760"/>
          </a:xfrm>
          <a:prstGeom prst="rect">
            <a:avLst/>
          </a:prstGeom>
          <a:noFill/>
          <a:ln/>
        </p:spPr>
        <p:txBody>
          <a:bodyPr wrap="square" lIns="0" tIns="0" rIns="0" bIns="0" rtlCol="0" anchor="t"/>
          <a:lstStyle/>
          <a:p>
            <a:pPr indent="0" marL="0">
              <a:buNone/>
            </a:pPr>
            <a:r>
              <a:rPr lang="en-US" sz="1600" b="1" dirty="0">
                <a:solidFill>
                  <a:schemeClr val="tx2"/>
                </a:solidFill>
              </a:rPr>
              <a:t>État partagé</a:t>
            </a:r>
            <a:endParaRPr lang="en-US" sz="1600" dirty="0"/>
          </a:p>
        </p:txBody>
      </p:sp>
      <p:sp>
        <p:nvSpPr>
          <p:cNvPr id="24" name="Détail État partagé"/>
          <p:cNvSpPr txBox="1"/>
          <p:nvPr/>
        </p:nvSpPr>
        <p:spPr>
          <a:xfrm>
            <a:off x="1737360" y="4617720"/>
            <a:ext cx="2423160" cy="822960"/>
          </a:xfrm>
          <a:prstGeom prst="rect">
            <a:avLst/>
          </a:prstGeom>
          <a:noFill/>
          <a:ln/>
        </p:spPr>
        <p:txBody>
          <a:bodyPr wrap="square" lIns="0" tIns="0" rIns="0" bIns="0" rtlCol="0" anchor="t"/>
          <a:lstStyle/>
          <a:p>
            <a:pPr indent="0" marL="0">
              <a:buNone/>
            </a:pPr>
            <a:r>
              <a:rPr lang="en-US" sz="1400" dirty="0">
                <a:solidFill>
                  <a:schemeClr val="tx1"/>
                </a:solidFill>
              </a:rPr>
              <a:t>un service scoped et une valeur en cascade</a:t>
            </a:r>
            <a:endParaRPr lang="en-US" sz="1400" dirty="0"/>
          </a:p>
        </p:txBody>
      </p:sp>
      <p:sp>
        <p:nvSpPr>
          <p:cNvPr id="25" name="Pastille [PersistentState]"/>
          <p:cNvSpPr/>
          <p:nvPr/>
        </p:nvSpPr>
        <p:spPr>
          <a:xfrm>
            <a:off x="4297680" y="4206240"/>
            <a:ext cx="1005840" cy="871083"/>
          </a:xfrm>
          <a:custGeom>
            <a:avLst/>
            <a:gdLst/>
            <a:ahLst/>
            <a:cxnLst/>
            <a:rect l="l" t="t" r="r" b="b"/>
            <a:pathLst>
              <a:path w="1005840" h="871083">
                <a:moveTo>
                  <a:pt x="0" y="435541"/>
                </a:moveTo>
                <a:lnTo>
                  <a:pt x="251460" y="0"/>
                </a:lnTo>
                <a:lnTo>
                  <a:pt x="754380" y="0"/>
                </a:lnTo>
                <a:lnTo>
                  <a:pt x="1005840" y="435541"/>
                </a:lnTo>
                <a:lnTo>
                  <a:pt x="754380" y="871083"/>
                </a:lnTo>
                <a:lnTo>
                  <a:pt x="251460" y="871083"/>
                </a:lnTo>
                <a:close/>
              </a:path>
            </a:pathLst>
          </a:custGeom>
          <a:solidFill>
            <a:srgbClr val="0040FF"/>
          </a:solidFill>
          <a:ln w="12700">
            <a:solidFill>
              <a:srgbClr val="0040FF">
                <a:alpha val="0"/>
              </a:srgbClr>
            </a:solidFill>
            <a:prstDash val="solid"/>
          </a:ln>
        </p:spPr>
      </p:sp>
      <p:pic>
        <p:nvPicPr>
          <p:cNvPr id="26" name="Icône [PersistentState]" descr="[PersistentState]">    </p:cNvPr>
          <p:cNvPicPr>
            <a:picLocks noChangeAspect="1"/>
          </p:cNvPicPr>
          <p:nvPr/>
        </p:nvPicPr>
        <p:blipFill>
          <a:blip r:embed="rId7"/>
          <a:stretch>
            <a:fillRect/>
          </a:stretch>
        </p:blipFill>
        <p:spPr>
          <a:xfrm>
            <a:off x="4572000" y="4407408"/>
            <a:ext cx="457200" cy="457200"/>
          </a:xfrm>
          <a:prstGeom prst="rect">
            <a:avLst/>
          </a:prstGeom>
        </p:spPr>
      </p:pic>
      <p:sp>
        <p:nvSpPr>
          <p:cNvPr id="27" name="Titre [PersistentState]"/>
          <p:cNvSpPr txBox="1"/>
          <p:nvPr/>
        </p:nvSpPr>
        <p:spPr>
          <a:xfrm>
            <a:off x="5486400" y="4224528"/>
            <a:ext cx="2423160" cy="365760"/>
          </a:xfrm>
          <a:prstGeom prst="rect">
            <a:avLst/>
          </a:prstGeom>
          <a:noFill/>
          <a:ln/>
        </p:spPr>
        <p:txBody>
          <a:bodyPr wrap="square" lIns="0" tIns="0" rIns="0" bIns="0" rtlCol="0" anchor="t"/>
          <a:lstStyle/>
          <a:p>
            <a:pPr indent="0" marL="0">
              <a:buNone/>
            </a:pPr>
            <a:r>
              <a:rPr lang="en-US" sz="1600" b="1" dirty="0">
                <a:solidFill>
                  <a:schemeClr val="tx2"/>
                </a:solidFill>
              </a:rPr>
              <a:t>[PersistentState]</a:t>
            </a:r>
            <a:endParaRPr lang="en-US" sz="1600" dirty="0"/>
          </a:p>
        </p:txBody>
      </p:sp>
      <p:sp>
        <p:nvSpPr>
          <p:cNvPr id="28" name="Détail [PersistentState]"/>
          <p:cNvSpPr txBox="1"/>
          <p:nvPr/>
        </p:nvSpPr>
        <p:spPr>
          <a:xfrm>
            <a:off x="5486400" y="4617720"/>
            <a:ext cx="2423160" cy="822960"/>
          </a:xfrm>
          <a:prstGeom prst="rect">
            <a:avLst/>
          </a:prstGeom>
          <a:noFill/>
          <a:ln/>
        </p:spPr>
        <p:txBody>
          <a:bodyPr wrap="square" lIns="0" tIns="0" rIns="0" bIns="0" rtlCol="0" anchor="t"/>
          <a:lstStyle/>
          <a:p>
            <a:pPr indent="0" marL="0">
              <a:buNone/>
            </a:pPr>
            <a:r>
              <a:rPr lang="en-US" sz="1400" dirty="0">
                <a:solidFill>
                  <a:schemeClr val="tx1"/>
                </a:solidFill>
              </a:rPr>
              <a:t>un seul appel à l'API malgré le prérendu</a:t>
            </a:r>
            <a:endParaRPr lang="en-US" sz="1400" dirty="0"/>
          </a:p>
        </p:txBody>
      </p:sp>
      <p:sp>
        <p:nvSpPr>
          <p:cNvPr id="29" name="Pastille Bibliothèque + bUnit"/>
          <p:cNvSpPr/>
          <p:nvPr/>
        </p:nvSpPr>
        <p:spPr>
          <a:xfrm>
            <a:off x="8046720" y="4206240"/>
            <a:ext cx="1005840" cy="871083"/>
          </a:xfrm>
          <a:custGeom>
            <a:avLst/>
            <a:gdLst/>
            <a:ahLst/>
            <a:cxnLst/>
            <a:rect l="l" t="t" r="r" b="b"/>
            <a:pathLst>
              <a:path w="1005840" h="871083">
                <a:moveTo>
                  <a:pt x="0" y="435541"/>
                </a:moveTo>
                <a:lnTo>
                  <a:pt x="251460" y="0"/>
                </a:lnTo>
                <a:lnTo>
                  <a:pt x="754380" y="0"/>
                </a:lnTo>
                <a:lnTo>
                  <a:pt x="1005840" y="435541"/>
                </a:lnTo>
                <a:lnTo>
                  <a:pt x="754380" y="871083"/>
                </a:lnTo>
                <a:lnTo>
                  <a:pt x="251460" y="871083"/>
                </a:lnTo>
                <a:close/>
              </a:path>
            </a:pathLst>
          </a:custGeom>
          <a:solidFill>
            <a:srgbClr val="0040FF"/>
          </a:solidFill>
          <a:ln w="12700">
            <a:solidFill>
              <a:srgbClr val="0040FF">
                <a:alpha val="0"/>
              </a:srgbClr>
            </a:solidFill>
            <a:prstDash val="solid"/>
          </a:ln>
        </p:spPr>
      </p:sp>
      <p:pic>
        <p:nvPicPr>
          <p:cNvPr id="30" name="Icône Bibliothèque + bUnit" descr="Bibliothèque + bUnit">    </p:cNvPr>
          <p:cNvPicPr>
            <a:picLocks noChangeAspect="1"/>
          </p:cNvPicPr>
          <p:nvPr/>
        </p:nvPicPr>
        <p:blipFill>
          <a:blip r:embed="rId8"/>
          <a:stretch>
            <a:fillRect/>
          </a:stretch>
        </p:blipFill>
        <p:spPr>
          <a:xfrm>
            <a:off x="8321040" y="4407408"/>
            <a:ext cx="457200" cy="457200"/>
          </a:xfrm>
          <a:prstGeom prst="rect">
            <a:avLst/>
          </a:prstGeom>
        </p:spPr>
      </p:pic>
      <p:sp>
        <p:nvSpPr>
          <p:cNvPr id="31" name="Titre Bibliothèque + bUnit"/>
          <p:cNvSpPr txBox="1"/>
          <p:nvPr/>
        </p:nvSpPr>
        <p:spPr>
          <a:xfrm>
            <a:off x="9235440" y="4224528"/>
            <a:ext cx="2423160" cy="365760"/>
          </a:xfrm>
          <a:prstGeom prst="rect">
            <a:avLst/>
          </a:prstGeom>
          <a:noFill/>
          <a:ln/>
        </p:spPr>
        <p:txBody>
          <a:bodyPr wrap="square" lIns="0" tIns="0" rIns="0" bIns="0" rtlCol="0" anchor="t"/>
          <a:lstStyle/>
          <a:p>
            <a:pPr indent="0" marL="0">
              <a:buNone/>
            </a:pPr>
            <a:r>
              <a:rPr lang="en-US" sz="1600" b="1" dirty="0">
                <a:solidFill>
                  <a:schemeClr val="tx2"/>
                </a:solidFill>
              </a:rPr>
              <a:t>Bibliothèque + bUnit</a:t>
            </a:r>
            <a:endParaRPr lang="en-US" sz="1600" dirty="0"/>
          </a:p>
        </p:txBody>
      </p:sp>
      <p:sp>
        <p:nvSpPr>
          <p:cNvPr id="32" name="Détail Bibliothèque + bUnit"/>
          <p:cNvSpPr txBox="1"/>
          <p:nvPr/>
        </p:nvSpPr>
        <p:spPr>
          <a:xfrm>
            <a:off x="9235440" y="4617720"/>
            <a:ext cx="2423160" cy="822960"/>
          </a:xfrm>
          <a:prstGeom prst="rect">
            <a:avLst/>
          </a:prstGeom>
          <a:noFill/>
          <a:ln/>
        </p:spPr>
        <p:txBody>
          <a:bodyPr wrap="square" lIns="0" tIns="0" rIns="0" bIns="0" rtlCol="0" anchor="t"/>
          <a:lstStyle/>
          <a:p>
            <a:pPr indent="0" marL="0">
              <a:buNone/>
            </a:pPr>
            <a:r>
              <a:rPr lang="en-US" sz="1400" dirty="0">
                <a:solidFill>
                  <a:schemeClr val="tx1"/>
                </a:solidFill>
              </a:rPr>
              <a:t>un composant Badge extrait et testé</a:t>
            </a:r>
            <a:endParaRPr lang="en-US" sz="14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Grand hexagone TP-05"/>
          <p:cNvSpPr/>
          <p:nvPr/>
        </p:nvSpPr>
        <p:spPr>
          <a:xfrm>
            <a:off x="822960" y="1965960"/>
            <a:ext cx="3108960" cy="2692438"/>
          </a:xfrm>
          <a:custGeom>
            <a:avLst/>
            <a:gdLst/>
            <a:ahLst/>
            <a:cxnLst/>
            <a:rect l="l" t="t" r="r" b="b"/>
            <a:pathLst>
              <a:path w="3108960" h="2692438">
                <a:moveTo>
                  <a:pt x="0" y="1346219"/>
                </a:moveTo>
                <a:lnTo>
                  <a:pt x="777240" y="0"/>
                </a:lnTo>
                <a:lnTo>
                  <a:pt x="2331720" y="0"/>
                </a:lnTo>
                <a:lnTo>
                  <a:pt x="3108960" y="1346219"/>
                </a:lnTo>
                <a:lnTo>
                  <a:pt x="2331720" y="2692438"/>
                </a:lnTo>
                <a:lnTo>
                  <a:pt x="777240" y="2692438"/>
                </a:lnTo>
                <a:close/>
              </a:path>
            </a:pathLst>
          </a:custGeom>
          <a:solidFill>
            <a:srgbClr val="FFFF00"/>
          </a:solidFill>
          <a:ln w="12700">
            <a:solidFill>
              <a:srgbClr val="FFFF00">
                <a:alpha val="0"/>
              </a:srgbClr>
            </a:solidFill>
            <a:prstDash val="solid"/>
          </a:ln>
        </p:spPr>
      </p:sp>
      <p:sp>
        <p:nvSpPr>
          <p:cNvPr id="3" name="Numéro TP-05"/>
          <p:cNvSpPr txBox="1"/>
          <p:nvPr/>
        </p:nvSpPr>
        <p:spPr>
          <a:xfrm>
            <a:off x="822960" y="1965960"/>
            <a:ext cx="3108960" cy="2688336"/>
          </a:xfrm>
          <a:prstGeom prst="rect">
            <a:avLst/>
          </a:prstGeom>
          <a:noFill/>
          <a:ln/>
        </p:spPr>
        <p:txBody>
          <a:bodyPr wrap="square" lIns="0" tIns="0" rIns="0" bIns="0" rtlCol="0" anchor="ctr"/>
          <a:lstStyle/>
          <a:p>
            <a:pPr algn="ctr" indent="0" marL="0">
              <a:buNone/>
            </a:pPr>
            <a:r>
              <a:rPr lang="en-US" sz="8000" b="1" dirty="0">
                <a:solidFill>
                  <a:schemeClr val="tx2"/>
                </a:solidFill>
              </a:rPr>
              <a:t>05</a:t>
            </a:r>
            <a:endParaRPr lang="en-US" sz="8000" dirty="0"/>
          </a:p>
        </p:txBody>
      </p:sp>
      <p:sp>
        <p:nvSpPr>
          <p:cNvPr id="4" name="Hexagone décoratif"/>
          <p:cNvSpPr/>
          <p:nvPr/>
        </p:nvSpPr>
        <p:spPr>
          <a:xfrm>
            <a:off x="3429000" y="1234440"/>
            <a:ext cx="914400" cy="791894"/>
          </a:xfrm>
          <a:custGeom>
            <a:avLst/>
            <a:gdLst/>
            <a:ahLst/>
            <a:cxnLst/>
            <a:rect l="l" t="t" r="r" b="b"/>
            <a:pathLst>
              <a:path w="914400" h="791894">
                <a:moveTo>
                  <a:pt x="0" y="395947"/>
                </a:moveTo>
                <a:lnTo>
                  <a:pt x="228600" y="0"/>
                </a:lnTo>
                <a:lnTo>
                  <a:pt x="685800" y="0"/>
                </a:lnTo>
                <a:lnTo>
                  <a:pt x="914400" y="395947"/>
                </a:lnTo>
                <a:lnTo>
                  <a:pt x="685800" y="791894"/>
                </a:lnTo>
                <a:lnTo>
                  <a:pt x="228600" y="791894"/>
                </a:lnTo>
                <a:close/>
              </a:path>
            </a:pathLst>
          </a:custGeom>
          <a:solidFill>
            <a:srgbClr val="001793">
              <a:alpha val="70000"/>
            </a:srgbClr>
          </a:solidFill>
          <a:ln w="12700">
            <a:solidFill>
              <a:srgbClr val="001793">
                <a:alpha val="0"/>
              </a:srgbClr>
            </a:solidFill>
            <a:prstDash val="solid"/>
          </a:ln>
        </p:spPr>
      </p:sp>
      <p:sp>
        <p:nvSpPr>
          <p:cNvPr id="5" name="Hexagone décoratif"/>
          <p:cNvSpPr/>
          <p:nvPr/>
        </p:nvSpPr>
        <p:spPr>
          <a:xfrm>
            <a:off x="320040" y="4526280"/>
            <a:ext cx="1097280" cy="950272"/>
          </a:xfrm>
          <a:custGeom>
            <a:avLst/>
            <a:gdLst/>
            <a:ahLst/>
            <a:cxnLst/>
            <a:rect l="l" t="t" r="r" b="b"/>
            <a:pathLst>
              <a:path w="1097280" h="950272">
                <a:moveTo>
                  <a:pt x="0" y="475136"/>
                </a:moveTo>
                <a:lnTo>
                  <a:pt x="274320" y="0"/>
                </a:lnTo>
                <a:lnTo>
                  <a:pt x="822960" y="0"/>
                </a:lnTo>
                <a:lnTo>
                  <a:pt x="1097280" y="475136"/>
                </a:lnTo>
                <a:lnTo>
                  <a:pt x="822960" y="950272"/>
                </a:lnTo>
                <a:lnTo>
                  <a:pt x="274320" y="950272"/>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0607040" y="64008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1793">
              <a:alpha val="55000"/>
            </a:srgbClr>
          </a:solidFill>
          <a:ln w="12700">
            <a:solidFill>
              <a:srgbClr val="001793">
                <a:alpha val="0"/>
              </a:srgbClr>
            </a:solidFill>
            <a:prstDash val="solid"/>
          </a:ln>
        </p:spPr>
      </p:sp>
      <p:sp>
        <p:nvSpPr>
          <p:cNvPr id="7" name="Surtitre TP-05"/>
          <p:cNvSpPr txBox="1"/>
          <p:nvPr/>
        </p:nvSpPr>
        <p:spPr>
          <a:xfrm>
            <a:off x="4572000" y="2057400"/>
            <a:ext cx="6400800" cy="365760"/>
          </a:xfrm>
          <a:prstGeom prst="rect">
            <a:avLst/>
          </a:prstGeom>
          <a:noFill/>
          <a:ln/>
        </p:spPr>
        <p:txBody>
          <a:bodyPr wrap="square" lIns="0" tIns="0" rIns="0" bIns="0" rtlCol="0" anchor="t"/>
          <a:lstStyle/>
          <a:p>
            <a:pPr indent="0" marL="0">
              <a:buNone/>
            </a:pPr>
            <a:r>
              <a:rPr lang="en-US" sz="1600" b="1" spc="200" kern="0" dirty="0">
                <a:solidFill>
                  <a:schemeClr val="accent2"/>
                </a:solidFill>
              </a:rPr>
              <a:t>TP-05 · BONUS</a:t>
            </a:r>
            <a:endParaRPr lang="en-US" sz="1600" dirty="0"/>
          </a:p>
        </p:txBody>
      </p:sp>
      <p:sp>
        <p:nvSpPr>
          <p:cNvPr id="8" name="Text 0"/>
          <p:cNvSpPr/>
          <p:nvPr>
            <p:ph idx="100" type="title" hasCustomPrompt="1"/>
          </p:nvPr>
        </p:nvSpPr>
        <p:spPr>
          <a:xfrm>
            <a:off x="4572000" y="2514600"/>
            <a:ext cx="6949440" cy="1691640"/>
          </a:xfrm>
          <a:prstGeom prst="rect">
            <a:avLst/>
          </a:prstGeom>
          <a:noFill/>
          <a:ln/>
        </p:spPr>
        <p:txBody>
          <a:bodyPr wrap="square" lIns="0" tIns="0" rIns="0" bIns="0" rtlCol="0" anchor="t"/>
          <a:lstStyle/>
          <a:p>
            <a:pPr algn="l" indent="0" marL="0">
              <a:buNone/>
            </a:pPr>
            <a:r>
              <a:rPr lang="en-US" sz="3200" b="1" dirty="0">
                <a:solidFill>
                  <a:schemeClr val="bg1"/>
                </a:solidFill>
              </a:rPr>
              <a:t>S'orienter et déboguer dans une appli existante</a:t>
            </a:r>
            <a:endParaRPr lang="en-US" sz="3200" dirty="0"/>
          </a:p>
        </p:txBody>
      </p:sp>
      <p:sp>
        <p:nvSpPr>
          <p:cNvPr id="9" name="Text 0"/>
          <p:cNvSpPr/>
          <p:nvPr>
            <p:ph idx="101" type="body" hasCustomPrompt="1"/>
          </p:nvPr>
        </p:nvSpPr>
        <p:spPr>
          <a:xfrm>
            <a:off x="4572000" y="4343400"/>
            <a:ext cx="6949440" cy="822960"/>
          </a:xfrm>
          <a:prstGeom prst="rect">
            <a:avLst/>
          </a:prstGeom>
          <a:noFill/>
          <a:ln/>
        </p:spPr>
        <p:txBody>
          <a:bodyPr wrap="square" lIns="0" tIns="0" rIns="0" bIns="0" rtlCol="0" anchor="t"/>
          <a:lstStyle/>
          <a:p>
            <a:pPr algn="l" indent="0" marL="0">
              <a:buNone/>
            </a:pPr>
            <a:r>
              <a:rPr lang="en-US" sz="1800" dirty="0">
                <a:solidFill>
                  <a:schemeClr val="bg2"/>
                </a:solidFill>
              </a:rPr>
              <a:t>Vendredi 23 octobre, matin · 6 exercices · 3 h</a:t>
            </a:r>
            <a:endParaRPr lang="en-US" sz="1800" dirty="0"/>
          </a:p>
        </p:txBody>
      </p:sp>
      <p:sp>
        <p:nvSpPr>
          <p:cNvPr id="25" name="Slide Number Placeholder 0"/>
          <p:cNvSpPr>
            <a:spLocks noGrp="1"/>
          </p:cNvSpPr>
          <p:nvPr>
            <p:ph type="sldNum" sz="quarter" idx="4294967295"/>
          </p:nvPr>
        </p:nvSpPr>
        <p:spPr>
          <a:xfrm>
            <a:off x="10241280" y="61722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TP-05 : les outils pour corriger des anomalies</a:t>
            </a:r>
            <a:endParaRPr lang="en-US" sz="3000" dirty="0"/>
          </a:p>
        </p:txBody>
      </p:sp>
      <p:sp>
        <p:nvSpPr>
          <p:cNvPr id="3" name="Introduction"/>
          <p:cNvSpPr txBox="1"/>
          <p:nvPr/>
        </p:nvSpPr>
        <p:spPr>
          <a:xfrm>
            <a:off x="548640" y="1463040"/>
            <a:ext cx="4206240" cy="1920240"/>
          </a:xfrm>
          <a:prstGeom prst="rect">
            <a:avLst/>
          </a:prstGeom>
          <a:noFill/>
          <a:ln/>
        </p:spPr>
        <p:txBody>
          <a:bodyPr wrap="square" lIns="0" tIns="0" rIns="0" bIns="0" rtlCol="0" anchor="t"/>
          <a:lstStyle/>
          <a:p>
            <a:pPr indent="0" marL="0">
              <a:buNone/>
            </a:pPr>
            <a:r>
              <a:rPr lang="en-US" sz="1600" dirty="0">
                <a:solidFill>
                  <a:schemeClr val="tx2"/>
                </a:solidFill>
              </a:rPr>
              <a:t>L'appli de tickets a vécu sans nous : un collègue y a ajouté un import, des statistiques et un cache. Elle compile, et pourtant les utilisateurs se plaignent.</a:t>
            </a:r>
            <a:endParaRPr lang="en-US" sz="1600" dirty="0"/>
          </a:p>
        </p:txBody>
      </p:sp>
      <p:sp>
        <p:nvSpPr>
          <p:cNvPr id="4" name="Intertitre"/>
          <p:cNvSpPr txBox="1"/>
          <p:nvPr/>
        </p:nvSpPr>
        <p:spPr>
          <a:xfrm>
            <a:off x="548640" y="3566160"/>
            <a:ext cx="4206240" cy="365760"/>
          </a:xfrm>
          <a:prstGeom prst="rect">
            <a:avLst/>
          </a:prstGeom>
          <a:noFill/>
          <a:ln/>
        </p:spPr>
        <p:txBody>
          <a:bodyPr wrap="square" lIns="0" tIns="0" rIns="0" bIns="0" rtlCol="0" anchor="t"/>
          <a:lstStyle/>
          <a:p>
            <a:pPr indent="0" marL="0">
              <a:buNone/>
            </a:pPr>
            <a:r>
              <a:rPr lang="en-US" sz="1600" b="1" dirty="0">
                <a:solidFill>
                  <a:schemeClr val="accent1"/>
                </a:solidFill>
              </a:rPr>
              <a:t>À retenir</a:t>
            </a:r>
            <a:endParaRPr lang="en-US" sz="1600" dirty="0"/>
          </a:p>
        </p:txBody>
      </p:sp>
      <p:sp>
        <p:nvSpPr>
          <p:cNvPr id="5" name="Points clés"/>
          <p:cNvSpPr txBox="1"/>
          <p:nvPr/>
        </p:nvSpPr>
        <p:spPr>
          <a:xfrm>
            <a:off x="548640" y="3977640"/>
            <a:ext cx="42062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Points d'arrêt conditionnels, Hot Reload</a:t>
            </a:r>
            <a:endParaRPr lang="en-US" sz="1500" dirty="0"/>
          </a:p>
          <a:p>
            <a:pPr marL="342900" indent="-342900">
              <a:spcAft>
                <a:spcPts val="800"/>
              </a:spcAft>
              <a:buSzPct val="100000"/>
              <a:buChar char="•"/>
            </a:pPr>
            <a:r>
              <a:rPr lang="en-US" sz="1500" dirty="0">
                <a:solidFill>
                  <a:schemeClr val="tx1"/>
                </a:solidFill>
              </a:rPr>
              <a:t>Stack traces, logs structurés, Aspire</a:t>
            </a:r>
            <a:endParaRPr lang="en-US" sz="1500" dirty="0"/>
          </a:p>
          <a:p>
            <a:pPr marL="342900" indent="-342900">
              <a:spcAft>
                <a:spcPts val="800"/>
              </a:spcAft>
              <a:buSzPct val="100000"/>
              <a:buChar char="•"/>
            </a:pPr>
            <a:r>
              <a:rPr lang="en-US" sz="1500" dirty="0">
                <a:solidFill>
                  <a:schemeClr val="tx1"/>
                </a:solidFill>
              </a:rPr>
              <a:t>Un aperçu de C# 15 : les unions</a:t>
            </a:r>
            <a:endParaRPr lang="en-US" sz="1500" dirty="0"/>
          </a:p>
        </p:txBody>
      </p:sp>
      <p:graphicFrame>
        <p:nvGraphicFramePr>
          <p:cNvPr id="6" name="Durées TP-05" descr="Durée des exercices du TP-05"/>
          <p:cNvGraphicFramePr/>
          <p:nvPr/>
        </p:nvGraphicFramePr>
        <p:xfrm>
          <a:off x="5120640" y="1371600"/>
          <a:ext cx="653796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Trois anomalies, comme de vrais tickets</a:t>
            </a:r>
            <a:endParaRPr lang="en-US" sz="3000" dirty="0"/>
          </a:p>
        </p:txBody>
      </p:sp>
      <p:sp>
        <p:nvSpPr>
          <p:cNvPr id="3" name="Anomalie 1"/>
          <p:cNvSpPr/>
          <p:nvPr/>
        </p:nvSpPr>
        <p:spPr>
          <a:xfrm>
            <a:off x="548640" y="1463040"/>
            <a:ext cx="3611880" cy="2743200"/>
          </a:xfrm>
          <a:prstGeom prst="roundRect">
            <a:avLst>
              <a:gd name="adj" fmla="val 4000"/>
            </a:avLst>
          </a:prstGeom>
          <a:solidFill>
            <a:schemeClr val="bg2"/>
          </a:solidFill>
          <a:ln w="12700">
            <a:solidFill>
              <a:srgbClr val="E1EAF1"/>
            </a:solidFill>
            <a:prstDash val="solid"/>
          </a:ln>
        </p:spPr>
      </p:sp>
      <p:sp>
        <p:nvSpPr>
          <p:cNvPr id="4" name="Pastille anomalie 1"/>
          <p:cNvSpPr/>
          <p:nvPr/>
        </p:nvSpPr>
        <p:spPr>
          <a:xfrm>
            <a:off x="822960" y="16916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FF3749"/>
          </a:solidFill>
          <a:ln w="12700">
            <a:solidFill>
              <a:srgbClr val="FF3749">
                <a:alpha val="0"/>
              </a:srgbClr>
            </a:solidFill>
            <a:prstDash val="solid"/>
          </a:ln>
        </p:spPr>
      </p:sp>
      <p:pic>
        <p:nvPicPr>
          <p:cNvPr id="5" name="Icône anomalie 1" descr="Anomalie">    </p:cNvPr>
          <p:cNvPicPr>
            <a:picLocks noChangeAspect="1"/>
          </p:cNvPicPr>
          <p:nvPr/>
        </p:nvPicPr>
        <p:blipFill>
          <a:blip r:embed="rId1"/>
          <a:stretch>
            <a:fillRect/>
          </a:stretch>
        </p:blipFill>
        <p:spPr>
          <a:xfrm>
            <a:off x="1014984" y="1847088"/>
            <a:ext cx="347472" cy="347472"/>
          </a:xfrm>
          <a:prstGeom prst="rect">
            <a:avLst/>
          </a:prstGeom>
        </p:spPr>
      </p:pic>
      <p:sp>
        <p:nvSpPr>
          <p:cNvPr id="6" name="Titre anomalie 1"/>
          <p:cNvSpPr txBox="1"/>
          <p:nvPr/>
        </p:nvSpPr>
        <p:spPr>
          <a:xfrm>
            <a:off x="1691640" y="1783080"/>
            <a:ext cx="2331720" cy="457200"/>
          </a:xfrm>
          <a:prstGeom prst="rect">
            <a:avLst/>
          </a:prstGeom>
          <a:noFill/>
          <a:ln/>
        </p:spPr>
        <p:txBody>
          <a:bodyPr wrap="square" lIns="0" tIns="0" rIns="0" bIns="0" rtlCol="0" anchor="ctr"/>
          <a:lstStyle/>
          <a:p>
            <a:pPr indent="0" marL="0">
              <a:buNone/>
            </a:pPr>
            <a:r>
              <a:rPr lang="en-US" sz="1500" b="1" dirty="0">
                <a:solidFill>
                  <a:schemeClr val="tx2"/>
                </a:solidFill>
              </a:rPr>
              <a:t>Anomalie 1 · EF Core</a:t>
            </a:r>
            <a:endParaRPr lang="en-US" sz="1500" dirty="0"/>
          </a:p>
        </p:txBody>
      </p:sp>
      <p:sp>
        <p:nvSpPr>
          <p:cNvPr id="7" name="Citation anomalie 1"/>
          <p:cNvSpPr txBox="1"/>
          <p:nvPr/>
        </p:nvSpPr>
        <p:spPr>
          <a:xfrm>
            <a:off x="822960" y="2514600"/>
            <a:ext cx="3108960" cy="1143000"/>
          </a:xfrm>
          <a:prstGeom prst="rect">
            <a:avLst/>
          </a:prstGeom>
          <a:noFill/>
          <a:ln/>
        </p:spPr>
        <p:txBody>
          <a:bodyPr wrap="square" lIns="0" tIns="0" rIns="0" bIns="0" rtlCol="0" anchor="t"/>
          <a:lstStyle/>
          <a:p>
            <a:pPr indent="0" marL="0">
              <a:buNone/>
            </a:pPr>
            <a:r>
              <a:rPr lang="en-US" sz="1500" i="1" dirty="0">
                <a:solidFill>
                  <a:schemeClr val="tx1"/>
                </a:solidFill>
              </a:rPr>
              <a:t>« Je modifie un ticket, le site me dit OK, mais rien ne change. »</a:t>
            </a:r>
            <a:endParaRPr lang="en-US" sz="1500" dirty="0"/>
          </a:p>
        </p:txBody>
      </p:sp>
      <p:sp>
        <p:nvSpPr>
          <p:cNvPr id="8" name="Outil anomalie 1"/>
          <p:cNvSpPr txBox="1"/>
          <p:nvPr/>
        </p:nvSpPr>
        <p:spPr>
          <a:xfrm>
            <a:off x="822960" y="3703320"/>
            <a:ext cx="3108960" cy="365760"/>
          </a:xfrm>
          <a:prstGeom prst="rect">
            <a:avLst/>
          </a:prstGeom>
          <a:noFill/>
          <a:ln/>
        </p:spPr>
        <p:txBody>
          <a:bodyPr wrap="square" lIns="0" tIns="0" rIns="0" bIns="0" rtlCol="0" anchor="t"/>
          <a:lstStyle/>
          <a:p>
            <a:pPr indent="0" marL="0">
              <a:buNone/>
            </a:pPr>
            <a:r>
              <a:rPr lang="en-US" sz="1400" b="1" dirty="0">
                <a:solidFill>
                  <a:schemeClr val="accent1"/>
                </a:solidFill>
              </a:rPr>
              <a:t>Outil clé : </a:t>
            </a:r>
            <a:pPr indent="0" marL="0">
              <a:buNone/>
            </a:pPr>
            <a:r>
              <a:rPr lang="en-US" sz="1400" dirty="0">
                <a:solidFill>
                  <a:schemeClr val="accent1"/>
                </a:solidFill>
              </a:rPr>
              <a:t>Logs SQL</a:t>
            </a:r>
            <a:endParaRPr lang="en-US" sz="1400" dirty="0"/>
          </a:p>
        </p:txBody>
      </p:sp>
      <p:sp>
        <p:nvSpPr>
          <p:cNvPr id="9" name="Anomalie 2"/>
          <p:cNvSpPr/>
          <p:nvPr/>
        </p:nvSpPr>
        <p:spPr>
          <a:xfrm>
            <a:off x="4297680" y="1463040"/>
            <a:ext cx="3611880" cy="2743200"/>
          </a:xfrm>
          <a:prstGeom prst="roundRect">
            <a:avLst>
              <a:gd name="adj" fmla="val 4000"/>
            </a:avLst>
          </a:prstGeom>
          <a:solidFill>
            <a:schemeClr val="bg2"/>
          </a:solidFill>
          <a:ln w="12700">
            <a:solidFill>
              <a:srgbClr val="E1EAF1"/>
            </a:solidFill>
            <a:prstDash val="solid"/>
          </a:ln>
        </p:spPr>
      </p:sp>
      <p:sp>
        <p:nvSpPr>
          <p:cNvPr id="10" name="Pastille anomalie 2"/>
          <p:cNvSpPr/>
          <p:nvPr/>
        </p:nvSpPr>
        <p:spPr>
          <a:xfrm>
            <a:off x="4572000" y="16916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FF3749"/>
          </a:solidFill>
          <a:ln w="12700">
            <a:solidFill>
              <a:srgbClr val="FF3749">
                <a:alpha val="0"/>
              </a:srgbClr>
            </a:solidFill>
            <a:prstDash val="solid"/>
          </a:ln>
        </p:spPr>
      </p:sp>
      <p:pic>
        <p:nvPicPr>
          <p:cNvPr id="11" name="Icône anomalie 2" descr="Anomalie">    </p:cNvPr>
          <p:cNvPicPr>
            <a:picLocks noChangeAspect="1"/>
          </p:cNvPicPr>
          <p:nvPr/>
        </p:nvPicPr>
        <p:blipFill>
          <a:blip r:embed="rId2"/>
          <a:stretch>
            <a:fillRect/>
          </a:stretch>
        </p:blipFill>
        <p:spPr>
          <a:xfrm>
            <a:off x="4764024" y="1847088"/>
            <a:ext cx="347472" cy="347472"/>
          </a:xfrm>
          <a:prstGeom prst="rect">
            <a:avLst/>
          </a:prstGeom>
        </p:spPr>
      </p:pic>
      <p:sp>
        <p:nvSpPr>
          <p:cNvPr id="12" name="Titre anomalie 2"/>
          <p:cNvSpPr txBox="1"/>
          <p:nvPr/>
        </p:nvSpPr>
        <p:spPr>
          <a:xfrm>
            <a:off x="5440680" y="1783080"/>
            <a:ext cx="2331720" cy="457200"/>
          </a:xfrm>
          <a:prstGeom prst="rect">
            <a:avLst/>
          </a:prstGeom>
          <a:noFill/>
          <a:ln/>
        </p:spPr>
        <p:txBody>
          <a:bodyPr wrap="square" lIns="0" tIns="0" rIns="0" bIns="0" rtlCol="0" anchor="ctr"/>
          <a:lstStyle/>
          <a:p>
            <a:pPr indent="0" marL="0">
              <a:buNone/>
            </a:pPr>
            <a:r>
              <a:rPr lang="en-US" sz="1500" b="1" dirty="0">
                <a:solidFill>
                  <a:schemeClr val="tx2"/>
                </a:solidFill>
              </a:rPr>
              <a:t>Anomalie 2 · Cache</a:t>
            </a:r>
            <a:endParaRPr lang="en-US" sz="1500" dirty="0"/>
          </a:p>
        </p:txBody>
      </p:sp>
      <p:sp>
        <p:nvSpPr>
          <p:cNvPr id="13" name="Citation anomalie 2"/>
          <p:cNvSpPr txBox="1"/>
          <p:nvPr/>
        </p:nvSpPr>
        <p:spPr>
          <a:xfrm>
            <a:off x="4572000" y="2514600"/>
            <a:ext cx="3108960" cy="1143000"/>
          </a:xfrm>
          <a:prstGeom prst="rect">
            <a:avLst/>
          </a:prstGeom>
          <a:noFill/>
          <a:ln/>
        </p:spPr>
        <p:txBody>
          <a:bodyPr wrap="square" lIns="0" tIns="0" rIns="0" bIns="0" rtlCol="0" anchor="t"/>
          <a:lstStyle/>
          <a:p>
            <a:pPr indent="0" marL="0">
              <a:buNone/>
            </a:pPr>
            <a:r>
              <a:rPr lang="en-US" sz="1500" i="1" dirty="0">
                <a:solidFill>
                  <a:schemeClr val="tx1"/>
                </a:solidFill>
              </a:rPr>
              <a:t>« Le résumé ne montre pas le ticket que je viens de créer. »</a:t>
            </a:r>
            <a:endParaRPr lang="en-US" sz="1500" dirty="0"/>
          </a:p>
        </p:txBody>
      </p:sp>
      <p:sp>
        <p:nvSpPr>
          <p:cNvPr id="14" name="Outil anomalie 2"/>
          <p:cNvSpPr txBox="1"/>
          <p:nvPr/>
        </p:nvSpPr>
        <p:spPr>
          <a:xfrm>
            <a:off x="4572000" y="3703320"/>
            <a:ext cx="3108960" cy="365760"/>
          </a:xfrm>
          <a:prstGeom prst="rect">
            <a:avLst/>
          </a:prstGeom>
          <a:noFill/>
          <a:ln/>
        </p:spPr>
        <p:txBody>
          <a:bodyPr wrap="square" lIns="0" tIns="0" rIns="0" bIns="0" rtlCol="0" anchor="t"/>
          <a:lstStyle/>
          <a:p>
            <a:pPr indent="0" marL="0">
              <a:buNone/>
            </a:pPr>
            <a:r>
              <a:rPr lang="en-US" sz="1400" b="1" dirty="0">
                <a:solidFill>
                  <a:schemeClr val="accent1"/>
                </a:solidFill>
              </a:rPr>
              <a:t>Outil clé : </a:t>
            </a:r>
            <a:pPr indent="0" marL="0">
              <a:buNone/>
            </a:pPr>
            <a:r>
              <a:rPr lang="en-US" sz="1400" dirty="0">
                <a:solidFill>
                  <a:schemeClr val="accent1"/>
                </a:solidFill>
              </a:rPr>
              <a:t>Débogueur</a:t>
            </a:r>
            <a:endParaRPr lang="en-US" sz="1400" dirty="0"/>
          </a:p>
        </p:txBody>
      </p:sp>
      <p:sp>
        <p:nvSpPr>
          <p:cNvPr id="15" name="Anomalie 3"/>
          <p:cNvSpPr/>
          <p:nvPr/>
        </p:nvSpPr>
        <p:spPr>
          <a:xfrm>
            <a:off x="8046720" y="1463040"/>
            <a:ext cx="3611880" cy="2743200"/>
          </a:xfrm>
          <a:prstGeom prst="roundRect">
            <a:avLst>
              <a:gd name="adj" fmla="val 4000"/>
            </a:avLst>
          </a:prstGeom>
          <a:solidFill>
            <a:schemeClr val="bg2"/>
          </a:solidFill>
          <a:ln w="12700">
            <a:solidFill>
              <a:srgbClr val="E1EAF1"/>
            </a:solidFill>
            <a:prstDash val="solid"/>
          </a:ln>
        </p:spPr>
      </p:sp>
      <p:sp>
        <p:nvSpPr>
          <p:cNvPr id="16" name="Pastille anomalie 3"/>
          <p:cNvSpPr/>
          <p:nvPr/>
        </p:nvSpPr>
        <p:spPr>
          <a:xfrm>
            <a:off x="8321040" y="169164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FF3749"/>
          </a:solidFill>
          <a:ln w="12700">
            <a:solidFill>
              <a:srgbClr val="FF3749">
                <a:alpha val="0"/>
              </a:srgbClr>
            </a:solidFill>
            <a:prstDash val="solid"/>
          </a:ln>
        </p:spPr>
      </p:sp>
      <p:pic>
        <p:nvPicPr>
          <p:cNvPr id="17" name="Icône anomalie 3" descr="Anomalie">    </p:cNvPr>
          <p:cNvPicPr>
            <a:picLocks noChangeAspect="1"/>
          </p:cNvPicPr>
          <p:nvPr/>
        </p:nvPicPr>
        <p:blipFill>
          <a:blip r:embed="rId3"/>
          <a:stretch>
            <a:fillRect/>
          </a:stretch>
        </p:blipFill>
        <p:spPr>
          <a:xfrm>
            <a:off x="8513064" y="1847088"/>
            <a:ext cx="347472" cy="347472"/>
          </a:xfrm>
          <a:prstGeom prst="rect">
            <a:avLst/>
          </a:prstGeom>
        </p:spPr>
      </p:pic>
      <p:sp>
        <p:nvSpPr>
          <p:cNvPr id="18" name="Titre anomalie 3"/>
          <p:cNvSpPr txBox="1"/>
          <p:nvPr/>
        </p:nvSpPr>
        <p:spPr>
          <a:xfrm>
            <a:off x="9189720" y="1783080"/>
            <a:ext cx="2331720" cy="457200"/>
          </a:xfrm>
          <a:prstGeom prst="rect">
            <a:avLst/>
          </a:prstGeom>
          <a:noFill/>
          <a:ln/>
        </p:spPr>
        <p:txBody>
          <a:bodyPr wrap="square" lIns="0" tIns="0" rIns="0" bIns="0" rtlCol="0" anchor="ctr"/>
          <a:lstStyle/>
          <a:p>
            <a:pPr indent="0" marL="0">
              <a:buNone/>
            </a:pPr>
            <a:r>
              <a:rPr lang="en-US" sz="1500" b="1" dirty="0">
                <a:solidFill>
                  <a:schemeClr val="tx2"/>
                </a:solidFill>
              </a:rPr>
              <a:t>Anomalie 3 · LINQ</a:t>
            </a:r>
            <a:endParaRPr lang="en-US" sz="1500" dirty="0"/>
          </a:p>
        </p:txBody>
      </p:sp>
      <p:sp>
        <p:nvSpPr>
          <p:cNvPr id="19" name="Citation anomalie 3"/>
          <p:cNvSpPr txBox="1"/>
          <p:nvPr/>
        </p:nvSpPr>
        <p:spPr>
          <a:xfrm>
            <a:off x="8321040" y="2514600"/>
            <a:ext cx="3108960" cy="1143000"/>
          </a:xfrm>
          <a:prstGeom prst="rect">
            <a:avLst/>
          </a:prstGeom>
          <a:noFill/>
          <a:ln/>
        </p:spPr>
        <p:txBody>
          <a:bodyPr wrap="square" lIns="0" tIns="0" rIns="0" bIns="0" rtlCol="0" anchor="t"/>
          <a:lstStyle/>
          <a:p>
            <a:pPr indent="0" marL="0">
              <a:buNone/>
            </a:pPr>
            <a:r>
              <a:rPr lang="en-US" sz="1500" i="1" dirty="0">
                <a:solidFill>
                  <a:schemeClr val="tx1"/>
                </a:solidFill>
              </a:rPr>
              <a:t>« Sur la base neuve de la recette, les statistiques plantent. »</a:t>
            </a:r>
            <a:endParaRPr lang="en-US" sz="1500" dirty="0"/>
          </a:p>
        </p:txBody>
      </p:sp>
      <p:sp>
        <p:nvSpPr>
          <p:cNvPr id="20" name="Outil anomalie 3"/>
          <p:cNvSpPr txBox="1"/>
          <p:nvPr/>
        </p:nvSpPr>
        <p:spPr>
          <a:xfrm>
            <a:off x="8321040" y="3703320"/>
            <a:ext cx="3108960" cy="365760"/>
          </a:xfrm>
          <a:prstGeom prst="rect">
            <a:avLst/>
          </a:prstGeom>
          <a:noFill/>
          <a:ln/>
        </p:spPr>
        <p:txBody>
          <a:bodyPr wrap="square" lIns="0" tIns="0" rIns="0" bIns="0" rtlCol="0" anchor="t"/>
          <a:lstStyle/>
          <a:p>
            <a:pPr indent="0" marL="0">
              <a:buNone/>
            </a:pPr>
            <a:r>
              <a:rPr lang="en-US" sz="1400" b="1" dirty="0">
                <a:solidFill>
                  <a:schemeClr val="accent1"/>
                </a:solidFill>
              </a:rPr>
              <a:t>Outil clé : </a:t>
            </a:r>
            <a:pPr indent="0" marL="0">
              <a:buNone/>
            </a:pPr>
            <a:r>
              <a:rPr lang="en-US" sz="1400" dirty="0">
                <a:solidFill>
                  <a:schemeClr val="accent1"/>
                </a:solidFill>
              </a:rPr>
              <a:t>Stack trace</a:t>
            </a:r>
            <a:endParaRPr lang="en-US" sz="1400" dirty="0"/>
          </a:p>
        </p:txBody>
      </p:sp>
      <p:sp>
        <p:nvSpPr>
          <p:cNvPr id="21" name="Outil Débogueur"/>
          <p:cNvSpPr/>
          <p:nvPr/>
        </p:nvSpPr>
        <p:spPr>
          <a:xfrm>
            <a:off x="548640" y="461772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22" name="Icône outil Débogueur" descr="Débogueur">    </p:cNvPr>
          <p:cNvPicPr>
            <a:picLocks noChangeAspect="1"/>
          </p:cNvPicPr>
          <p:nvPr/>
        </p:nvPicPr>
        <p:blipFill>
          <a:blip r:embed="rId4"/>
          <a:stretch>
            <a:fillRect/>
          </a:stretch>
        </p:blipFill>
        <p:spPr>
          <a:xfrm>
            <a:off x="749808" y="4773168"/>
            <a:ext cx="329184" cy="329184"/>
          </a:xfrm>
          <a:prstGeom prst="rect">
            <a:avLst/>
          </a:prstGeom>
        </p:spPr>
      </p:pic>
      <p:sp>
        <p:nvSpPr>
          <p:cNvPr id="23" name="Libellé outil Débogueur"/>
          <p:cNvSpPr txBox="1"/>
          <p:nvPr/>
        </p:nvSpPr>
        <p:spPr>
          <a:xfrm>
            <a:off x="1417320" y="4617720"/>
            <a:ext cx="1371600" cy="630936"/>
          </a:xfrm>
          <a:prstGeom prst="rect">
            <a:avLst/>
          </a:prstGeom>
          <a:noFill/>
          <a:ln/>
        </p:spPr>
        <p:txBody>
          <a:bodyPr wrap="square" lIns="0" tIns="0" rIns="0" bIns="0" rtlCol="0" anchor="ctr"/>
          <a:lstStyle/>
          <a:p>
            <a:pPr indent="0" marL="0">
              <a:buNone/>
            </a:pPr>
            <a:r>
              <a:rPr lang="en-US" sz="1400" b="1" dirty="0">
                <a:solidFill>
                  <a:schemeClr val="tx2"/>
                </a:solidFill>
              </a:rPr>
              <a:t>Débogueur</a:t>
            </a:r>
            <a:endParaRPr lang="en-US" sz="1400" dirty="0"/>
          </a:p>
        </p:txBody>
      </p:sp>
      <p:sp>
        <p:nvSpPr>
          <p:cNvPr id="24" name="Outil Stack trace"/>
          <p:cNvSpPr/>
          <p:nvPr/>
        </p:nvSpPr>
        <p:spPr>
          <a:xfrm>
            <a:off x="2807208" y="461772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25" name="Icône outil Stack trace" descr="Stack trace">    </p:cNvPr>
          <p:cNvPicPr>
            <a:picLocks noChangeAspect="1"/>
          </p:cNvPicPr>
          <p:nvPr/>
        </p:nvPicPr>
        <p:blipFill>
          <a:blip r:embed="rId5"/>
          <a:stretch>
            <a:fillRect/>
          </a:stretch>
        </p:blipFill>
        <p:spPr>
          <a:xfrm>
            <a:off x="3008376" y="4773168"/>
            <a:ext cx="329184" cy="329184"/>
          </a:xfrm>
          <a:prstGeom prst="rect">
            <a:avLst/>
          </a:prstGeom>
        </p:spPr>
      </p:pic>
      <p:sp>
        <p:nvSpPr>
          <p:cNvPr id="26" name="Libellé outil Stack trace"/>
          <p:cNvSpPr txBox="1"/>
          <p:nvPr/>
        </p:nvSpPr>
        <p:spPr>
          <a:xfrm>
            <a:off x="3675888" y="4617720"/>
            <a:ext cx="1371600" cy="630936"/>
          </a:xfrm>
          <a:prstGeom prst="rect">
            <a:avLst/>
          </a:prstGeom>
          <a:noFill/>
          <a:ln/>
        </p:spPr>
        <p:txBody>
          <a:bodyPr wrap="square" lIns="0" tIns="0" rIns="0" bIns="0" rtlCol="0" anchor="ctr"/>
          <a:lstStyle/>
          <a:p>
            <a:pPr indent="0" marL="0">
              <a:buNone/>
            </a:pPr>
            <a:r>
              <a:rPr lang="en-US" sz="1400" b="1" dirty="0">
                <a:solidFill>
                  <a:schemeClr val="tx2"/>
                </a:solidFill>
              </a:rPr>
              <a:t>Stack trace</a:t>
            </a:r>
            <a:endParaRPr lang="en-US" sz="1400" dirty="0"/>
          </a:p>
        </p:txBody>
      </p:sp>
      <p:sp>
        <p:nvSpPr>
          <p:cNvPr id="27" name="Outil Logs structurés"/>
          <p:cNvSpPr/>
          <p:nvPr/>
        </p:nvSpPr>
        <p:spPr>
          <a:xfrm>
            <a:off x="5065776" y="461772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28" name="Icône outil Logs structurés" descr="Logs structurés">    </p:cNvPr>
          <p:cNvPicPr>
            <a:picLocks noChangeAspect="1"/>
          </p:cNvPicPr>
          <p:nvPr/>
        </p:nvPicPr>
        <p:blipFill>
          <a:blip r:embed="rId6"/>
          <a:stretch>
            <a:fillRect/>
          </a:stretch>
        </p:blipFill>
        <p:spPr>
          <a:xfrm>
            <a:off x="5266944" y="4773168"/>
            <a:ext cx="329184" cy="329184"/>
          </a:xfrm>
          <a:prstGeom prst="rect">
            <a:avLst/>
          </a:prstGeom>
        </p:spPr>
      </p:pic>
      <p:sp>
        <p:nvSpPr>
          <p:cNvPr id="29" name="Libellé outil Logs structurés"/>
          <p:cNvSpPr txBox="1"/>
          <p:nvPr/>
        </p:nvSpPr>
        <p:spPr>
          <a:xfrm>
            <a:off x="5934456" y="4617720"/>
            <a:ext cx="1371600" cy="630936"/>
          </a:xfrm>
          <a:prstGeom prst="rect">
            <a:avLst/>
          </a:prstGeom>
          <a:noFill/>
          <a:ln/>
        </p:spPr>
        <p:txBody>
          <a:bodyPr wrap="square" lIns="0" tIns="0" rIns="0" bIns="0" rtlCol="0" anchor="ctr"/>
          <a:lstStyle/>
          <a:p>
            <a:pPr indent="0" marL="0">
              <a:buNone/>
            </a:pPr>
            <a:r>
              <a:rPr lang="en-US" sz="1400" b="1" dirty="0">
                <a:solidFill>
                  <a:schemeClr val="tx2"/>
                </a:solidFill>
              </a:rPr>
              <a:t>Logs structurés</a:t>
            </a:r>
            <a:endParaRPr lang="en-US" sz="1400" dirty="0"/>
          </a:p>
        </p:txBody>
      </p:sp>
      <p:sp>
        <p:nvSpPr>
          <p:cNvPr id="30" name="Outil Aspire"/>
          <p:cNvSpPr/>
          <p:nvPr/>
        </p:nvSpPr>
        <p:spPr>
          <a:xfrm>
            <a:off x="7324344" y="461772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31" name="Icône outil Aspire" descr="Aspire">    </p:cNvPr>
          <p:cNvPicPr>
            <a:picLocks noChangeAspect="1"/>
          </p:cNvPicPr>
          <p:nvPr/>
        </p:nvPicPr>
        <p:blipFill>
          <a:blip r:embed="rId7"/>
          <a:stretch>
            <a:fillRect/>
          </a:stretch>
        </p:blipFill>
        <p:spPr>
          <a:xfrm>
            <a:off x="7525512" y="4773168"/>
            <a:ext cx="329184" cy="329184"/>
          </a:xfrm>
          <a:prstGeom prst="rect">
            <a:avLst/>
          </a:prstGeom>
        </p:spPr>
      </p:pic>
      <p:sp>
        <p:nvSpPr>
          <p:cNvPr id="32" name="Libellé outil Aspire"/>
          <p:cNvSpPr txBox="1"/>
          <p:nvPr/>
        </p:nvSpPr>
        <p:spPr>
          <a:xfrm>
            <a:off x="8193024" y="4617720"/>
            <a:ext cx="1371600" cy="630936"/>
          </a:xfrm>
          <a:prstGeom prst="rect">
            <a:avLst/>
          </a:prstGeom>
          <a:noFill/>
          <a:ln/>
        </p:spPr>
        <p:txBody>
          <a:bodyPr wrap="square" lIns="0" tIns="0" rIns="0" bIns="0" rtlCol="0" anchor="ctr"/>
          <a:lstStyle/>
          <a:p>
            <a:pPr indent="0" marL="0">
              <a:buNone/>
            </a:pPr>
            <a:r>
              <a:rPr lang="en-US" sz="1400" b="1" dirty="0">
                <a:solidFill>
                  <a:schemeClr val="tx2"/>
                </a:solidFill>
              </a:rPr>
              <a:t>Aspire</a:t>
            </a:r>
            <a:endParaRPr lang="en-US" sz="1400" dirty="0"/>
          </a:p>
        </p:txBody>
      </p:sp>
      <p:sp>
        <p:nvSpPr>
          <p:cNvPr id="33" name="Outil C# 15"/>
          <p:cNvSpPr/>
          <p:nvPr/>
        </p:nvSpPr>
        <p:spPr>
          <a:xfrm>
            <a:off x="9582912" y="4617720"/>
            <a:ext cx="731520" cy="633515"/>
          </a:xfrm>
          <a:custGeom>
            <a:avLst/>
            <a:gdLst/>
            <a:ahLst/>
            <a:cxnLst/>
            <a:rect l="l" t="t" r="r" b="b"/>
            <a:pathLst>
              <a:path w="731520" h="633515">
                <a:moveTo>
                  <a:pt x="0" y="316757"/>
                </a:moveTo>
                <a:lnTo>
                  <a:pt x="182880" y="0"/>
                </a:lnTo>
                <a:lnTo>
                  <a:pt x="548640" y="0"/>
                </a:lnTo>
                <a:lnTo>
                  <a:pt x="731520" y="316757"/>
                </a:lnTo>
                <a:lnTo>
                  <a:pt x="548640" y="633515"/>
                </a:lnTo>
                <a:lnTo>
                  <a:pt x="182880" y="633515"/>
                </a:lnTo>
                <a:close/>
              </a:path>
            </a:pathLst>
          </a:custGeom>
          <a:solidFill>
            <a:srgbClr val="000057"/>
          </a:solidFill>
          <a:ln w="12700">
            <a:solidFill>
              <a:srgbClr val="000057">
                <a:alpha val="0"/>
              </a:srgbClr>
            </a:solidFill>
            <a:prstDash val="solid"/>
          </a:ln>
        </p:spPr>
      </p:sp>
      <p:pic>
        <p:nvPicPr>
          <p:cNvPr id="34" name="Icône outil C# 15" descr="C# 15">    </p:cNvPr>
          <p:cNvPicPr>
            <a:picLocks noChangeAspect="1"/>
          </p:cNvPicPr>
          <p:nvPr/>
        </p:nvPicPr>
        <p:blipFill>
          <a:blip r:embed="rId8"/>
          <a:stretch>
            <a:fillRect/>
          </a:stretch>
        </p:blipFill>
        <p:spPr>
          <a:xfrm>
            <a:off x="9784080" y="4773168"/>
            <a:ext cx="329184" cy="329184"/>
          </a:xfrm>
          <a:prstGeom prst="rect">
            <a:avLst/>
          </a:prstGeom>
        </p:spPr>
      </p:pic>
      <p:sp>
        <p:nvSpPr>
          <p:cNvPr id="35" name="Libellé outil C# 15"/>
          <p:cNvSpPr txBox="1"/>
          <p:nvPr/>
        </p:nvSpPr>
        <p:spPr>
          <a:xfrm>
            <a:off x="10451592" y="4617720"/>
            <a:ext cx="1371600" cy="630936"/>
          </a:xfrm>
          <a:prstGeom prst="rect">
            <a:avLst/>
          </a:prstGeom>
          <a:noFill/>
          <a:ln/>
        </p:spPr>
        <p:txBody>
          <a:bodyPr wrap="square" lIns="0" tIns="0" rIns="0" bIns="0" rtlCol="0" anchor="ctr"/>
          <a:lstStyle/>
          <a:p>
            <a:pPr indent="0" marL="0">
              <a:buNone/>
            </a:pPr>
            <a:r>
              <a:rPr lang="en-US" sz="1400" b="1" dirty="0">
                <a:solidFill>
                  <a:schemeClr val="tx2"/>
                </a:solidFill>
              </a:rPr>
              <a:t>C# 15</a:t>
            </a:r>
            <a:endParaRPr lang="en-US" sz="1400" dirty="0"/>
          </a:p>
        </p:txBody>
      </p:sp>
      <p:sp>
        <p:nvSpPr>
          <p:cNvPr id="36" name="Méthode"/>
          <p:cNvSpPr txBox="1"/>
          <p:nvPr/>
        </p:nvSpPr>
        <p:spPr>
          <a:xfrm>
            <a:off x="548640" y="5532120"/>
            <a:ext cx="11109960" cy="411480"/>
          </a:xfrm>
          <a:prstGeom prst="rect">
            <a:avLst/>
          </a:prstGeom>
          <a:noFill/>
          <a:ln/>
        </p:spPr>
        <p:txBody>
          <a:bodyPr wrap="square" lIns="0" tIns="0" rIns="0" bIns="0" rtlCol="0" anchor="t"/>
          <a:lstStyle/>
          <a:p>
            <a:pPr indent="0" marL="0">
              <a:buNone/>
            </a:pPr>
            <a:r>
              <a:rPr lang="en-US" sz="1500" i="1" dirty="0">
                <a:solidFill>
                  <a:schemeClr val="tx1"/>
                </a:solidFill>
              </a:rPr>
              <a:t>Pour chacune : reproduire, observer, formuler la cause en une phrase, corriger au plus près.</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L'appli Tickets, du mardi au vendredi</a:t>
            </a:r>
            <a:endParaRPr lang="en-US" sz="3000" dirty="0"/>
          </a:p>
        </p:txBody>
      </p:sp>
      <p:sp>
        <p:nvSpPr>
          <p:cNvPr id="3" name="Frise"/>
          <p:cNvSpPr/>
          <p:nvPr/>
        </p:nvSpPr>
        <p:spPr>
          <a:xfrm>
            <a:off x="1554480" y="2167128"/>
            <a:ext cx="8412480" cy="0"/>
          </a:xfrm>
          <a:prstGeom prst="line">
            <a:avLst/>
          </a:prstGeom>
          <a:noFill/>
          <a:ln w="50800">
            <a:solidFill>
              <a:srgbClr val="E1EAF1"/>
            </a:solidFill>
            <a:prstDash val="solid"/>
          </a:ln>
        </p:spPr>
      </p:sp>
      <p:sp>
        <p:nvSpPr>
          <p:cNvPr id="4" name="Étape TP-02"/>
          <p:cNvSpPr/>
          <p:nvPr/>
        </p:nvSpPr>
        <p:spPr>
          <a:xfrm>
            <a:off x="1234440" y="160020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0057"/>
          </a:solidFill>
          <a:ln w="12700">
            <a:solidFill>
              <a:srgbClr val="000057">
                <a:alpha val="0"/>
              </a:srgbClr>
            </a:solidFill>
            <a:prstDash val="solid"/>
          </a:ln>
        </p:spPr>
      </p:sp>
      <p:sp>
        <p:nvSpPr>
          <p:cNvPr id="5" name="Numéro TP-02"/>
          <p:cNvSpPr txBox="1"/>
          <p:nvPr/>
        </p:nvSpPr>
        <p:spPr>
          <a:xfrm>
            <a:off x="1234440" y="1600200"/>
            <a:ext cx="1280160" cy="1106424"/>
          </a:xfrm>
          <a:prstGeom prst="rect">
            <a:avLst/>
          </a:prstGeom>
          <a:noFill/>
          <a:ln/>
        </p:spPr>
        <p:txBody>
          <a:bodyPr wrap="square" lIns="0" tIns="0" rIns="0" bIns="0" rtlCol="0" anchor="ctr"/>
          <a:lstStyle/>
          <a:p>
            <a:pPr algn="ctr" indent="0" marL="0">
              <a:buNone/>
            </a:pPr>
            <a:r>
              <a:rPr lang="en-US" sz="1800" b="1" dirty="0">
                <a:solidFill>
                  <a:schemeClr val="accent2"/>
                </a:solidFill>
              </a:rPr>
              <a:t>TP-02</a:t>
            </a:r>
            <a:endParaRPr lang="en-US" sz="1800" dirty="0"/>
          </a:p>
        </p:txBody>
      </p:sp>
      <p:sp>
        <p:nvSpPr>
          <p:cNvPr id="6" name="Titre TP-02"/>
          <p:cNvSpPr txBox="1"/>
          <p:nvPr/>
        </p:nvSpPr>
        <p:spPr>
          <a:xfrm>
            <a:off x="548640" y="2880360"/>
            <a:ext cx="2651760" cy="365760"/>
          </a:xfrm>
          <a:prstGeom prst="rect">
            <a:avLst/>
          </a:prstGeom>
          <a:noFill/>
          <a:ln/>
        </p:spPr>
        <p:txBody>
          <a:bodyPr wrap="square" lIns="0" tIns="0" rIns="0" bIns="0" rtlCol="0" anchor="t"/>
          <a:lstStyle/>
          <a:p>
            <a:pPr algn="ctr" indent="0" marL="0">
              <a:buNone/>
            </a:pPr>
            <a:r>
              <a:rPr lang="en-US" sz="1700" b="1" dirty="0">
                <a:solidFill>
                  <a:schemeClr val="tx2"/>
                </a:solidFill>
              </a:rPr>
              <a:t>Une API REST</a:t>
            </a:r>
            <a:endParaRPr lang="en-US" sz="1700" dirty="0"/>
          </a:p>
        </p:txBody>
      </p:sp>
      <p:sp>
        <p:nvSpPr>
          <p:cNvPr id="7" name="Détail TP-02"/>
          <p:cNvSpPr txBox="1"/>
          <p:nvPr/>
        </p:nvSpPr>
        <p:spPr>
          <a:xfrm>
            <a:off x="731520" y="3291840"/>
            <a:ext cx="2286000" cy="822960"/>
          </a:xfrm>
          <a:prstGeom prst="rect">
            <a:avLst/>
          </a:prstGeom>
          <a:noFill/>
          <a:ln/>
        </p:spPr>
        <p:txBody>
          <a:bodyPr wrap="square" lIns="0" tIns="0" rIns="0" bIns="0" rtlCol="0" anchor="t"/>
          <a:lstStyle/>
          <a:p>
            <a:pPr algn="ctr" indent="0" marL="0">
              <a:buNone/>
            </a:pPr>
            <a:r>
              <a:rPr lang="en-US" sz="1400" dirty="0">
                <a:solidFill>
                  <a:schemeClr val="tx1"/>
                </a:solidFill>
              </a:rPr>
              <a:t>Minimal APIs, EF Core, SQL Server, migrations</a:t>
            </a:r>
            <a:endParaRPr lang="en-US" sz="1400" dirty="0"/>
          </a:p>
        </p:txBody>
      </p:sp>
      <p:sp>
        <p:nvSpPr>
          <p:cNvPr id="8" name="Étape TP-03"/>
          <p:cNvSpPr/>
          <p:nvPr/>
        </p:nvSpPr>
        <p:spPr>
          <a:xfrm>
            <a:off x="4041648" y="160020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0057"/>
          </a:solidFill>
          <a:ln w="12700">
            <a:solidFill>
              <a:srgbClr val="000057">
                <a:alpha val="0"/>
              </a:srgbClr>
            </a:solidFill>
            <a:prstDash val="solid"/>
          </a:ln>
        </p:spPr>
      </p:sp>
      <p:sp>
        <p:nvSpPr>
          <p:cNvPr id="9" name="Numéro TP-03"/>
          <p:cNvSpPr txBox="1"/>
          <p:nvPr/>
        </p:nvSpPr>
        <p:spPr>
          <a:xfrm>
            <a:off x="4041648" y="1600200"/>
            <a:ext cx="1280160" cy="1106424"/>
          </a:xfrm>
          <a:prstGeom prst="rect">
            <a:avLst/>
          </a:prstGeom>
          <a:noFill/>
          <a:ln/>
        </p:spPr>
        <p:txBody>
          <a:bodyPr wrap="square" lIns="0" tIns="0" rIns="0" bIns="0" rtlCol="0" anchor="ctr"/>
          <a:lstStyle/>
          <a:p>
            <a:pPr algn="ctr" indent="0" marL="0">
              <a:buNone/>
            </a:pPr>
            <a:r>
              <a:rPr lang="en-US" sz="1800" b="1" dirty="0">
                <a:solidFill>
                  <a:schemeClr val="accent2"/>
                </a:solidFill>
              </a:rPr>
              <a:t>TP-03</a:t>
            </a:r>
            <a:endParaRPr lang="en-US" sz="1800" dirty="0"/>
          </a:p>
        </p:txBody>
      </p:sp>
      <p:sp>
        <p:nvSpPr>
          <p:cNvPr id="10" name="Titre TP-03"/>
          <p:cNvSpPr txBox="1"/>
          <p:nvPr/>
        </p:nvSpPr>
        <p:spPr>
          <a:xfrm>
            <a:off x="3355848" y="2880360"/>
            <a:ext cx="2651760" cy="365760"/>
          </a:xfrm>
          <a:prstGeom prst="rect">
            <a:avLst/>
          </a:prstGeom>
          <a:noFill/>
          <a:ln/>
        </p:spPr>
        <p:txBody>
          <a:bodyPr wrap="square" lIns="0" tIns="0" rIns="0" bIns="0" rtlCol="0" anchor="t"/>
          <a:lstStyle/>
          <a:p>
            <a:pPr algn="ctr" indent="0" marL="0">
              <a:buNone/>
            </a:pPr>
            <a:r>
              <a:rPr lang="en-US" sz="1700" b="1" dirty="0">
                <a:solidFill>
                  <a:schemeClr val="tx2"/>
                </a:solidFill>
              </a:rPr>
              <a:t>Un front Blazor</a:t>
            </a:r>
            <a:endParaRPr lang="en-US" sz="1700" dirty="0"/>
          </a:p>
        </p:txBody>
      </p:sp>
      <p:sp>
        <p:nvSpPr>
          <p:cNvPr id="11" name="Détail TP-03"/>
          <p:cNvSpPr txBox="1"/>
          <p:nvPr/>
        </p:nvSpPr>
        <p:spPr>
          <a:xfrm>
            <a:off x="3538728" y="3291840"/>
            <a:ext cx="2286000" cy="822960"/>
          </a:xfrm>
          <a:prstGeom prst="rect">
            <a:avLst/>
          </a:prstGeom>
          <a:noFill/>
          <a:ln/>
        </p:spPr>
        <p:txBody>
          <a:bodyPr wrap="square" lIns="0" tIns="0" rIns="0" bIns="0" rtlCol="0" anchor="t"/>
          <a:lstStyle/>
          <a:p>
            <a:pPr algn="ctr" indent="0" marL="0">
              <a:buNone/>
            </a:pPr>
            <a:r>
              <a:rPr lang="en-US" sz="1400" dirty="0">
                <a:solidFill>
                  <a:schemeClr val="tx1"/>
                </a:solidFill>
              </a:rPr>
              <a:t>liste, formulaire, grille, modes de rendu</a:t>
            </a:r>
            <a:endParaRPr lang="en-US" sz="1400" dirty="0"/>
          </a:p>
        </p:txBody>
      </p:sp>
      <p:sp>
        <p:nvSpPr>
          <p:cNvPr id="12" name="Étape TP-04"/>
          <p:cNvSpPr/>
          <p:nvPr/>
        </p:nvSpPr>
        <p:spPr>
          <a:xfrm>
            <a:off x="6848856" y="160020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000057"/>
          </a:solidFill>
          <a:ln w="12700">
            <a:solidFill>
              <a:srgbClr val="000057">
                <a:alpha val="0"/>
              </a:srgbClr>
            </a:solidFill>
            <a:prstDash val="solid"/>
          </a:ln>
        </p:spPr>
      </p:sp>
      <p:sp>
        <p:nvSpPr>
          <p:cNvPr id="13" name="Numéro TP-04"/>
          <p:cNvSpPr txBox="1"/>
          <p:nvPr/>
        </p:nvSpPr>
        <p:spPr>
          <a:xfrm>
            <a:off x="6848856" y="1600200"/>
            <a:ext cx="1280160" cy="1106424"/>
          </a:xfrm>
          <a:prstGeom prst="rect">
            <a:avLst/>
          </a:prstGeom>
          <a:noFill/>
          <a:ln/>
        </p:spPr>
        <p:txBody>
          <a:bodyPr wrap="square" lIns="0" tIns="0" rIns="0" bIns="0" rtlCol="0" anchor="ctr"/>
          <a:lstStyle/>
          <a:p>
            <a:pPr algn="ctr" indent="0" marL="0">
              <a:buNone/>
            </a:pPr>
            <a:r>
              <a:rPr lang="en-US" sz="1800" b="1" dirty="0">
                <a:solidFill>
                  <a:schemeClr val="accent2"/>
                </a:solidFill>
              </a:rPr>
              <a:t>TP-04</a:t>
            </a:r>
            <a:endParaRPr lang="en-US" sz="1800" dirty="0"/>
          </a:p>
        </p:txBody>
      </p:sp>
      <p:sp>
        <p:nvSpPr>
          <p:cNvPr id="14" name="Titre TP-04"/>
          <p:cNvSpPr txBox="1"/>
          <p:nvPr/>
        </p:nvSpPr>
        <p:spPr>
          <a:xfrm>
            <a:off x="6163056" y="2880360"/>
            <a:ext cx="2651760" cy="365760"/>
          </a:xfrm>
          <a:prstGeom prst="rect">
            <a:avLst/>
          </a:prstGeom>
          <a:noFill/>
          <a:ln/>
        </p:spPr>
        <p:txBody>
          <a:bodyPr wrap="square" lIns="0" tIns="0" rIns="0" bIns="0" rtlCol="0" anchor="t"/>
          <a:lstStyle/>
          <a:p>
            <a:pPr algn="ctr" indent="0" marL="0">
              <a:buNone/>
            </a:pPr>
            <a:r>
              <a:rPr lang="en-US" sz="1700" b="1" dirty="0">
                <a:solidFill>
                  <a:schemeClr val="tx2"/>
                </a:solidFill>
              </a:rPr>
              <a:t>Sécurisée et structurée</a:t>
            </a:r>
            <a:endParaRPr lang="en-US" sz="1700" dirty="0"/>
          </a:p>
        </p:txBody>
      </p:sp>
      <p:sp>
        <p:nvSpPr>
          <p:cNvPr id="15" name="Détail TP-04"/>
          <p:cNvSpPr txBox="1"/>
          <p:nvPr/>
        </p:nvSpPr>
        <p:spPr>
          <a:xfrm>
            <a:off x="6345936" y="3291840"/>
            <a:ext cx="2286000" cy="822960"/>
          </a:xfrm>
          <a:prstGeom prst="rect">
            <a:avLst/>
          </a:prstGeom>
          <a:noFill/>
          <a:ln/>
        </p:spPr>
        <p:txBody>
          <a:bodyPr wrap="square" lIns="0" tIns="0" rIns="0" bIns="0" rtlCol="0" anchor="t"/>
          <a:lstStyle/>
          <a:p>
            <a:pPr algn="ctr" indent="0" marL="0">
              <a:buNone/>
            </a:pPr>
            <a:r>
              <a:rPr lang="en-US" sz="1400" dirty="0">
                <a:solidFill>
                  <a:schemeClr val="tx1"/>
                </a:solidFill>
              </a:rPr>
              <a:t>JWT, cookie, état partagé, bibliothèque</a:t>
            </a:r>
            <a:endParaRPr lang="en-US" sz="1400" dirty="0"/>
          </a:p>
        </p:txBody>
      </p:sp>
      <p:sp>
        <p:nvSpPr>
          <p:cNvPr id="16" name="Étape TP-05"/>
          <p:cNvSpPr/>
          <p:nvPr/>
        </p:nvSpPr>
        <p:spPr>
          <a:xfrm>
            <a:off x="9656064" y="1600200"/>
            <a:ext cx="1280160" cy="1108651"/>
          </a:xfrm>
          <a:custGeom>
            <a:avLst/>
            <a:gdLst/>
            <a:ahLst/>
            <a:cxnLst/>
            <a:rect l="l" t="t" r="r" b="b"/>
            <a:pathLst>
              <a:path w="1280160" h="1108651">
                <a:moveTo>
                  <a:pt x="0" y="554326"/>
                </a:moveTo>
                <a:lnTo>
                  <a:pt x="320040" y="0"/>
                </a:lnTo>
                <a:lnTo>
                  <a:pt x="960120" y="0"/>
                </a:lnTo>
                <a:lnTo>
                  <a:pt x="1280160" y="554326"/>
                </a:lnTo>
                <a:lnTo>
                  <a:pt x="960120" y="1108651"/>
                </a:lnTo>
                <a:lnTo>
                  <a:pt x="320040" y="1108651"/>
                </a:lnTo>
                <a:close/>
              </a:path>
            </a:pathLst>
          </a:custGeom>
          <a:solidFill>
            <a:srgbClr val="FFFF00"/>
          </a:solidFill>
          <a:ln w="12700">
            <a:solidFill>
              <a:srgbClr val="FFFF00">
                <a:alpha val="0"/>
              </a:srgbClr>
            </a:solidFill>
            <a:prstDash val="solid"/>
          </a:ln>
        </p:spPr>
      </p:sp>
      <p:sp>
        <p:nvSpPr>
          <p:cNvPr id="17" name="Numéro TP-05"/>
          <p:cNvSpPr txBox="1"/>
          <p:nvPr/>
        </p:nvSpPr>
        <p:spPr>
          <a:xfrm>
            <a:off x="9656064" y="1600200"/>
            <a:ext cx="1280160" cy="1106424"/>
          </a:xfrm>
          <a:prstGeom prst="rect">
            <a:avLst/>
          </a:prstGeom>
          <a:noFill/>
          <a:ln/>
        </p:spPr>
        <p:txBody>
          <a:bodyPr wrap="square" lIns="0" tIns="0" rIns="0" bIns="0" rtlCol="0" anchor="ctr"/>
          <a:lstStyle/>
          <a:p>
            <a:pPr algn="ctr" indent="0" marL="0">
              <a:buNone/>
            </a:pPr>
            <a:r>
              <a:rPr lang="en-US" sz="1800" b="1" dirty="0">
                <a:solidFill>
                  <a:schemeClr val="tx2"/>
                </a:solidFill>
              </a:rPr>
              <a:t>TP-05</a:t>
            </a:r>
            <a:endParaRPr lang="en-US" sz="1800" dirty="0"/>
          </a:p>
        </p:txBody>
      </p:sp>
      <p:sp>
        <p:nvSpPr>
          <p:cNvPr id="18" name="Titre TP-05"/>
          <p:cNvSpPr txBox="1"/>
          <p:nvPr/>
        </p:nvSpPr>
        <p:spPr>
          <a:xfrm>
            <a:off x="8970264" y="2880360"/>
            <a:ext cx="2651760" cy="365760"/>
          </a:xfrm>
          <a:prstGeom prst="rect">
            <a:avLst/>
          </a:prstGeom>
          <a:noFill/>
          <a:ln/>
        </p:spPr>
        <p:txBody>
          <a:bodyPr wrap="square" lIns="0" tIns="0" rIns="0" bIns="0" rtlCol="0" anchor="t"/>
          <a:lstStyle/>
          <a:p>
            <a:pPr algn="ctr" indent="0" marL="0">
              <a:buNone/>
            </a:pPr>
            <a:r>
              <a:rPr lang="en-US" sz="1700" b="1" dirty="0">
                <a:solidFill>
                  <a:schemeClr val="tx2"/>
                </a:solidFill>
              </a:rPr>
              <a:t>Puis déboguée</a:t>
            </a:r>
            <a:endParaRPr lang="en-US" sz="1700" dirty="0"/>
          </a:p>
        </p:txBody>
      </p:sp>
      <p:sp>
        <p:nvSpPr>
          <p:cNvPr id="19" name="Détail TP-05"/>
          <p:cNvSpPr txBox="1"/>
          <p:nvPr/>
        </p:nvSpPr>
        <p:spPr>
          <a:xfrm>
            <a:off x="9153144" y="3291840"/>
            <a:ext cx="2286000" cy="822960"/>
          </a:xfrm>
          <a:prstGeom prst="rect">
            <a:avLst/>
          </a:prstGeom>
          <a:noFill/>
          <a:ln/>
        </p:spPr>
        <p:txBody>
          <a:bodyPr wrap="square" lIns="0" tIns="0" rIns="0" bIns="0" rtlCol="0" anchor="t"/>
          <a:lstStyle/>
          <a:p>
            <a:pPr algn="ctr" indent="0" marL="0">
              <a:buNone/>
            </a:pPr>
            <a:r>
              <a:rPr lang="en-US" sz="1400" dirty="0">
                <a:solidFill>
                  <a:schemeClr val="tx1"/>
                </a:solidFill>
              </a:rPr>
              <a:t>import CSV, statistiques, cache, Aspire</a:t>
            </a:r>
            <a:endParaRPr lang="en-US" sz="1400" dirty="0"/>
          </a:p>
        </p:txBody>
      </p:sp>
      <p:sp>
        <p:nvSpPr>
          <p:cNvPr id="20" name="Encadré enchaînement"/>
          <p:cNvSpPr/>
          <p:nvPr/>
        </p:nvSpPr>
        <p:spPr>
          <a:xfrm>
            <a:off x="548640" y="4572000"/>
            <a:ext cx="11109960" cy="1325880"/>
          </a:xfrm>
          <a:prstGeom prst="roundRect">
            <a:avLst>
              <a:gd name="adj" fmla="val 8276"/>
            </a:avLst>
          </a:prstGeom>
          <a:solidFill>
            <a:schemeClr val="bg2"/>
          </a:solidFill>
          <a:ln w="12700">
            <a:solidFill>
              <a:srgbClr val="E1EAF1"/>
            </a:solidFill>
            <a:prstDash val="solid"/>
          </a:ln>
        </p:spPr>
      </p:sp>
      <p:pic>
        <p:nvPicPr>
          <p:cNvPr id="21" name="Icône enchaînement" descr="Ticket">    </p:cNvPr>
          <p:cNvPicPr>
            <a:picLocks noChangeAspect="1"/>
          </p:cNvPicPr>
          <p:nvPr/>
        </p:nvPicPr>
        <p:blipFill>
          <a:blip r:embed="rId1"/>
          <a:stretch>
            <a:fillRect/>
          </a:stretch>
        </p:blipFill>
        <p:spPr>
          <a:xfrm>
            <a:off x="868680" y="4956048"/>
            <a:ext cx="548640" cy="548640"/>
          </a:xfrm>
          <a:prstGeom prst="rect">
            <a:avLst/>
          </a:prstGeom>
        </p:spPr>
      </p:pic>
      <p:sp>
        <p:nvSpPr>
          <p:cNvPr id="22" name="Texte enchaînement"/>
          <p:cNvSpPr txBox="1"/>
          <p:nvPr/>
        </p:nvSpPr>
        <p:spPr>
          <a:xfrm>
            <a:off x="1691640" y="4572000"/>
            <a:ext cx="9692640" cy="1325880"/>
          </a:xfrm>
          <a:prstGeom prst="rect">
            <a:avLst/>
          </a:prstGeom>
          <a:noFill/>
          <a:ln/>
        </p:spPr>
        <p:txBody>
          <a:bodyPr wrap="square" lIns="0" tIns="0" rIns="0" bIns="0" rtlCol="0" anchor="ctr"/>
          <a:lstStyle/>
          <a:p>
            <a:pPr indent="0" marL="0">
              <a:buNone/>
            </a:pPr>
            <a:r>
              <a:rPr lang="en-US" sz="1500" b="1" dirty="0">
                <a:solidFill>
                  <a:schemeClr val="tx2"/>
                </a:solidFill>
              </a:rPr>
              <a:t>Un départ par TP, copié de la solution de la veille. </a:t>
            </a:r>
            <a:pPr indent="0" marL="0">
              <a:buNone/>
            </a:pPr>
            <a:r>
              <a:rPr lang="en-US" sz="1500" dirty="0">
                <a:solidFill>
                  <a:schemeClr val="tx1"/>
                </a:solidFill>
              </a:rPr>
              <a:t>Ce qui n'a pas été fini hier ne bloque pas aujourd'hui, et la solution du jour reste là pour comparer.</a:t>
            </a:r>
            <a:endParaRPr lang="en-US" sz="15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262 tests pour se valider soi-même</a:t>
            </a:r>
            <a:endParaRPr lang="en-US" sz="3000" dirty="0"/>
          </a:p>
        </p:txBody>
      </p:sp>
      <p:graphicFrame>
        <p:nvGraphicFramePr>
          <p:cNvPr id="3" name="Tests par TP" descr="Nombre de tests par TP"/>
          <p:cNvGraphicFramePr/>
          <p:nvPr/>
        </p:nvGraphicFramePr>
        <p:xfrm>
          <a:off x="548640" y="137160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Pastille xUnit v3 et bUnit"/>
          <p:cNvSpPr/>
          <p:nvPr/>
        </p:nvSpPr>
        <p:spPr>
          <a:xfrm>
            <a:off x="7680960" y="1463040"/>
            <a:ext cx="822960" cy="712704"/>
          </a:xfrm>
          <a:custGeom>
            <a:avLst/>
            <a:gdLst/>
            <a:ahLst/>
            <a:cxnLst/>
            <a:rect l="l" t="t" r="r" b="b"/>
            <a:pathLst>
              <a:path w="822960" h="712704">
                <a:moveTo>
                  <a:pt x="0" y="356352"/>
                </a:moveTo>
                <a:lnTo>
                  <a:pt x="205740" y="0"/>
                </a:lnTo>
                <a:lnTo>
                  <a:pt x="617220" y="0"/>
                </a:lnTo>
                <a:lnTo>
                  <a:pt x="822960" y="356352"/>
                </a:lnTo>
                <a:lnTo>
                  <a:pt x="617220" y="712704"/>
                </a:lnTo>
                <a:lnTo>
                  <a:pt x="205740" y="712704"/>
                </a:lnTo>
                <a:close/>
              </a:path>
            </a:pathLst>
          </a:custGeom>
          <a:solidFill>
            <a:srgbClr val="0040FF"/>
          </a:solidFill>
          <a:ln w="12700">
            <a:solidFill>
              <a:srgbClr val="0040FF">
                <a:alpha val="0"/>
              </a:srgbClr>
            </a:solidFill>
            <a:prstDash val="solid"/>
          </a:ln>
        </p:spPr>
      </p:sp>
      <p:pic>
        <p:nvPicPr>
          <p:cNvPr id="5" name="Icône xUnit v3 et bUnit" descr="xUnit v3 et bUnit">    </p:cNvPr>
          <p:cNvPicPr>
            <a:picLocks noChangeAspect="1"/>
          </p:cNvPicPr>
          <p:nvPr/>
        </p:nvPicPr>
        <p:blipFill>
          <a:blip r:embed="rId2"/>
          <a:stretch>
            <a:fillRect/>
          </a:stretch>
        </p:blipFill>
        <p:spPr>
          <a:xfrm>
            <a:off x="7909560" y="1627632"/>
            <a:ext cx="365760" cy="365760"/>
          </a:xfrm>
          <a:prstGeom prst="rect">
            <a:avLst/>
          </a:prstGeom>
        </p:spPr>
      </p:pic>
      <p:sp>
        <p:nvSpPr>
          <p:cNvPr id="6" name="Titre xUnit v3 et bUnit"/>
          <p:cNvSpPr txBox="1"/>
          <p:nvPr/>
        </p:nvSpPr>
        <p:spPr>
          <a:xfrm>
            <a:off x="8686800" y="1417320"/>
            <a:ext cx="2971800" cy="365760"/>
          </a:xfrm>
          <a:prstGeom prst="rect">
            <a:avLst/>
          </a:prstGeom>
          <a:noFill/>
          <a:ln/>
        </p:spPr>
        <p:txBody>
          <a:bodyPr wrap="square" lIns="0" tIns="0" rIns="0" bIns="0" rtlCol="0" anchor="t"/>
          <a:lstStyle/>
          <a:p>
            <a:pPr indent="0" marL="0">
              <a:buNone/>
            </a:pPr>
            <a:r>
              <a:rPr lang="en-US" sz="1600" b="1" dirty="0">
                <a:solidFill>
                  <a:schemeClr val="tx2"/>
                </a:solidFill>
              </a:rPr>
              <a:t>xUnit v3 et bUnit</a:t>
            </a:r>
            <a:endParaRPr lang="en-US" sz="1600" dirty="0"/>
          </a:p>
        </p:txBody>
      </p:sp>
      <p:sp>
        <p:nvSpPr>
          <p:cNvPr id="7" name="Détail xUnit v3 et bUnit"/>
          <p:cNvSpPr txBox="1"/>
          <p:nvPr/>
        </p:nvSpPr>
        <p:spPr>
          <a:xfrm>
            <a:off x="8686800" y="1810512"/>
            <a:ext cx="2971800" cy="914400"/>
          </a:xfrm>
          <a:prstGeom prst="rect">
            <a:avLst/>
          </a:prstGeom>
          <a:noFill/>
          <a:ln/>
        </p:spPr>
        <p:txBody>
          <a:bodyPr wrap="square" lIns="0" tIns="0" rIns="0" bIns="0" rtlCol="0" anchor="t"/>
          <a:lstStyle/>
          <a:p>
            <a:pPr indent="0" marL="0">
              <a:buNone/>
            </a:pPr>
            <a:r>
              <a:rPr lang="en-US" sz="1300" dirty="0">
                <a:solidFill>
                  <a:schemeClr val="tx1"/>
                </a:solidFill>
              </a:rPr>
              <a:t>tests unitaires, d'intégration avec WebApplicationFactory, et de composants Blazor</a:t>
            </a:r>
            <a:endParaRPr lang="en-US" sz="1300" dirty="0"/>
          </a:p>
        </p:txBody>
      </p:sp>
      <p:sp>
        <p:nvSpPr>
          <p:cNvPr id="8" name="Pastille SQL Server réel"/>
          <p:cNvSpPr/>
          <p:nvPr/>
        </p:nvSpPr>
        <p:spPr>
          <a:xfrm>
            <a:off x="7680960" y="2971800"/>
            <a:ext cx="822960" cy="712704"/>
          </a:xfrm>
          <a:custGeom>
            <a:avLst/>
            <a:gdLst/>
            <a:ahLst/>
            <a:cxnLst/>
            <a:rect l="l" t="t" r="r" b="b"/>
            <a:pathLst>
              <a:path w="822960" h="712704">
                <a:moveTo>
                  <a:pt x="0" y="356352"/>
                </a:moveTo>
                <a:lnTo>
                  <a:pt x="205740" y="0"/>
                </a:lnTo>
                <a:lnTo>
                  <a:pt x="617220" y="0"/>
                </a:lnTo>
                <a:lnTo>
                  <a:pt x="822960" y="356352"/>
                </a:lnTo>
                <a:lnTo>
                  <a:pt x="617220" y="712704"/>
                </a:lnTo>
                <a:lnTo>
                  <a:pt x="205740" y="712704"/>
                </a:lnTo>
                <a:close/>
              </a:path>
            </a:pathLst>
          </a:custGeom>
          <a:solidFill>
            <a:srgbClr val="0040FF"/>
          </a:solidFill>
          <a:ln w="12700">
            <a:solidFill>
              <a:srgbClr val="0040FF">
                <a:alpha val="0"/>
              </a:srgbClr>
            </a:solidFill>
            <a:prstDash val="solid"/>
          </a:ln>
        </p:spPr>
      </p:sp>
      <p:pic>
        <p:nvPicPr>
          <p:cNvPr id="9" name="Icône SQL Server réel" descr="SQL Server réel">    </p:cNvPr>
          <p:cNvPicPr>
            <a:picLocks noChangeAspect="1"/>
          </p:cNvPicPr>
          <p:nvPr/>
        </p:nvPicPr>
        <p:blipFill>
          <a:blip r:embed="rId3"/>
          <a:stretch>
            <a:fillRect/>
          </a:stretch>
        </p:blipFill>
        <p:spPr>
          <a:xfrm>
            <a:off x="7909560" y="3136392"/>
            <a:ext cx="365760" cy="365760"/>
          </a:xfrm>
          <a:prstGeom prst="rect">
            <a:avLst/>
          </a:prstGeom>
        </p:spPr>
      </p:pic>
      <p:sp>
        <p:nvSpPr>
          <p:cNvPr id="10" name="Titre SQL Server réel"/>
          <p:cNvSpPr txBox="1"/>
          <p:nvPr/>
        </p:nvSpPr>
        <p:spPr>
          <a:xfrm>
            <a:off x="8686800" y="2926080"/>
            <a:ext cx="2971800" cy="365760"/>
          </a:xfrm>
          <a:prstGeom prst="rect">
            <a:avLst/>
          </a:prstGeom>
          <a:noFill/>
          <a:ln/>
        </p:spPr>
        <p:txBody>
          <a:bodyPr wrap="square" lIns="0" tIns="0" rIns="0" bIns="0" rtlCol="0" anchor="t"/>
          <a:lstStyle/>
          <a:p>
            <a:pPr indent="0" marL="0">
              <a:buNone/>
            </a:pPr>
            <a:r>
              <a:rPr lang="en-US" sz="1600" b="1" dirty="0">
                <a:solidFill>
                  <a:schemeClr val="tx2"/>
                </a:solidFill>
              </a:rPr>
              <a:t>SQL Server réel</a:t>
            </a:r>
            <a:endParaRPr lang="en-US" sz="1600" dirty="0"/>
          </a:p>
        </p:txBody>
      </p:sp>
      <p:sp>
        <p:nvSpPr>
          <p:cNvPr id="11" name="Détail SQL Server réel"/>
          <p:cNvSpPr txBox="1"/>
          <p:nvPr/>
        </p:nvSpPr>
        <p:spPr>
          <a:xfrm>
            <a:off x="8686800" y="3319272"/>
            <a:ext cx="2971800" cy="914400"/>
          </a:xfrm>
          <a:prstGeom prst="rect">
            <a:avLst/>
          </a:prstGeom>
          <a:noFill/>
          <a:ln/>
        </p:spPr>
        <p:txBody>
          <a:bodyPr wrap="square" lIns="0" tIns="0" rIns="0" bIns="0" rtlCol="0" anchor="t"/>
          <a:lstStyle/>
          <a:p>
            <a:pPr indent="0" marL="0">
              <a:buNone/>
            </a:pPr>
            <a:r>
              <a:rPr lang="en-US" sz="1300" dirty="0">
                <a:solidFill>
                  <a:schemeClr val="tx1"/>
                </a:solidFill>
              </a:rPr>
              <a:t>les tests d'intégration recréent la base TicketsTests à chaque exécution</a:t>
            </a:r>
            <a:endParaRPr lang="en-US" sz="1300" dirty="0"/>
          </a:p>
        </p:txBody>
      </p:sp>
      <p:sp>
        <p:nvSpPr>
          <p:cNvPr id="12" name="Pastille Intégration continue"/>
          <p:cNvSpPr/>
          <p:nvPr/>
        </p:nvSpPr>
        <p:spPr>
          <a:xfrm>
            <a:off x="7680960" y="4480560"/>
            <a:ext cx="822960" cy="712704"/>
          </a:xfrm>
          <a:custGeom>
            <a:avLst/>
            <a:gdLst/>
            <a:ahLst/>
            <a:cxnLst/>
            <a:rect l="l" t="t" r="r" b="b"/>
            <a:pathLst>
              <a:path w="822960" h="712704">
                <a:moveTo>
                  <a:pt x="0" y="356352"/>
                </a:moveTo>
                <a:lnTo>
                  <a:pt x="205740" y="0"/>
                </a:lnTo>
                <a:lnTo>
                  <a:pt x="617220" y="0"/>
                </a:lnTo>
                <a:lnTo>
                  <a:pt x="822960" y="356352"/>
                </a:lnTo>
                <a:lnTo>
                  <a:pt x="617220" y="712704"/>
                </a:lnTo>
                <a:lnTo>
                  <a:pt x="205740" y="712704"/>
                </a:lnTo>
                <a:close/>
              </a:path>
            </a:pathLst>
          </a:custGeom>
          <a:solidFill>
            <a:srgbClr val="0040FF"/>
          </a:solidFill>
          <a:ln w="12700">
            <a:solidFill>
              <a:srgbClr val="0040FF">
                <a:alpha val="0"/>
              </a:srgbClr>
            </a:solidFill>
            <a:prstDash val="solid"/>
          </a:ln>
        </p:spPr>
      </p:sp>
      <p:pic>
        <p:nvPicPr>
          <p:cNvPr id="13" name="Icône Intégration continue" descr="Intégration continue">    </p:cNvPr>
          <p:cNvPicPr>
            <a:picLocks noChangeAspect="1"/>
          </p:cNvPicPr>
          <p:nvPr/>
        </p:nvPicPr>
        <p:blipFill>
          <a:blip r:embed="rId4"/>
          <a:stretch>
            <a:fillRect/>
          </a:stretch>
        </p:blipFill>
        <p:spPr>
          <a:xfrm>
            <a:off x="7909560" y="4645152"/>
            <a:ext cx="365760" cy="365760"/>
          </a:xfrm>
          <a:prstGeom prst="rect">
            <a:avLst/>
          </a:prstGeom>
        </p:spPr>
      </p:pic>
      <p:sp>
        <p:nvSpPr>
          <p:cNvPr id="14" name="Titre Intégration continue"/>
          <p:cNvSpPr txBox="1"/>
          <p:nvPr/>
        </p:nvSpPr>
        <p:spPr>
          <a:xfrm>
            <a:off x="8686800" y="4434840"/>
            <a:ext cx="2971800" cy="365760"/>
          </a:xfrm>
          <a:prstGeom prst="rect">
            <a:avLst/>
          </a:prstGeom>
          <a:noFill/>
          <a:ln/>
        </p:spPr>
        <p:txBody>
          <a:bodyPr wrap="square" lIns="0" tIns="0" rIns="0" bIns="0" rtlCol="0" anchor="t"/>
          <a:lstStyle/>
          <a:p>
            <a:pPr indent="0" marL="0">
              <a:buNone/>
            </a:pPr>
            <a:r>
              <a:rPr lang="en-US" sz="1600" b="1" dirty="0">
                <a:solidFill>
                  <a:schemeClr val="tx2"/>
                </a:solidFill>
              </a:rPr>
              <a:t>Intégration continue</a:t>
            </a:r>
            <a:endParaRPr lang="en-US" sz="1600" dirty="0"/>
          </a:p>
        </p:txBody>
      </p:sp>
      <p:sp>
        <p:nvSpPr>
          <p:cNvPr id="15" name="Détail Intégration continue"/>
          <p:cNvSpPr txBox="1"/>
          <p:nvPr/>
        </p:nvSpPr>
        <p:spPr>
          <a:xfrm>
            <a:off x="8686800" y="4828032"/>
            <a:ext cx="2971800" cy="914400"/>
          </a:xfrm>
          <a:prstGeom prst="rect">
            <a:avLst/>
          </a:prstGeom>
          <a:noFill/>
          <a:ln/>
        </p:spPr>
        <p:txBody>
          <a:bodyPr wrap="square" lIns="0" tIns="0" rIns="0" bIns="0" rtlCol="0" anchor="t"/>
          <a:lstStyle/>
          <a:p>
            <a:pPr indent="0" marL="0">
              <a:buNone/>
            </a:pPr>
            <a:r>
              <a:rPr lang="en-US" sz="1300" dirty="0">
                <a:solidFill>
                  <a:schemeClr val="tx1"/>
                </a:solidFill>
              </a:rPr>
              <a:t>chaque départ compile, chaque solution passe, à chaque push</a:t>
            </a:r>
            <a:endParaRPr lang="en-US" sz="1300" dirty="0"/>
          </a:p>
        </p:txBody>
      </p:sp>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rPr>
              <a:t>Et après la semaine ?</a:t>
            </a:r>
            <a:endParaRPr lang="en-US" sz="3000" dirty="0"/>
          </a:p>
        </p:txBody>
      </p:sp>
      <p:sp>
        <p:nvSpPr>
          <p:cNvPr id="3" name="Carte Les bonnes pratiques 3B Studio"/>
          <p:cNvSpPr/>
          <p:nvPr/>
        </p:nvSpPr>
        <p:spPr>
          <a:xfrm>
            <a:off x="548640" y="1463040"/>
            <a:ext cx="3611880" cy="3291840"/>
          </a:xfrm>
          <a:prstGeom prst="roundRect">
            <a:avLst>
              <a:gd name="adj" fmla="val 3333"/>
            </a:avLst>
          </a:prstGeom>
          <a:solidFill>
            <a:schemeClr val="tx2"/>
          </a:solidFill>
          <a:ln w="12700">
            <a:solidFill>
              <a:srgbClr val="000057"/>
            </a:solidFill>
            <a:prstDash val="solid"/>
          </a:ln>
        </p:spPr>
      </p:sp>
      <p:sp>
        <p:nvSpPr>
          <p:cNvPr id="4" name="Pastille Les bonnes pratiques 3B Studio"/>
          <p:cNvSpPr/>
          <p:nvPr/>
        </p:nvSpPr>
        <p:spPr>
          <a:xfrm>
            <a:off x="868680" y="1783080"/>
            <a:ext cx="1005840" cy="871083"/>
          </a:xfrm>
          <a:custGeom>
            <a:avLst/>
            <a:gdLst/>
            <a:ahLst/>
            <a:cxnLst/>
            <a:rect l="l" t="t" r="r" b="b"/>
            <a:pathLst>
              <a:path w="1005840" h="871083">
                <a:moveTo>
                  <a:pt x="0" y="435541"/>
                </a:moveTo>
                <a:lnTo>
                  <a:pt x="251460" y="0"/>
                </a:lnTo>
                <a:lnTo>
                  <a:pt x="754380" y="0"/>
                </a:lnTo>
                <a:lnTo>
                  <a:pt x="1005840" y="435541"/>
                </a:lnTo>
                <a:lnTo>
                  <a:pt x="754380" y="871083"/>
                </a:lnTo>
                <a:lnTo>
                  <a:pt x="251460" y="871083"/>
                </a:lnTo>
                <a:close/>
              </a:path>
            </a:pathLst>
          </a:custGeom>
          <a:solidFill>
            <a:srgbClr val="FFFF00"/>
          </a:solidFill>
          <a:ln w="12700">
            <a:solidFill>
              <a:srgbClr val="FFFF00">
                <a:alpha val="0"/>
              </a:srgbClr>
            </a:solidFill>
            <a:prstDash val="solid"/>
          </a:ln>
        </p:spPr>
      </p:sp>
      <p:pic>
        <p:nvPicPr>
          <p:cNvPr id="5" name="Icône Les bonnes pratiques 3B Studio" descr="Les bonnes pratiques 3B Studio">    </p:cNvPr>
          <p:cNvPicPr>
            <a:picLocks noChangeAspect="1"/>
          </p:cNvPicPr>
          <p:nvPr/>
        </p:nvPicPr>
        <p:blipFill>
          <a:blip r:embed="rId1"/>
          <a:stretch>
            <a:fillRect/>
          </a:stretch>
        </p:blipFill>
        <p:spPr>
          <a:xfrm>
            <a:off x="1143000" y="1984248"/>
            <a:ext cx="457200" cy="457200"/>
          </a:xfrm>
          <a:prstGeom prst="rect">
            <a:avLst/>
          </a:prstGeom>
        </p:spPr>
      </p:pic>
      <p:sp>
        <p:nvSpPr>
          <p:cNvPr id="6" name="Titre Les bonnes pratiques 3B Studio"/>
          <p:cNvSpPr txBox="1"/>
          <p:nvPr/>
        </p:nvSpPr>
        <p:spPr>
          <a:xfrm>
            <a:off x="868680" y="2834640"/>
            <a:ext cx="3017520" cy="731520"/>
          </a:xfrm>
          <a:prstGeom prst="rect">
            <a:avLst/>
          </a:prstGeom>
          <a:noFill/>
          <a:ln/>
        </p:spPr>
        <p:txBody>
          <a:bodyPr wrap="square" lIns="0" tIns="0" rIns="0" bIns="0" rtlCol="0" anchor="t"/>
          <a:lstStyle/>
          <a:p>
            <a:pPr indent="0" marL="0">
              <a:buNone/>
            </a:pPr>
            <a:r>
              <a:rPr lang="en-US" sz="1800" b="1" dirty="0">
                <a:solidFill>
                  <a:schemeClr val="accent2"/>
                </a:solidFill>
              </a:rPr>
              <a:t>Les bonnes pratiques 3B Studio</a:t>
            </a:r>
            <a:endParaRPr lang="en-US" sz="1800" dirty="0"/>
          </a:p>
        </p:txBody>
      </p:sp>
      <p:sp>
        <p:nvSpPr>
          <p:cNvPr id="7" name="Détail Les bonnes pratiques 3B Studio"/>
          <p:cNvSpPr txBox="1"/>
          <p:nvPr/>
        </p:nvSpPr>
        <p:spPr>
          <a:xfrm>
            <a:off x="868680" y="3566160"/>
            <a:ext cx="3017520" cy="1097280"/>
          </a:xfrm>
          <a:prstGeom prst="rect">
            <a:avLst/>
          </a:prstGeom>
          <a:noFill/>
          <a:ln/>
        </p:spPr>
        <p:txBody>
          <a:bodyPr wrap="square" lIns="0" tIns="0" rIns="0" bIns="0" rtlCol="0" anchor="t"/>
          <a:lstStyle/>
          <a:p>
            <a:pPr indent="0" marL="0">
              <a:buNone/>
            </a:pPr>
            <a:r>
              <a:rPr lang="en-US" sz="1400" dirty="0">
                <a:solidFill>
                  <a:schemeClr val="bg1"/>
                </a:solidFill>
              </a:rPr>
              <a:t>Nos conventions, notre architecture, notre façon de livrer et nos composants Blazor : un module à venir.</a:t>
            </a:r>
            <a:endParaRPr lang="en-US" sz="1400" dirty="0"/>
          </a:p>
        </p:txBody>
      </p:sp>
      <p:sp>
        <p:nvSpPr>
          <p:cNvPr id="8" name="Carte Les anomalies sur nos applis"/>
          <p:cNvSpPr/>
          <p:nvPr/>
        </p:nvSpPr>
        <p:spPr>
          <a:xfrm>
            <a:off x="4297680" y="1463040"/>
            <a:ext cx="3611880" cy="3291840"/>
          </a:xfrm>
          <a:prstGeom prst="roundRect">
            <a:avLst>
              <a:gd name="adj" fmla="val 3333"/>
            </a:avLst>
          </a:prstGeom>
          <a:solidFill>
            <a:schemeClr val="bg2"/>
          </a:solidFill>
          <a:ln w="12700">
            <a:solidFill>
              <a:srgbClr val="E1EAF1"/>
            </a:solidFill>
            <a:prstDash val="solid"/>
          </a:ln>
        </p:spPr>
      </p:sp>
      <p:sp>
        <p:nvSpPr>
          <p:cNvPr id="9" name="Pastille Les anomalies sur nos applis"/>
          <p:cNvSpPr/>
          <p:nvPr/>
        </p:nvSpPr>
        <p:spPr>
          <a:xfrm>
            <a:off x="4617720" y="1783080"/>
            <a:ext cx="1005840" cy="871083"/>
          </a:xfrm>
          <a:custGeom>
            <a:avLst/>
            <a:gdLst/>
            <a:ahLst/>
            <a:cxnLst/>
            <a:rect l="l" t="t" r="r" b="b"/>
            <a:pathLst>
              <a:path w="1005840" h="871083">
                <a:moveTo>
                  <a:pt x="0" y="435541"/>
                </a:moveTo>
                <a:lnTo>
                  <a:pt x="251460" y="0"/>
                </a:lnTo>
                <a:lnTo>
                  <a:pt x="754380" y="0"/>
                </a:lnTo>
                <a:lnTo>
                  <a:pt x="1005840" y="435541"/>
                </a:lnTo>
                <a:lnTo>
                  <a:pt x="754380" y="871083"/>
                </a:lnTo>
                <a:lnTo>
                  <a:pt x="251460" y="871083"/>
                </a:lnTo>
                <a:close/>
              </a:path>
            </a:pathLst>
          </a:custGeom>
          <a:solidFill>
            <a:srgbClr val="0040FF"/>
          </a:solidFill>
          <a:ln w="12700">
            <a:solidFill>
              <a:srgbClr val="0040FF">
                <a:alpha val="0"/>
              </a:srgbClr>
            </a:solidFill>
            <a:prstDash val="solid"/>
          </a:ln>
        </p:spPr>
      </p:sp>
      <p:pic>
        <p:nvPicPr>
          <p:cNvPr id="10" name="Icône Les anomalies sur nos applis" descr="Les anomalies sur nos applis">    </p:cNvPr>
          <p:cNvPicPr>
            <a:picLocks noChangeAspect="1"/>
          </p:cNvPicPr>
          <p:nvPr/>
        </p:nvPicPr>
        <p:blipFill>
          <a:blip r:embed="rId2"/>
          <a:stretch>
            <a:fillRect/>
          </a:stretch>
        </p:blipFill>
        <p:spPr>
          <a:xfrm>
            <a:off x="4892040" y="1984248"/>
            <a:ext cx="457200" cy="457200"/>
          </a:xfrm>
          <a:prstGeom prst="rect">
            <a:avLst/>
          </a:prstGeom>
        </p:spPr>
      </p:pic>
      <p:sp>
        <p:nvSpPr>
          <p:cNvPr id="11" name="Titre Les anomalies sur nos applis"/>
          <p:cNvSpPr txBox="1"/>
          <p:nvPr/>
        </p:nvSpPr>
        <p:spPr>
          <a:xfrm>
            <a:off x="4617720" y="2834640"/>
            <a:ext cx="3017520" cy="731520"/>
          </a:xfrm>
          <a:prstGeom prst="rect">
            <a:avLst/>
          </a:prstGeom>
          <a:noFill/>
          <a:ln/>
        </p:spPr>
        <p:txBody>
          <a:bodyPr wrap="square" lIns="0" tIns="0" rIns="0" bIns="0" rtlCol="0" anchor="t"/>
          <a:lstStyle/>
          <a:p>
            <a:pPr indent="0" marL="0">
              <a:buNone/>
            </a:pPr>
            <a:r>
              <a:rPr lang="en-US" sz="1800" b="1" dirty="0">
                <a:solidFill>
                  <a:schemeClr val="tx2"/>
                </a:solidFill>
              </a:rPr>
              <a:t>Les anomalies sur nos applis</a:t>
            </a:r>
            <a:endParaRPr lang="en-US" sz="1800" dirty="0"/>
          </a:p>
        </p:txBody>
      </p:sp>
      <p:sp>
        <p:nvSpPr>
          <p:cNvPr id="12" name="Détail Les anomalies sur nos applis"/>
          <p:cNvSpPr txBox="1"/>
          <p:nvPr/>
        </p:nvSpPr>
        <p:spPr>
          <a:xfrm>
            <a:off x="4617720" y="3566160"/>
            <a:ext cx="3017520" cy="1097280"/>
          </a:xfrm>
          <a:prstGeom prst="rect">
            <a:avLst/>
          </a:prstGeom>
          <a:noFill/>
          <a:ln/>
        </p:spPr>
        <p:txBody>
          <a:bodyPr wrap="square" lIns="0" tIns="0" rIns="0" bIns="0" rtlCol="0" anchor="t"/>
          <a:lstStyle/>
          <a:p>
            <a:pPr indent="0" marL="0">
              <a:buNone/>
            </a:pPr>
            <a:r>
              <a:rPr lang="en-US" sz="1400" dirty="0">
                <a:solidFill>
                  <a:schemeClr val="tx1"/>
                </a:solidFill>
              </a:rPr>
              <a:t>L'après-midi continue : le débogueur, les logs et Aspire deviennent des réflexes.</a:t>
            </a:r>
            <a:endParaRPr lang="en-US" sz="1400" dirty="0"/>
          </a:p>
        </p:txBody>
      </p:sp>
      <p:sp>
        <p:nvSpPr>
          <p:cNvPr id="13" name="Carte Suivre .NET"/>
          <p:cNvSpPr/>
          <p:nvPr/>
        </p:nvSpPr>
        <p:spPr>
          <a:xfrm>
            <a:off x="8046720" y="1463040"/>
            <a:ext cx="3611880" cy="3291840"/>
          </a:xfrm>
          <a:prstGeom prst="roundRect">
            <a:avLst>
              <a:gd name="adj" fmla="val 3333"/>
            </a:avLst>
          </a:prstGeom>
          <a:solidFill>
            <a:schemeClr val="bg2"/>
          </a:solidFill>
          <a:ln w="12700">
            <a:solidFill>
              <a:srgbClr val="E1EAF1"/>
            </a:solidFill>
            <a:prstDash val="solid"/>
          </a:ln>
        </p:spPr>
      </p:sp>
      <p:sp>
        <p:nvSpPr>
          <p:cNvPr id="14" name="Pastille Suivre .NET"/>
          <p:cNvSpPr/>
          <p:nvPr/>
        </p:nvSpPr>
        <p:spPr>
          <a:xfrm>
            <a:off x="8366760" y="1783080"/>
            <a:ext cx="1005840" cy="871083"/>
          </a:xfrm>
          <a:custGeom>
            <a:avLst/>
            <a:gdLst/>
            <a:ahLst/>
            <a:cxnLst/>
            <a:rect l="l" t="t" r="r" b="b"/>
            <a:pathLst>
              <a:path w="1005840" h="871083">
                <a:moveTo>
                  <a:pt x="0" y="435541"/>
                </a:moveTo>
                <a:lnTo>
                  <a:pt x="251460" y="0"/>
                </a:lnTo>
                <a:lnTo>
                  <a:pt x="754380" y="0"/>
                </a:lnTo>
                <a:lnTo>
                  <a:pt x="1005840" y="435541"/>
                </a:lnTo>
                <a:lnTo>
                  <a:pt x="754380" y="871083"/>
                </a:lnTo>
                <a:lnTo>
                  <a:pt x="251460" y="871083"/>
                </a:lnTo>
                <a:close/>
              </a:path>
            </a:pathLst>
          </a:custGeom>
          <a:solidFill>
            <a:srgbClr val="0040FF"/>
          </a:solidFill>
          <a:ln w="12700">
            <a:solidFill>
              <a:srgbClr val="0040FF">
                <a:alpha val="0"/>
              </a:srgbClr>
            </a:solidFill>
            <a:prstDash val="solid"/>
          </a:ln>
        </p:spPr>
      </p:sp>
      <p:pic>
        <p:nvPicPr>
          <p:cNvPr id="15" name="Icône Suivre .NET" descr="Suivre .NET">    </p:cNvPr>
          <p:cNvPicPr>
            <a:picLocks noChangeAspect="1"/>
          </p:cNvPicPr>
          <p:nvPr/>
        </p:nvPicPr>
        <p:blipFill>
          <a:blip r:embed="rId3"/>
          <a:stretch>
            <a:fillRect/>
          </a:stretch>
        </p:blipFill>
        <p:spPr>
          <a:xfrm>
            <a:off x="8641080" y="1984248"/>
            <a:ext cx="457200" cy="457200"/>
          </a:xfrm>
          <a:prstGeom prst="rect">
            <a:avLst/>
          </a:prstGeom>
        </p:spPr>
      </p:pic>
      <p:sp>
        <p:nvSpPr>
          <p:cNvPr id="16" name="Titre Suivre .NET"/>
          <p:cNvSpPr txBox="1"/>
          <p:nvPr/>
        </p:nvSpPr>
        <p:spPr>
          <a:xfrm>
            <a:off x="8366760" y="2834640"/>
            <a:ext cx="3017520" cy="731520"/>
          </a:xfrm>
          <a:prstGeom prst="rect">
            <a:avLst/>
          </a:prstGeom>
          <a:noFill/>
          <a:ln/>
        </p:spPr>
        <p:txBody>
          <a:bodyPr wrap="square" lIns="0" tIns="0" rIns="0" bIns="0" rtlCol="0" anchor="t"/>
          <a:lstStyle/>
          <a:p>
            <a:pPr indent="0" marL="0">
              <a:buNone/>
            </a:pPr>
            <a:r>
              <a:rPr lang="en-US" sz="1800" b="1" dirty="0">
                <a:solidFill>
                  <a:schemeClr val="tx2"/>
                </a:solidFill>
              </a:rPr>
              <a:t>Suivre .NET</a:t>
            </a:r>
            <a:endParaRPr lang="en-US" sz="1800" dirty="0"/>
          </a:p>
        </p:txBody>
      </p:sp>
      <p:sp>
        <p:nvSpPr>
          <p:cNvPr id="17" name="Détail Suivre .NET"/>
          <p:cNvSpPr txBox="1"/>
          <p:nvPr/>
        </p:nvSpPr>
        <p:spPr>
          <a:xfrm>
            <a:off x="8366760" y="3566160"/>
            <a:ext cx="3017520" cy="1097280"/>
          </a:xfrm>
          <a:prstGeom prst="rect">
            <a:avLst/>
          </a:prstGeom>
          <a:noFill/>
          <a:ln/>
        </p:spPr>
        <p:txBody>
          <a:bodyPr wrap="square" lIns="0" tIns="0" rIns="0" bIns="0" rtlCol="0" anchor="t"/>
          <a:lstStyle/>
          <a:p>
            <a:pPr indent="0" marL="0">
              <a:buNone/>
            </a:pPr>
            <a:r>
              <a:rPr lang="en-US" sz="1400" dirty="0">
                <a:solidFill>
                  <a:schemeClr val="tx1"/>
                </a:solidFill>
              </a:rPr>
              <a:t>What's new in .NET 11 et C# 15 sur Microsoft Learn, le blog .NET, la .NET Conf en novembre.</a:t>
            </a:r>
            <a:endParaRPr lang="en-US" sz="1400" dirty="0"/>
          </a:p>
        </p:txBody>
      </p:sp>
      <p:pic>
        <p:nvPicPr>
          <p:cNvPr id="18" name="Accroche" descr="À vous de jouer">    </p:cNvPr>
          <p:cNvPicPr>
            <a:picLocks noChangeAspect="1"/>
          </p:cNvPicPr>
          <p:nvPr/>
        </p:nvPicPr>
        <p:blipFill>
          <a:blip r:embed="rId4"/>
          <a:stretch>
            <a:fillRect/>
          </a:stretch>
        </p:blipFill>
        <p:spPr>
          <a:xfrm>
            <a:off x="7680960" y="5029200"/>
            <a:ext cx="3474720" cy="1069803"/>
          </a:xfrm>
          <a:prstGeom prst="rect">
            <a:avLst/>
          </a:prstGeom>
        </p:spPr>
      </p:pic>
      <p:sp>
        <p:nvSpPr>
          <p:cNvPr id="25" name="Slide Number Placeholder 0"/>
          <p:cNvSpPr>
            <a:spLocks noGrp="1"/>
          </p:cNvSpPr>
          <p:nvPr>
            <p:ph type="sldNum" sz="quarter" idx="4294967295"/>
          </p:nvPr>
        </p:nvSpPr>
        <p:spPr>
          <a:xfrm>
            <a:off x="10972800" y="635508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766560" cy="1097280"/>
          </a:xfrm>
          <a:prstGeom prst="rect">
            <a:avLst/>
          </a:prstGeom>
          <a:noFill/>
          <a:ln/>
        </p:spPr>
        <p:txBody>
          <a:bodyPr wrap="square" lIns="0" tIns="0" rIns="0" bIns="0" rtlCol="0" anchor="ctr"/>
          <a:lstStyle/>
          <a:p>
            <a:pPr algn="l" indent="0" marL="0">
              <a:buNone/>
            </a:pPr>
            <a:r>
              <a:rPr lang="en-US" sz="4800" b="1" dirty="0">
                <a:solidFill>
                  <a:schemeClr val="bg1"/>
                </a:solidFill>
              </a:rPr>
              <a:t>Des questions ?</a:t>
            </a:r>
            <a:endParaRPr lang="en-US" sz="4800" dirty="0"/>
          </a:p>
        </p:txBody>
      </p:sp>
      <p:pic>
        <p:nvPicPr>
          <p:cNvPr id="3" name="Accroche" descr="What else ?">    </p:cNvPr>
          <p:cNvPicPr>
            <a:picLocks noChangeAspect="1"/>
          </p:cNvPicPr>
          <p:nvPr/>
        </p:nvPicPr>
        <p:blipFill>
          <a:blip r:embed="rId1"/>
          <a:stretch>
            <a:fillRect/>
          </a:stretch>
        </p:blipFill>
        <p:spPr>
          <a:xfrm>
            <a:off x="685800" y="3200400"/>
            <a:ext cx="3291840" cy="922084"/>
          </a:xfrm>
          <a:prstGeom prst="rect">
            <a:avLst/>
          </a:prstGeom>
        </p:spPr>
      </p:pic>
      <p:sp>
        <p:nvSpPr>
          <p:cNvPr id="4" name="Text 0"/>
          <p:cNvSpPr/>
          <p:nvPr>
            <p:ph idx="101" type="body" hasCustomPrompt="1"/>
          </p:nvPr>
        </p:nvSpPr>
        <p:spPr>
          <a:xfrm>
            <a:off x="731520" y="4343400"/>
            <a:ext cx="6400800" cy="1188720"/>
          </a:xfrm>
          <a:prstGeom prst="rect">
            <a:avLst/>
          </a:prstGeom>
          <a:noFill/>
          <a:ln/>
        </p:spPr>
        <p:txBody>
          <a:bodyPr wrap="square" lIns="0" tIns="0" rIns="0" bIns="0" rtlCol="0" anchor="t"/>
          <a:lstStyle/>
          <a:p>
            <a:pPr algn="l" indent="0" marL="0">
              <a:buNone/>
            </a:pPr>
            <a:r>
              <a:rPr lang="en-US" sz="1600" dirty="0">
                <a:solidFill>
                  <a:schemeClr val="bg2"/>
                </a:solidFill>
              </a:rPr>
              <a:t>Tout est dans le dépôt Tp.Net : index.html pour commencer, un enonce.html par TP, et solution/ pour comparer.</a:t>
            </a:r>
            <a:endParaRPr lang="en-US" sz="1600" dirty="0"/>
          </a:p>
        </p:txBody>
      </p:sp>
      <p:sp>
        <p:nvSpPr>
          <p:cNvPr id="5" name="Hexagone décoratif"/>
          <p:cNvSpPr/>
          <p:nvPr/>
        </p:nvSpPr>
        <p:spPr>
          <a:xfrm>
            <a:off x="10058400" y="274320"/>
            <a:ext cx="2011680" cy="1742166"/>
          </a:xfrm>
          <a:custGeom>
            <a:avLst/>
            <a:gdLst/>
            <a:ahLst/>
            <a:cxnLst/>
            <a:rect l="l" t="t" r="r" b="b"/>
            <a:pathLst>
              <a:path w="2011680" h="1742166">
                <a:moveTo>
                  <a:pt x="0" y="871083"/>
                </a:moveTo>
                <a:lnTo>
                  <a:pt x="502920" y="0"/>
                </a:lnTo>
                <a:lnTo>
                  <a:pt x="1508760" y="0"/>
                </a:lnTo>
                <a:lnTo>
                  <a:pt x="2011680" y="871083"/>
                </a:lnTo>
                <a:lnTo>
                  <a:pt x="1508760" y="1742166"/>
                </a:lnTo>
                <a:lnTo>
                  <a:pt x="502920" y="1742166"/>
                </a:lnTo>
                <a:close/>
              </a:path>
            </a:pathLst>
          </a:custGeom>
          <a:solidFill>
            <a:srgbClr val="000D78">
              <a:alpha val="90000"/>
            </a:srgbClr>
          </a:solidFill>
          <a:ln w="12700">
            <a:solidFill>
              <a:srgbClr val="000D78">
                <a:alpha val="0"/>
              </a:srgbClr>
            </a:solidFill>
            <a:prstDash val="solid"/>
          </a:ln>
        </p:spPr>
      </p:sp>
      <p:sp>
        <p:nvSpPr>
          <p:cNvPr id="6" name="Hexagone décoratif"/>
          <p:cNvSpPr/>
          <p:nvPr/>
        </p:nvSpPr>
        <p:spPr>
          <a:xfrm>
            <a:off x="11155680" y="2103120"/>
            <a:ext cx="1463040" cy="1267030"/>
          </a:xfrm>
          <a:custGeom>
            <a:avLst/>
            <a:gdLst/>
            <a:ahLst/>
            <a:cxnLst/>
            <a:rect l="l" t="t" r="r" b="b"/>
            <a:pathLst>
              <a:path w="1463040" h="1267030">
                <a:moveTo>
                  <a:pt x="0" y="633515"/>
                </a:moveTo>
                <a:lnTo>
                  <a:pt x="365760" y="0"/>
                </a:lnTo>
                <a:lnTo>
                  <a:pt x="1097280" y="0"/>
                </a:lnTo>
                <a:lnTo>
                  <a:pt x="1463040" y="633515"/>
                </a:lnTo>
                <a:lnTo>
                  <a:pt x="1097280" y="1267030"/>
                </a:lnTo>
                <a:lnTo>
                  <a:pt x="365760" y="1267030"/>
                </a:lnTo>
                <a:close/>
              </a:path>
            </a:pathLst>
          </a:custGeom>
          <a:solidFill>
            <a:srgbClr val="001793">
              <a:alpha val="65000"/>
            </a:srgbClr>
          </a:solidFill>
          <a:ln w="12700">
            <a:solidFill>
              <a:srgbClr val="001793">
                <a:alpha val="0"/>
              </a:srgbClr>
            </a:solidFill>
            <a:prstDash val="solid"/>
          </a:ln>
        </p:spPr>
      </p:sp>
      <p:sp>
        <p:nvSpPr>
          <p:cNvPr id="7" name="Hexagone décoratif"/>
          <p:cNvSpPr/>
          <p:nvPr/>
        </p:nvSpPr>
        <p:spPr>
          <a:xfrm>
            <a:off x="9509760" y="4754880"/>
            <a:ext cx="1188720" cy="1029462"/>
          </a:xfrm>
          <a:custGeom>
            <a:avLst/>
            <a:gdLst/>
            <a:ahLst/>
            <a:cxnLst/>
            <a:rect l="l" t="t" r="r" b="b"/>
            <a:pathLst>
              <a:path w="1188720" h="1029462">
                <a:moveTo>
                  <a:pt x="0" y="514731"/>
                </a:moveTo>
                <a:lnTo>
                  <a:pt x="297180" y="0"/>
                </a:lnTo>
                <a:lnTo>
                  <a:pt x="891540" y="0"/>
                </a:lnTo>
                <a:lnTo>
                  <a:pt x="1188720" y="514731"/>
                </a:lnTo>
                <a:lnTo>
                  <a:pt x="891540" y="1029462"/>
                </a:lnTo>
                <a:lnTo>
                  <a:pt x="297180" y="1029462"/>
                </a:lnTo>
                <a:close/>
              </a:path>
            </a:pathLst>
          </a:custGeom>
          <a:solidFill>
            <a:srgbClr val="001793">
              <a:alpha val="50000"/>
            </a:srgbClr>
          </a:solidFill>
          <a:ln w="12700">
            <a:solidFill>
              <a:srgbClr val="001793">
                <a:alpha val="0"/>
              </a:srgbClr>
            </a:solidFill>
            <a:prstDash val="solid"/>
          </a:ln>
        </p:spPr>
      </p:sp>
      <p:sp>
        <p:nvSpPr>
          <p:cNvPr id="8" name="Hexagone jaune"/>
          <p:cNvSpPr/>
          <p:nvPr/>
        </p:nvSpPr>
        <p:spPr>
          <a:xfrm>
            <a:off x="10881360" y="5257800"/>
            <a:ext cx="685800" cy="593920"/>
          </a:xfrm>
          <a:custGeom>
            <a:avLst/>
            <a:gdLst/>
            <a:ahLst/>
            <a:cxnLst/>
            <a:rect l="l" t="t" r="r" b="b"/>
            <a:pathLst>
              <a:path w="685800" h="593920">
                <a:moveTo>
                  <a:pt x="0" y="296960"/>
                </a:moveTo>
                <a:lnTo>
                  <a:pt x="171450" y="0"/>
                </a:lnTo>
                <a:lnTo>
                  <a:pt x="514350" y="0"/>
                </a:lnTo>
                <a:lnTo>
                  <a:pt x="685800" y="296960"/>
                </a:lnTo>
                <a:lnTo>
                  <a:pt x="514350" y="593920"/>
                </a:lnTo>
                <a:lnTo>
                  <a:pt x="171450" y="593920"/>
                </a:lnTo>
                <a:close/>
              </a:path>
            </a:pathLst>
          </a:custGeom>
          <a:solidFill>
            <a:srgbClr val="FFFF00"/>
          </a:solidFill>
          <a:ln w="12700">
            <a:solidFill>
              <a:srgbClr val="FFFF00">
                <a:alpha val="0"/>
              </a:srgbClr>
            </a:solidFill>
            <a:prstDash val="solid"/>
          </a:ln>
        </p:spPr>
      </p:sp>
      <p:pic>
        <p:nvPicPr>
          <p:cNvPr id="9" name="Logo" descr="Logo 3B Studio">    </p:cNvPr>
          <p:cNvPicPr>
            <a:picLocks noChangeAspect="1"/>
          </p:cNvPicPr>
          <p:nvPr/>
        </p:nvPicPr>
        <p:blipFill>
          <a:blip r:embed="rId2"/>
          <a:stretch>
            <a:fillRect/>
          </a:stretch>
        </p:blipFill>
        <p:spPr>
          <a:xfrm>
            <a:off x="7315200" y="2148840"/>
            <a:ext cx="2560320" cy="2007291"/>
          </a:xfrm>
          <a:prstGeom prst="rect">
            <a:avLst/>
          </a:prstGeom>
        </p:spPr>
      </p:pic>
    </p:spTree>
  </p:cSld>
  <p:clrMapOvr>
    <a:masterClrMapping/>
  </p:clrMapOvr>
</p:sld>
</file>

<file path=ppt/theme/theme1.xml><?xml version="1.0" encoding="utf-8"?>
<a:theme xmlns:a="http://schemas.openxmlformats.org/drawingml/2006/main" name="3B Studio">
  <a:themeElements>
    <a:clrScheme name="3B Studio">
      <a:dk1>
        <a:srgbClr val="110E2D"/>
      </a:dk1>
      <a:lt1>
        <a:srgbClr val="FFFFFF"/>
      </a:lt1>
      <a:dk2>
        <a:srgbClr val="000057"/>
      </a:dk2>
      <a:lt2>
        <a:srgbClr val="E1EAF1"/>
      </a:lt2>
      <a:accent1>
        <a:srgbClr val="0040FF"/>
      </a:accent1>
      <a:accent2>
        <a:srgbClr val="FFFF00"/>
      </a:accent2>
      <a:accent3>
        <a:srgbClr val="001793"/>
      </a:accent3>
      <a:accent4>
        <a:srgbClr val="000D78"/>
      </a:accent4>
      <a:accent5>
        <a:srgbClr val="00D66B"/>
      </a:accent5>
      <a:accent6>
        <a:srgbClr val="FF3749"/>
      </a:accent6>
      <a:hlink>
        <a:srgbClr val="0040FF"/>
      </a:hlink>
      <a:folHlink>
        <a:srgbClr val="000092"/>
      </a:folHlink>
    </a:clrScheme>
    <a:fontScheme name="3B Studio">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Black Blue Bees - 3B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Parcours .NET — onboarding alternant</dc:title>
  <dc:subject>PptxGenJS Presentation</dc:subject>
  <dc:creator>3B Studio</dc:creator>
  <cp:lastModifiedBy>3B Studio</cp:lastModifiedBy>
  <cp:revision>1</cp:revision>
  <dcterms:created xsi:type="dcterms:W3CDTF">2026-10-19T06:30:39Z</dcterms:created>
  <dcterms:modified xsi:type="dcterms:W3CDTF">2026-10-19T06:30:39Z</dcterms:modified>
</cp:coreProperties>
</file>