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25db093-4ea3-4996-8ad5-ad8598b4c958}">
          <p14:sldIdLst>
            <p14:sldId id="256"/>
            <p14:sldId id="257"/>
          </p14:sldIdLst>
        </p14:section>
        <p14:section name="1. La Blazor Web App" id="{a6cdf200-15f8-abe7-366b-8144116935ce}">
          <p14:sldIdLst>
            <p14:sldId id="258"/>
            <p14:sldId id="259"/>
          </p14:sldIdLst>
        </p14:section>
        <p14:section name="2. Les composants" id="{9803aad7-e566-6051-db58-32f98fef51b1}">
          <p14:sldIdLst>
            <p14:sldId id="260"/>
            <p14:sldId id="261"/>
            <p14:sldId id="262"/>
          </p14:sldIdLst>
        </p14:section>
        <p14:section name="3. Cycle de vie" id="{30bd1550-3079-8bd7-572a-55d76c8fd208}">
          <p14:sldIdLst>
            <p14:sldId id="263"/>
            <p14:sldId id="264"/>
          </p14:sldIdLst>
        </p14:section>
        <p14:section name="4. Modes de rendu" id="{da3347c0-5f11-1441-295a-9c05d674d2c0}">
          <p14:sldIdLst>
            <p14:sldId id="265"/>
            <p14:sldId id="266"/>
            <p14:sldId id="267"/>
          </p14:sldIdLst>
        </p14:section>
        <p14:section name="5. Formulaires et grilles" id="{ff863d85-9595-ffc0-cc89-ca7528c697e6}">
          <p14:sldIdLst>
            <p14:sldId id="268"/>
            <p14:sldId id="269"/>
          </p14:sldIdLst>
        </p14:section>
        <p14:section name="6. CSS et JavaScript" id="{2b30cbba-f4f7-2235-35e5-f1fbadeb2700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Blazor est l'outil de la plupart de nos applis : c'est ce cours qui sert le plus au quotidien.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suit l'ordre des sept exercices du TP-03.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projet Client n'existe que si l'appli utilise WebAssembly ou Auto. Une appli 100 % Server se contente du premier projet.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sortes de paramètres : une donnée, un événement vers le parent (EventCallback), du contenu libre (RenderFragment, ≈ children). Le @ fait passer du HTML au C#.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 besoin d'appeler StateHasChanged après un EventCallback : Blazor le fait. C'est une erreur courante d'en ajouter partout.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useEffect avec tableau vide pour OnInitializedAsync, ≈ componentDidMount pour OnAfterRender(firstRender). Le rendu ne réécrit pas tout le DOM : Blazor compare l'arbre précédent et le nouveau.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l'exercice 3. Faire remarquer que l'API est appelée deux fois par affichage : c'est le prérendu, expliqué juste après.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Server, chaque clic fait un aller-retour par la connexion SignalR : si elle coupe, l'écran se fige et Blazor tente de se reconnecter. En WebAssembly, le premier chargement télécharge quelques 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L'alternant le constate à l'exercice 3 en regardant la console de l'API. Ne pas le corriger aujourd'hui : c'est l'objet de l'exercice 5 du TP-04.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@bind-Value fait la liaison dans les deux sens. InputText valide quand le champ perd le focus. ≈ react-hook-form + zod, ou Bean Validation côté 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nos applis, on a aussi nos propres composants de grille : QuickGrid sert ici à comprendre le principe.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Dans une Blazor Web App, les fichiers du projet client sont servis à la racine du site ; dans une bibliothèque, sous _content/&lt;bibliothèque&gt;/. Libérer le module dans DisposeAsync.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le lien avec une appli 3B Studio : quel mode de rendu, et pourquoi.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L'exercice 4 se fait dans les outils de développement : WebSocket en Server, fichiers .wasm en WebAssembly.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UVERTUR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SECTION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CLOTURE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VERTU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66751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Titre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62179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Sous-titre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0" y="251460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Titre de partie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0" y="429768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Détail</a:t>
            </a:r>
            <a:endParaRPr lang="en-US" sz="1800" dirty="0"/>
          </a:p>
        </p:txBody>
      </p:sp>
      <p:pic>
        <p:nvPicPr>
          <p:cNvPr id="4" name="Image 0" descr="/tmp/claude-0/-home-user-Tp-Net/172d164e-f28f-581b-a794-ba1e7ff38c50/scratchpad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5989320"/>
            <a:ext cx="685800" cy="5376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1722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Titre</a:t>
            </a:r>
            <a:endParaRPr lang="en-US" sz="2800" dirty="0"/>
          </a:p>
        </p:txBody>
      </p:sp>
      <p:pic>
        <p:nvPicPr>
          <p:cNvPr id="3" name="Image 0" descr="/tmp/claude-0/-home-user-Tp-Net/172d164e-f28f-581b-a794-ba1e7ff38c50/scratchpad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60899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Parcours .NET · 3B Studio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TU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Titre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343400"/>
            <a:ext cx="6400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Détail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1722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rtitre"/>
          <p:cNvSpPr txBox="1"/>
          <p:nvPr/>
        </p:nvSpPr>
        <p:spPr>
          <a:xfrm>
            <a:off x="73152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COURS 3 · MERCREDI 21 OCTOBRE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4884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Blazor : les composants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9776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Des interfaces web en C#, des composants comme en React, et quatre façons de les exécuter.</a:t>
            </a:r>
            <a:endParaRPr lang="en-US" sz="1800" dirty="0"/>
          </a:p>
        </p:txBody>
      </p:sp>
      <p:sp>
        <p:nvSpPr>
          <p:cNvPr id="5" name="Hexagone décoratif"/>
          <p:cNvSpPr/>
          <p:nvPr/>
        </p:nvSpPr>
        <p:spPr>
          <a:xfrm>
            <a:off x="7863840" y="914400"/>
            <a:ext cx="1828800" cy="1583787"/>
          </a:xfrm>
          <a:custGeom>
            <a:avLst/>
            <a:gdLst/>
            <a:ahLst/>
            <a:cxnLst/>
            <a:rect l="l" t="t" r="r" b="b"/>
            <a:pathLst>
              <a:path w="1828800" h="1583787">
                <a:moveTo>
                  <a:pt x="0" y="791894"/>
                </a:moveTo>
                <a:lnTo>
                  <a:pt x="457200" y="0"/>
                </a:lnTo>
                <a:lnTo>
                  <a:pt x="1371600" y="0"/>
                </a:lnTo>
                <a:lnTo>
                  <a:pt x="1828800" y="791894"/>
                </a:lnTo>
                <a:lnTo>
                  <a:pt x="1371600" y="1583787"/>
                </a:lnTo>
                <a:lnTo>
                  <a:pt x="457200" y="1583787"/>
                </a:lnTo>
                <a:close/>
              </a:path>
            </a:pathLst>
          </a:custGeom>
          <a:solidFill>
            <a:srgbClr val="000D78">
              <a:alpha val="85000"/>
            </a:srgbClr>
          </a:solidFill>
          <a:ln w="12700">
            <a:solidFill>
              <a:srgbClr val="000D78">
                <a:alpha val="0"/>
              </a:srgbClr>
            </a:solidFill>
            <a:prstDash val="solid"/>
          </a:ln>
        </p:spPr>
      </p:sp>
      <p:sp>
        <p:nvSpPr>
          <p:cNvPr id="6" name="Hexagone décoratif"/>
          <p:cNvSpPr/>
          <p:nvPr/>
        </p:nvSpPr>
        <p:spPr>
          <a:xfrm>
            <a:off x="10424160" y="4526280"/>
            <a:ext cx="1371600" cy="1187840"/>
          </a:xfrm>
          <a:custGeom>
            <a:avLst/>
            <a:gdLst/>
            <a:ahLst/>
            <a:cxnLst/>
            <a:rect l="l" t="t" r="r" b="b"/>
            <a:pathLst>
              <a:path w="1371600" h="1187840">
                <a:moveTo>
                  <a:pt x="0" y="593920"/>
                </a:moveTo>
                <a:lnTo>
                  <a:pt x="342900" y="0"/>
                </a:lnTo>
                <a:lnTo>
                  <a:pt x="1028700" y="0"/>
                </a:lnTo>
                <a:lnTo>
                  <a:pt x="1371600" y="593920"/>
                </a:lnTo>
                <a:lnTo>
                  <a:pt x="1028700" y="1187840"/>
                </a:lnTo>
                <a:lnTo>
                  <a:pt x="342900" y="1187840"/>
                </a:lnTo>
                <a:close/>
              </a:path>
            </a:pathLst>
          </a:custGeom>
          <a:solidFill>
            <a:srgbClr val="001793">
              <a:alpha val="60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7" name="Hexagone jaune"/>
          <p:cNvSpPr/>
          <p:nvPr/>
        </p:nvSpPr>
        <p:spPr>
          <a:xfrm>
            <a:off x="7635240" y="5029200"/>
            <a:ext cx="731520" cy="633515"/>
          </a:xfrm>
          <a:custGeom>
            <a:avLst/>
            <a:gdLst/>
            <a:ahLst/>
            <a:cxnLst/>
            <a:rect l="l" t="t" r="r" b="b"/>
            <a:pathLst>
              <a:path w="731520" h="633515">
                <a:moveTo>
                  <a:pt x="0" y="316757"/>
                </a:moveTo>
                <a:lnTo>
                  <a:pt x="182880" y="0"/>
                </a:lnTo>
                <a:lnTo>
                  <a:pt x="548640" y="0"/>
                </a:lnTo>
                <a:lnTo>
                  <a:pt x="731520" y="316757"/>
                </a:lnTo>
                <a:lnTo>
                  <a:pt x="548640" y="633515"/>
                </a:lnTo>
                <a:lnTo>
                  <a:pt x="182880" y="633515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sp>
        <p:nvSpPr>
          <p:cNvPr id="8" name="Grand hexagone"/>
          <p:cNvSpPr/>
          <p:nvPr/>
        </p:nvSpPr>
        <p:spPr>
          <a:xfrm>
            <a:off x="8275320" y="1965960"/>
            <a:ext cx="3108960" cy="2692438"/>
          </a:xfrm>
          <a:custGeom>
            <a:avLst/>
            <a:gdLst/>
            <a:ahLst/>
            <a:cxnLst/>
            <a:rect l="l" t="t" r="r" b="b"/>
            <a:pathLst>
              <a:path w="3108960" h="2692438">
                <a:moveTo>
                  <a:pt x="0" y="1346219"/>
                </a:moveTo>
                <a:lnTo>
                  <a:pt x="777240" y="0"/>
                </a:lnTo>
                <a:lnTo>
                  <a:pt x="2331720" y="0"/>
                </a:lnTo>
                <a:lnTo>
                  <a:pt x="3108960" y="1346219"/>
                </a:lnTo>
                <a:lnTo>
                  <a:pt x="2331720" y="2692438"/>
                </a:lnTo>
                <a:lnTo>
                  <a:pt x="777240" y="2692438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sp>
        <p:nvSpPr>
          <p:cNvPr id="9" name="Numéro du cours"/>
          <p:cNvSpPr txBox="1"/>
          <p:nvPr/>
        </p:nvSpPr>
        <p:spPr>
          <a:xfrm>
            <a:off x="8275320" y="1965960"/>
            <a:ext cx="310896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tx2"/>
                </a:solidFill>
              </a:rPr>
              <a:t>3</a:t>
            </a:r>
            <a:endParaRPr lang="en-US" sz="8000" dirty="0"/>
          </a:p>
        </p:txBody>
      </p:sp>
      <p:pic>
        <p:nvPicPr>
          <p:cNvPr id="10" name="Logo" descr="Logo 3B Stud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349240"/>
            <a:ext cx="822960" cy="6452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Au programme</a:t>
            </a:r>
            <a:endParaRPr lang="en-US" sz="2800" dirty="0"/>
          </a:p>
        </p:txBody>
      </p:sp>
      <p:sp>
        <p:nvSpPr>
          <p:cNvPr id="3" name="Pastille 1"/>
          <p:cNvSpPr/>
          <p:nvPr/>
        </p:nvSpPr>
        <p:spPr>
          <a:xfrm>
            <a:off x="548640" y="141732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pic>
        <p:nvPicPr>
          <p:cNvPr id="4" name="Icône 1" descr="Une Blazor Web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572768"/>
            <a:ext cx="356616" cy="356616"/>
          </a:xfrm>
          <a:prstGeom prst="rect">
            <a:avLst/>
          </a:prstGeom>
        </p:spPr>
      </p:pic>
      <p:sp>
        <p:nvSpPr>
          <p:cNvPr id="5" name="Partie 1"/>
          <p:cNvSpPr txBox="1"/>
          <p:nvPr/>
        </p:nvSpPr>
        <p:spPr>
          <a:xfrm>
            <a:off x="1554480" y="14356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1. Une Blazor Web App</a:t>
            </a:r>
            <a:endParaRPr lang="en-US" sz="1800" dirty="0"/>
          </a:p>
        </p:txBody>
      </p:sp>
      <p:sp>
        <p:nvSpPr>
          <p:cNvPr id="6" name="Contenu 1"/>
          <p:cNvSpPr txBox="1"/>
          <p:nvPr/>
        </p:nvSpPr>
        <p:spPr>
          <a:xfrm>
            <a:off x="5852160" y="143560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deux projets, le routeur, les layouts</a:t>
            </a:r>
            <a:endParaRPr lang="en-US" sz="1500" dirty="0"/>
          </a:p>
        </p:txBody>
      </p:sp>
      <p:sp>
        <p:nvSpPr>
          <p:cNvPr id="7" name="Pastille 2"/>
          <p:cNvSpPr/>
          <p:nvPr/>
        </p:nvSpPr>
        <p:spPr>
          <a:xfrm>
            <a:off x="548640" y="217932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8" name="Icône 2" descr="Les composa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334768"/>
            <a:ext cx="356616" cy="356616"/>
          </a:xfrm>
          <a:prstGeom prst="rect">
            <a:avLst/>
          </a:prstGeom>
        </p:spPr>
      </p:pic>
      <p:sp>
        <p:nvSpPr>
          <p:cNvPr id="9" name="Partie 2"/>
          <p:cNvSpPr txBox="1"/>
          <p:nvPr/>
        </p:nvSpPr>
        <p:spPr>
          <a:xfrm>
            <a:off x="1554480" y="21976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2. Les composants</a:t>
            </a:r>
            <a:endParaRPr lang="en-US" sz="1800" dirty="0"/>
          </a:p>
        </p:txBody>
      </p:sp>
      <p:sp>
        <p:nvSpPr>
          <p:cNvPr id="10" name="Contenu 2"/>
          <p:cNvSpPr txBox="1"/>
          <p:nvPr/>
        </p:nvSpPr>
        <p:spPr>
          <a:xfrm>
            <a:off x="5852160" y="219760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Razor, paramètres, événements, contenu enfant</a:t>
            </a:r>
            <a:endParaRPr lang="en-US" sz="1500" dirty="0"/>
          </a:p>
        </p:txBody>
      </p:sp>
      <p:sp>
        <p:nvSpPr>
          <p:cNvPr id="11" name="Pastille 3"/>
          <p:cNvSpPr/>
          <p:nvPr/>
        </p:nvSpPr>
        <p:spPr>
          <a:xfrm>
            <a:off x="548640" y="294132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pic>
        <p:nvPicPr>
          <p:cNvPr id="12" name="Icône 3" descr="Le cycle de vi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096768"/>
            <a:ext cx="356616" cy="356616"/>
          </a:xfrm>
          <a:prstGeom prst="rect">
            <a:avLst/>
          </a:prstGeom>
        </p:spPr>
      </p:pic>
      <p:sp>
        <p:nvSpPr>
          <p:cNvPr id="13" name="Partie 3"/>
          <p:cNvSpPr txBox="1"/>
          <p:nvPr/>
        </p:nvSpPr>
        <p:spPr>
          <a:xfrm>
            <a:off x="1554480" y="29596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3. Le cycle de vie</a:t>
            </a:r>
            <a:endParaRPr lang="en-US" sz="1800" dirty="0"/>
          </a:p>
        </p:txBody>
      </p:sp>
      <p:sp>
        <p:nvSpPr>
          <p:cNvPr id="14" name="Contenu 3"/>
          <p:cNvSpPr txBox="1"/>
          <p:nvPr/>
        </p:nvSpPr>
        <p:spPr>
          <a:xfrm>
            <a:off x="5852160" y="295960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charger des données, se ré-afficher</a:t>
            </a:r>
            <a:endParaRPr lang="en-US" sz="1500" dirty="0"/>
          </a:p>
        </p:txBody>
      </p:sp>
      <p:sp>
        <p:nvSpPr>
          <p:cNvPr id="15" name="Pastille 4"/>
          <p:cNvSpPr/>
          <p:nvPr/>
        </p:nvSpPr>
        <p:spPr>
          <a:xfrm>
            <a:off x="548640" y="370332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16" name="Icône 4" descr="Les modes de rendu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858768"/>
            <a:ext cx="356616" cy="356616"/>
          </a:xfrm>
          <a:prstGeom prst="rect">
            <a:avLst/>
          </a:prstGeom>
        </p:spPr>
      </p:pic>
      <p:sp>
        <p:nvSpPr>
          <p:cNvPr id="17" name="Partie 4"/>
          <p:cNvSpPr txBox="1"/>
          <p:nvPr/>
        </p:nvSpPr>
        <p:spPr>
          <a:xfrm>
            <a:off x="1554480" y="37216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4. Les modes de rendu</a:t>
            </a:r>
            <a:endParaRPr lang="en-US" sz="1800" dirty="0"/>
          </a:p>
        </p:txBody>
      </p:sp>
      <p:sp>
        <p:nvSpPr>
          <p:cNvPr id="18" name="Contenu 4"/>
          <p:cNvSpPr txBox="1"/>
          <p:nvPr/>
        </p:nvSpPr>
        <p:spPr>
          <a:xfrm>
            <a:off x="5852160" y="372160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Static, Server, WebAssembly, Auto, et le prérendu</a:t>
            </a:r>
            <a:endParaRPr lang="en-US" sz="1500" dirty="0"/>
          </a:p>
        </p:txBody>
      </p:sp>
      <p:sp>
        <p:nvSpPr>
          <p:cNvPr id="19" name="Pastille 5"/>
          <p:cNvSpPr/>
          <p:nvPr/>
        </p:nvSpPr>
        <p:spPr>
          <a:xfrm>
            <a:off x="548640" y="446532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pic>
        <p:nvPicPr>
          <p:cNvPr id="20" name="Icône 5" descr="Formulaires et grill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620768"/>
            <a:ext cx="356616" cy="356616"/>
          </a:xfrm>
          <a:prstGeom prst="rect">
            <a:avLst/>
          </a:prstGeom>
        </p:spPr>
      </p:pic>
      <p:sp>
        <p:nvSpPr>
          <p:cNvPr id="21" name="Partie 5"/>
          <p:cNvSpPr txBox="1"/>
          <p:nvPr/>
        </p:nvSpPr>
        <p:spPr>
          <a:xfrm>
            <a:off x="1554480" y="44836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5. Formulaires et grilles</a:t>
            </a:r>
            <a:endParaRPr lang="en-US" sz="1800" dirty="0"/>
          </a:p>
        </p:txBody>
      </p:sp>
      <p:sp>
        <p:nvSpPr>
          <p:cNvPr id="22" name="Contenu 5"/>
          <p:cNvSpPr txBox="1"/>
          <p:nvPr/>
        </p:nvSpPr>
        <p:spPr>
          <a:xfrm>
            <a:off x="5852160" y="448360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EditForm, validation, QuickGrid</a:t>
            </a:r>
            <a:endParaRPr lang="en-US" sz="1500" dirty="0"/>
          </a:p>
        </p:txBody>
      </p:sp>
      <p:sp>
        <p:nvSpPr>
          <p:cNvPr id="23" name="Pastille 6"/>
          <p:cNvSpPr/>
          <p:nvPr/>
        </p:nvSpPr>
        <p:spPr>
          <a:xfrm>
            <a:off x="548640" y="522732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24" name="Icône 6" descr="CSS et JavaScrip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5382768"/>
            <a:ext cx="356616" cy="356616"/>
          </a:xfrm>
          <a:prstGeom prst="rect">
            <a:avLst/>
          </a:prstGeom>
        </p:spPr>
      </p:pic>
      <p:sp>
        <p:nvSpPr>
          <p:cNvPr id="25" name="Partie 6"/>
          <p:cNvSpPr txBox="1"/>
          <p:nvPr/>
        </p:nvSpPr>
        <p:spPr>
          <a:xfrm>
            <a:off x="1554480" y="52456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6. CSS et JavaScript</a:t>
            </a:r>
            <a:endParaRPr lang="en-US" sz="1800" dirty="0"/>
          </a:p>
        </p:txBody>
      </p:sp>
      <p:sp>
        <p:nvSpPr>
          <p:cNvPr id="26" name="Contenu 6"/>
          <p:cNvSpPr txBox="1"/>
          <p:nvPr/>
        </p:nvSpPr>
        <p:spPr>
          <a:xfrm>
            <a:off x="5852160" y="524560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CSS isolé, interop JavaScript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nd hexagone"/>
          <p:cNvSpPr/>
          <p:nvPr/>
        </p:nvSpPr>
        <p:spPr>
          <a:xfrm>
            <a:off x="822960" y="1965960"/>
            <a:ext cx="3108960" cy="2692438"/>
          </a:xfrm>
          <a:custGeom>
            <a:avLst/>
            <a:gdLst/>
            <a:ahLst/>
            <a:cxnLst/>
            <a:rect l="l" t="t" r="r" b="b"/>
            <a:pathLst>
              <a:path w="3108960" h="2692438">
                <a:moveTo>
                  <a:pt x="0" y="1346219"/>
                </a:moveTo>
                <a:lnTo>
                  <a:pt x="777240" y="0"/>
                </a:lnTo>
                <a:lnTo>
                  <a:pt x="2331720" y="0"/>
                </a:lnTo>
                <a:lnTo>
                  <a:pt x="3108960" y="1346219"/>
                </a:lnTo>
                <a:lnTo>
                  <a:pt x="2331720" y="2692438"/>
                </a:lnTo>
                <a:lnTo>
                  <a:pt x="777240" y="2692438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sp>
        <p:nvSpPr>
          <p:cNvPr id="3" name="Numéro de partie"/>
          <p:cNvSpPr txBox="1"/>
          <p:nvPr/>
        </p:nvSpPr>
        <p:spPr>
          <a:xfrm>
            <a:off x="822960" y="1965960"/>
            <a:ext cx="310896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tx2"/>
                </a:solidFill>
              </a:rPr>
              <a:t>1</a:t>
            </a:r>
            <a:endParaRPr lang="en-US" sz="7200" dirty="0"/>
          </a:p>
        </p:txBody>
      </p:sp>
      <p:sp>
        <p:nvSpPr>
          <p:cNvPr id="4" name="Hexagone décoratif"/>
          <p:cNvSpPr/>
          <p:nvPr/>
        </p:nvSpPr>
        <p:spPr>
          <a:xfrm>
            <a:off x="3429000" y="1234440"/>
            <a:ext cx="914400" cy="791894"/>
          </a:xfrm>
          <a:custGeom>
            <a:avLst/>
            <a:gdLst/>
            <a:ahLst/>
            <a:cxnLst/>
            <a:rect l="l" t="t" r="r" b="b"/>
            <a:pathLst>
              <a:path w="914400" h="791894">
                <a:moveTo>
                  <a:pt x="0" y="395947"/>
                </a:moveTo>
                <a:lnTo>
                  <a:pt x="228600" y="0"/>
                </a:lnTo>
                <a:lnTo>
                  <a:pt x="685800" y="0"/>
                </a:lnTo>
                <a:lnTo>
                  <a:pt x="914400" y="395947"/>
                </a:lnTo>
                <a:lnTo>
                  <a:pt x="685800" y="791894"/>
                </a:lnTo>
                <a:lnTo>
                  <a:pt x="228600" y="791894"/>
                </a:lnTo>
                <a:close/>
              </a:path>
            </a:pathLst>
          </a:custGeom>
          <a:solidFill>
            <a:srgbClr val="001793">
              <a:alpha val="70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5" name="Hexagone décoratif"/>
          <p:cNvSpPr/>
          <p:nvPr/>
        </p:nvSpPr>
        <p:spPr>
          <a:xfrm>
            <a:off x="320040" y="4526280"/>
            <a:ext cx="1097280" cy="950272"/>
          </a:xfrm>
          <a:custGeom>
            <a:avLst/>
            <a:gdLst/>
            <a:ahLst/>
            <a:cxnLst/>
            <a:rect l="l" t="t" r="r" b="b"/>
            <a:pathLst>
              <a:path w="1097280" h="950272">
                <a:moveTo>
                  <a:pt x="0" y="475136"/>
                </a:moveTo>
                <a:lnTo>
                  <a:pt x="274320" y="0"/>
                </a:lnTo>
                <a:lnTo>
                  <a:pt x="822960" y="0"/>
                </a:lnTo>
                <a:lnTo>
                  <a:pt x="1097280" y="475136"/>
                </a:lnTo>
                <a:lnTo>
                  <a:pt x="822960" y="950272"/>
                </a:lnTo>
                <a:lnTo>
                  <a:pt x="274320" y="950272"/>
                </a:lnTo>
                <a:close/>
              </a:path>
            </a:pathLst>
          </a:custGeom>
          <a:solidFill>
            <a:srgbClr val="000D78">
              <a:alpha val="90000"/>
            </a:srgbClr>
          </a:solidFill>
          <a:ln w="12700">
            <a:solidFill>
              <a:srgbClr val="000D78">
                <a:alpha val="0"/>
              </a:srgbClr>
            </a:solidFill>
            <a:prstDash val="solid"/>
          </a:ln>
        </p:spPr>
      </p:sp>
      <p:sp>
        <p:nvSpPr>
          <p:cNvPr id="6" name="Hexagone décoratif"/>
          <p:cNvSpPr/>
          <p:nvPr/>
        </p:nvSpPr>
        <p:spPr>
          <a:xfrm>
            <a:off x="10607040" y="640080"/>
            <a:ext cx="1280160" cy="1108651"/>
          </a:xfrm>
          <a:custGeom>
            <a:avLst/>
            <a:gdLst/>
            <a:ahLst/>
            <a:cxnLst/>
            <a:rect l="l" t="t" r="r" b="b"/>
            <a:pathLst>
              <a:path w="1280160" h="1108651">
                <a:moveTo>
                  <a:pt x="0" y="554326"/>
                </a:moveTo>
                <a:lnTo>
                  <a:pt x="320040" y="0"/>
                </a:lnTo>
                <a:lnTo>
                  <a:pt x="960120" y="0"/>
                </a:lnTo>
                <a:lnTo>
                  <a:pt x="1280160" y="554326"/>
                </a:lnTo>
                <a:lnTo>
                  <a:pt x="960120" y="1108651"/>
                </a:lnTo>
                <a:lnTo>
                  <a:pt x="320040" y="1108651"/>
                </a:lnTo>
                <a:close/>
              </a:path>
            </a:pathLst>
          </a:custGeom>
          <a:solidFill>
            <a:srgbClr val="001793">
              <a:alpha val="55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7" name="Surtitre"/>
          <p:cNvSpPr txBox="1"/>
          <p:nvPr/>
        </p:nvSpPr>
        <p:spPr>
          <a:xfrm>
            <a:off x="4572000" y="2057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2"/>
                </a:solidFill>
              </a:rPr>
              <a:t>PARTIE 1</a:t>
            </a:r>
            <a:endParaRPr lang="en-US" sz="1600" dirty="0"/>
          </a:p>
        </p:txBody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4572000" y="251460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Une Blazor Web App</a:t>
            </a:r>
            <a:endParaRPr lang="en-US" sz="34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4572000" y="42976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Ce que contient le modèle, et pourquoi deux projets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1722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STRUCTURE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Deux projets, un seul site</a:t>
            </a:r>
            <a:endParaRPr lang="en-US" sz="2800" dirty="0"/>
          </a:p>
        </p:txBody>
      </p:sp>
      <p:sp>
        <p:nvSpPr>
          <p:cNvPr id="4" name="Carte Tickets.Web, le serveur"/>
          <p:cNvSpPr/>
          <p:nvPr/>
        </p:nvSpPr>
        <p:spPr>
          <a:xfrm>
            <a:off x="548640" y="1463040"/>
            <a:ext cx="54635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5" name="Pastille Tickets.Web, le serveur"/>
          <p:cNvSpPr/>
          <p:nvPr/>
        </p:nvSpPr>
        <p:spPr>
          <a:xfrm>
            <a:off x="82296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6" name="Icône Tickets.Web, le serveur" descr="Tickets.Web, le serv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91025"/>
            <a:ext cx="365760" cy="365760"/>
          </a:xfrm>
          <a:prstGeom prst="rect">
            <a:avLst/>
          </a:prstGeom>
        </p:spPr>
      </p:pic>
      <p:sp>
        <p:nvSpPr>
          <p:cNvPr id="7" name="Titre Tickets.Web, le serveur"/>
          <p:cNvSpPr txBox="1"/>
          <p:nvPr/>
        </p:nvSpPr>
        <p:spPr>
          <a:xfrm>
            <a:off x="1828800" y="1719072"/>
            <a:ext cx="3954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Tickets.Web, le serveur</a:t>
            </a:r>
            <a:endParaRPr lang="en-US" sz="1700" dirty="0"/>
          </a:p>
        </p:txBody>
      </p:sp>
      <p:sp>
        <p:nvSpPr>
          <p:cNvPr id="8" name="Détail Tickets.Web, le serveur"/>
          <p:cNvSpPr txBox="1"/>
          <p:nvPr/>
        </p:nvSpPr>
        <p:spPr>
          <a:xfrm>
            <a:off x="1828800" y="2176272"/>
            <a:ext cx="39547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Héberge le site, rend les pages, contient les composants qui tournent sur le serveur :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App.razor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Routes.razor</a:t>
            </a:r>
            <a:r>
              <a:rPr lang="en-US" sz="1400" dirty="0">
                <a:solidFill>
                  <a:schemeClr val="tx1"/>
                </a:solidFill>
              </a:rPr>
              <a:t>, les layouts, les pages.</a:t>
            </a:r>
            <a:endParaRPr lang="en-US" sz="1400" dirty="0"/>
          </a:p>
        </p:txBody>
      </p:sp>
      <p:sp>
        <p:nvSpPr>
          <p:cNvPr id="9" name="Carte Tickets.Web.Client, le navigateur"/>
          <p:cNvSpPr/>
          <p:nvPr/>
        </p:nvSpPr>
        <p:spPr>
          <a:xfrm>
            <a:off x="6195060" y="1463040"/>
            <a:ext cx="54635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10" name="Pastille Tickets.Web.Client, le navigateur"/>
          <p:cNvSpPr/>
          <p:nvPr/>
        </p:nvSpPr>
        <p:spPr>
          <a:xfrm>
            <a:off x="646938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11" name="Icône Tickets.Web.Client, le navigateur" descr="Tickets.Web.Client, le navigateu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91025"/>
            <a:ext cx="365760" cy="365760"/>
          </a:xfrm>
          <a:prstGeom prst="rect">
            <a:avLst/>
          </a:prstGeom>
        </p:spPr>
      </p:pic>
      <p:sp>
        <p:nvSpPr>
          <p:cNvPr id="12" name="Titre Tickets.Web.Client, le navigateur"/>
          <p:cNvSpPr txBox="1"/>
          <p:nvPr/>
        </p:nvSpPr>
        <p:spPr>
          <a:xfrm>
            <a:off x="7475220" y="1719072"/>
            <a:ext cx="3954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Tickets.Web.Client, le navigateur</a:t>
            </a:r>
            <a:endParaRPr lang="en-US" sz="1700" dirty="0"/>
          </a:p>
        </p:txBody>
      </p:sp>
      <p:sp>
        <p:nvSpPr>
          <p:cNvPr id="13" name="Détail Tickets.Web.Client, le navigateur"/>
          <p:cNvSpPr txBox="1"/>
          <p:nvPr/>
        </p:nvSpPr>
        <p:spPr>
          <a:xfrm>
            <a:off x="7475220" y="2176272"/>
            <a:ext cx="39547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Les composants qui peuvent tourner en WebAssembly. Il est téléchargé dans le navigateur : pas de secret, pas d'accès à la base.</a:t>
            </a:r>
            <a:endParaRPr lang="en-US" sz="1400" dirty="0"/>
          </a:p>
        </p:txBody>
      </p:sp>
      <p:sp>
        <p:nvSpPr>
          <p:cNvPr id="14" name="Carte Le routeur"/>
          <p:cNvSpPr/>
          <p:nvPr/>
        </p:nvSpPr>
        <p:spPr>
          <a:xfrm>
            <a:off x="548640" y="3840480"/>
            <a:ext cx="54635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15" name="Pastille Le routeur"/>
          <p:cNvSpPr/>
          <p:nvPr/>
        </p:nvSpPr>
        <p:spPr>
          <a:xfrm>
            <a:off x="822960" y="411480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16" name="Icône Le routeur" descr="Le routeu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268465"/>
            <a:ext cx="365760" cy="365760"/>
          </a:xfrm>
          <a:prstGeom prst="rect">
            <a:avLst/>
          </a:prstGeom>
        </p:spPr>
      </p:pic>
      <p:sp>
        <p:nvSpPr>
          <p:cNvPr id="17" name="Titre Le routeur"/>
          <p:cNvSpPr txBox="1"/>
          <p:nvPr/>
        </p:nvSpPr>
        <p:spPr>
          <a:xfrm>
            <a:off x="1828800" y="4096512"/>
            <a:ext cx="3954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Le routeur</a:t>
            </a:r>
            <a:endParaRPr lang="en-US" sz="1700" dirty="0"/>
          </a:p>
        </p:txBody>
      </p:sp>
      <p:sp>
        <p:nvSpPr>
          <p:cNvPr id="18" name="Détail Le routeur"/>
          <p:cNvSpPr txBox="1"/>
          <p:nvPr/>
        </p:nvSpPr>
        <p:spPr>
          <a:xfrm>
            <a:off x="1828800" y="4553712"/>
            <a:ext cx="39547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Routes.razor</a:t>
            </a:r>
            <a:r>
              <a:rPr lang="en-US" sz="1400" dirty="0">
                <a:solidFill>
                  <a:schemeClr val="tx1"/>
                </a:solidFill>
              </a:rPr>
              <a:t> trouve la page dont le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@page "/tickets"</a:t>
            </a:r>
            <a:r>
              <a:rPr lang="en-US" sz="1400" dirty="0">
                <a:solidFill>
                  <a:schemeClr val="tx1"/>
                </a:solidFill>
              </a:rPr>
              <a:t> correspond à l'adresse, et l'affiche dans son layout.</a:t>
            </a:r>
            <a:endParaRPr lang="en-US" sz="1400" dirty="0"/>
          </a:p>
        </p:txBody>
      </p:sp>
      <p:sp>
        <p:nvSpPr>
          <p:cNvPr id="19" name="Carte Les layouts"/>
          <p:cNvSpPr/>
          <p:nvPr/>
        </p:nvSpPr>
        <p:spPr>
          <a:xfrm>
            <a:off x="6195060" y="3840480"/>
            <a:ext cx="54635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20" name="Pastille Les layouts"/>
          <p:cNvSpPr/>
          <p:nvPr/>
        </p:nvSpPr>
        <p:spPr>
          <a:xfrm>
            <a:off x="6469380" y="411480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21" name="Icône Les layouts" descr="Les layou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268465"/>
            <a:ext cx="365760" cy="365760"/>
          </a:xfrm>
          <a:prstGeom prst="rect">
            <a:avLst/>
          </a:prstGeom>
        </p:spPr>
      </p:pic>
      <p:sp>
        <p:nvSpPr>
          <p:cNvPr id="22" name="Titre Les layouts"/>
          <p:cNvSpPr txBox="1"/>
          <p:nvPr/>
        </p:nvSpPr>
        <p:spPr>
          <a:xfrm>
            <a:off x="7475220" y="4096512"/>
            <a:ext cx="3954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Les layouts</a:t>
            </a:r>
            <a:endParaRPr lang="en-US" sz="1700" dirty="0"/>
          </a:p>
        </p:txBody>
      </p:sp>
      <p:sp>
        <p:nvSpPr>
          <p:cNvPr id="23" name="Détail Les layouts"/>
          <p:cNvSpPr txBox="1"/>
          <p:nvPr/>
        </p:nvSpPr>
        <p:spPr>
          <a:xfrm>
            <a:off x="7475220" y="4553712"/>
            <a:ext cx="39547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MainLayout.razor</a:t>
            </a:r>
            <a:r>
              <a:rPr lang="en-US" sz="1400" dirty="0">
                <a:solidFill>
                  <a:schemeClr val="tx1"/>
                </a:solidFill>
              </a:rPr>
              <a:t> : le cadre commun (menu, en-tête). La page s'affiche à la place de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@Body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nd hexagone"/>
          <p:cNvSpPr/>
          <p:nvPr/>
        </p:nvSpPr>
        <p:spPr>
          <a:xfrm>
            <a:off x="822960" y="1965960"/>
            <a:ext cx="3108960" cy="2692438"/>
          </a:xfrm>
          <a:custGeom>
            <a:avLst/>
            <a:gdLst/>
            <a:ahLst/>
            <a:cxnLst/>
            <a:rect l="l" t="t" r="r" b="b"/>
            <a:pathLst>
              <a:path w="3108960" h="2692438">
                <a:moveTo>
                  <a:pt x="0" y="1346219"/>
                </a:moveTo>
                <a:lnTo>
                  <a:pt x="777240" y="0"/>
                </a:lnTo>
                <a:lnTo>
                  <a:pt x="2331720" y="0"/>
                </a:lnTo>
                <a:lnTo>
                  <a:pt x="3108960" y="1346219"/>
                </a:lnTo>
                <a:lnTo>
                  <a:pt x="2331720" y="2692438"/>
                </a:lnTo>
                <a:lnTo>
                  <a:pt x="777240" y="2692438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sp>
        <p:nvSpPr>
          <p:cNvPr id="3" name="Numéro de partie"/>
          <p:cNvSpPr txBox="1"/>
          <p:nvPr/>
        </p:nvSpPr>
        <p:spPr>
          <a:xfrm>
            <a:off x="822960" y="1965960"/>
            <a:ext cx="310896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tx2"/>
                </a:solidFill>
              </a:rPr>
              <a:t>2</a:t>
            </a:r>
            <a:endParaRPr lang="en-US" sz="7200" dirty="0"/>
          </a:p>
        </p:txBody>
      </p:sp>
      <p:sp>
        <p:nvSpPr>
          <p:cNvPr id="4" name="Hexagone décoratif"/>
          <p:cNvSpPr/>
          <p:nvPr/>
        </p:nvSpPr>
        <p:spPr>
          <a:xfrm>
            <a:off x="3429000" y="1234440"/>
            <a:ext cx="914400" cy="791894"/>
          </a:xfrm>
          <a:custGeom>
            <a:avLst/>
            <a:gdLst/>
            <a:ahLst/>
            <a:cxnLst/>
            <a:rect l="l" t="t" r="r" b="b"/>
            <a:pathLst>
              <a:path w="914400" h="791894">
                <a:moveTo>
                  <a:pt x="0" y="395947"/>
                </a:moveTo>
                <a:lnTo>
                  <a:pt x="228600" y="0"/>
                </a:lnTo>
                <a:lnTo>
                  <a:pt x="685800" y="0"/>
                </a:lnTo>
                <a:lnTo>
                  <a:pt x="914400" y="395947"/>
                </a:lnTo>
                <a:lnTo>
                  <a:pt x="685800" y="791894"/>
                </a:lnTo>
                <a:lnTo>
                  <a:pt x="228600" y="791894"/>
                </a:lnTo>
                <a:close/>
              </a:path>
            </a:pathLst>
          </a:custGeom>
          <a:solidFill>
            <a:srgbClr val="001793">
              <a:alpha val="70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5" name="Hexagone décoratif"/>
          <p:cNvSpPr/>
          <p:nvPr/>
        </p:nvSpPr>
        <p:spPr>
          <a:xfrm>
            <a:off x="320040" y="4526280"/>
            <a:ext cx="1097280" cy="950272"/>
          </a:xfrm>
          <a:custGeom>
            <a:avLst/>
            <a:gdLst/>
            <a:ahLst/>
            <a:cxnLst/>
            <a:rect l="l" t="t" r="r" b="b"/>
            <a:pathLst>
              <a:path w="1097280" h="950272">
                <a:moveTo>
                  <a:pt x="0" y="475136"/>
                </a:moveTo>
                <a:lnTo>
                  <a:pt x="274320" y="0"/>
                </a:lnTo>
                <a:lnTo>
                  <a:pt x="822960" y="0"/>
                </a:lnTo>
                <a:lnTo>
                  <a:pt x="1097280" y="475136"/>
                </a:lnTo>
                <a:lnTo>
                  <a:pt x="822960" y="950272"/>
                </a:lnTo>
                <a:lnTo>
                  <a:pt x="274320" y="950272"/>
                </a:lnTo>
                <a:close/>
              </a:path>
            </a:pathLst>
          </a:custGeom>
          <a:solidFill>
            <a:srgbClr val="000D78">
              <a:alpha val="90000"/>
            </a:srgbClr>
          </a:solidFill>
          <a:ln w="12700">
            <a:solidFill>
              <a:srgbClr val="000D78">
                <a:alpha val="0"/>
              </a:srgbClr>
            </a:solidFill>
            <a:prstDash val="solid"/>
          </a:ln>
        </p:spPr>
      </p:sp>
      <p:sp>
        <p:nvSpPr>
          <p:cNvPr id="6" name="Hexagone décoratif"/>
          <p:cNvSpPr/>
          <p:nvPr/>
        </p:nvSpPr>
        <p:spPr>
          <a:xfrm>
            <a:off x="10607040" y="640080"/>
            <a:ext cx="1280160" cy="1108651"/>
          </a:xfrm>
          <a:custGeom>
            <a:avLst/>
            <a:gdLst/>
            <a:ahLst/>
            <a:cxnLst/>
            <a:rect l="l" t="t" r="r" b="b"/>
            <a:pathLst>
              <a:path w="1280160" h="1108651">
                <a:moveTo>
                  <a:pt x="0" y="554326"/>
                </a:moveTo>
                <a:lnTo>
                  <a:pt x="320040" y="0"/>
                </a:lnTo>
                <a:lnTo>
                  <a:pt x="960120" y="0"/>
                </a:lnTo>
                <a:lnTo>
                  <a:pt x="1280160" y="554326"/>
                </a:lnTo>
                <a:lnTo>
                  <a:pt x="960120" y="1108651"/>
                </a:lnTo>
                <a:lnTo>
                  <a:pt x="320040" y="1108651"/>
                </a:lnTo>
                <a:close/>
              </a:path>
            </a:pathLst>
          </a:custGeom>
          <a:solidFill>
            <a:srgbClr val="001793">
              <a:alpha val="55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7" name="Surtitre"/>
          <p:cNvSpPr txBox="1"/>
          <p:nvPr/>
        </p:nvSpPr>
        <p:spPr>
          <a:xfrm>
            <a:off x="4572000" y="2057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2"/>
                </a:solidFill>
              </a:rPr>
              <a:t>PARTIE 2</a:t>
            </a:r>
            <a:endParaRPr lang="en-US" sz="1600" dirty="0"/>
          </a:p>
        </p:txBody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4572000" y="251460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Les composants</a:t>
            </a:r>
            <a:endParaRPr lang="en-US" sz="34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4572000" y="42976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Du HTML et du C# dans un fichier .razor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1722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COMPOSANTS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Un composant, comme en React</a:t>
            </a:r>
            <a:endParaRPr lang="en-US" sz="2800" dirty="0"/>
          </a:p>
        </p:txBody>
      </p:sp>
      <p:sp>
        <p:nvSpPr>
          <p:cNvPr id="4" name="Code Razor"/>
          <p:cNvSpPr/>
          <p:nvPr/>
        </p:nvSpPr>
        <p:spPr>
          <a:xfrm>
            <a:off x="548640" y="1417320"/>
            <a:ext cx="5440680" cy="4387342"/>
          </a:xfrm>
          <a:prstGeom prst="roundRect">
            <a:avLst>
              <a:gd name="adj" fmla="val 2084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5" name="Langage Razor"/>
          <p:cNvSpPr txBox="1"/>
          <p:nvPr/>
        </p:nvSpPr>
        <p:spPr>
          <a:xfrm>
            <a:off x="77724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 · TicketCard.razor</a:t>
            </a:r>
            <a:endParaRPr lang="en-US" sz="1100" dirty="0"/>
          </a:p>
        </p:txBody>
      </p:sp>
      <p:sp>
        <p:nvSpPr>
          <p:cNvPr id="6" name="Contenu Razor"/>
          <p:cNvSpPr txBox="1"/>
          <p:nvPr/>
        </p:nvSpPr>
        <p:spPr>
          <a:xfrm>
            <a:off x="777240" y="1856232"/>
            <a:ext cx="5074920" cy="3838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 class="ticket-card"&gt;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&lt;h3&gt;@Ticket.Title&lt;/h3&gt;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@onclick="Select"&gt;Select&lt;/button&gt;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@ChildContent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&lt;/article&gt;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@code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[Parameter, EditorRequired]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TicketDto Ticket { get; set;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 default!;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[Parameter]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EventCallback&lt;TicketDto&gt; OnSelected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get; set;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[Parameter]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RenderFragment? ChildContent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get; set;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 Select() =&gt; OnSelected.InvokeAsync(Ticket);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Code JavaScript"/>
          <p:cNvSpPr/>
          <p:nvPr/>
        </p:nvSpPr>
        <p:spPr>
          <a:xfrm>
            <a:off x="6217920" y="1417320"/>
            <a:ext cx="5440680" cy="3023616"/>
          </a:xfrm>
          <a:prstGeom prst="roundRect">
            <a:avLst>
              <a:gd name="adj" fmla="val 3024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8" name="Langage JavaScript"/>
          <p:cNvSpPr txBox="1"/>
          <p:nvPr/>
        </p:nvSpPr>
        <p:spPr>
          <a:xfrm>
            <a:off x="644652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React (JSX)</a:t>
            </a:r>
            <a:endParaRPr lang="en-US" sz="1100" dirty="0"/>
          </a:p>
        </p:txBody>
      </p:sp>
      <p:sp>
        <p:nvSpPr>
          <p:cNvPr id="9" name="Contenu JavaScript"/>
          <p:cNvSpPr txBox="1"/>
          <p:nvPr/>
        </p:nvSpPr>
        <p:spPr>
          <a:xfrm>
            <a:off x="6446520" y="1856232"/>
            <a:ext cx="5074920" cy="2474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TicketCard({ ticket, onSelected,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children })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&lt;article className="ticket-card"&gt;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&lt;h3&gt;{ticket.title}&lt;/h3&gt;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onClick={() =&gt; onSelected(ticket)}&gt;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Select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&lt;/button&gt;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{children}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&lt;/article&gt;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COMPOSANTS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Utiliser un composant</a:t>
            </a:r>
            <a:endParaRPr lang="en-US" sz="2800" dirty="0"/>
          </a:p>
        </p:txBody>
      </p:sp>
      <p:sp>
        <p:nvSpPr>
          <p:cNvPr id="4" name="Points"/>
          <p:cNvSpPr txBox="1"/>
          <p:nvPr/>
        </p:nvSpPr>
        <p:spPr>
          <a:xfrm>
            <a:off x="548640" y="1463040"/>
            <a:ext cx="4206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 composant s'utilise comme une balise : son nom de fichier.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Les paramètres sont des attributs ; le contenu entre les balises devient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ChildContent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Après un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EventCallback</a:t>
            </a:r>
            <a:r>
              <a:rPr lang="en-US" sz="1500" dirty="0">
                <a:solidFill>
                  <a:schemeClr val="tx1"/>
                </a:solidFill>
              </a:rPr>
              <a:t>, le parent se ré-affiche tout seul.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Piège : un composant nommé comme un espace de noms (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Tickets.razor</a:t>
            </a:r>
            <a:r>
              <a:rPr lang="en-US" sz="1500" dirty="0">
                <a:solidFill>
                  <a:schemeClr val="tx1"/>
                </a:solidFill>
              </a:rPr>
              <a:t>) crée des conflits.</a:t>
            </a:r>
            <a:endParaRPr lang="en-US" sz="1500" dirty="0"/>
          </a:p>
        </p:txBody>
      </p:sp>
      <p:sp>
        <p:nvSpPr>
          <p:cNvPr id="5" name="Code Razor"/>
          <p:cNvSpPr/>
          <p:nvPr/>
        </p:nvSpPr>
        <p:spPr>
          <a:xfrm>
            <a:off x="5029200" y="1417320"/>
            <a:ext cx="6629400" cy="3023616"/>
          </a:xfrm>
          <a:prstGeom prst="roundRect">
            <a:avLst>
              <a:gd name="adj" fmla="val 3024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6" name="Langage Razor"/>
          <p:cNvSpPr txBox="1"/>
          <p:nvPr/>
        </p:nvSpPr>
        <p:spPr>
          <a:xfrm>
            <a:off x="5257800" y="1536192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 · TicketList.razor</a:t>
            </a:r>
            <a:endParaRPr lang="en-US" sz="1100" dirty="0"/>
          </a:p>
        </p:txBody>
      </p:sp>
      <p:sp>
        <p:nvSpPr>
          <p:cNvPr id="7" name="Contenu Razor"/>
          <p:cNvSpPr txBox="1"/>
          <p:nvPr/>
        </p:nvSpPr>
        <p:spPr>
          <a:xfrm>
            <a:off x="5257800" y="1856232"/>
            <a:ext cx="6263640" cy="2474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@foreach (var ticket in _tickets)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&lt;TicketCard Ticket="ticket"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OnSelected="Show"&gt;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&lt;span&gt;@ticket.Comments.Count comments&lt;/span&gt;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&lt;/TicketCard&gt;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@code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TicketDto? _selected;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void Show(TicketDto t) =&gt; _selected = 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CYCLE DE VIE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Le cycle de vie d'un composant</a:t>
            </a:r>
            <a:endParaRPr lang="en-US" sz="2800" dirty="0"/>
          </a:p>
        </p:txBody>
      </p:sp>
      <p:sp>
        <p:nvSpPr>
          <p:cNvPr id="4" name="Étape SetParameters"/>
          <p:cNvSpPr/>
          <p:nvPr/>
        </p:nvSpPr>
        <p:spPr>
          <a:xfrm>
            <a:off x="1042416" y="1600200"/>
            <a:ext cx="1234440" cy="1069056"/>
          </a:xfrm>
          <a:custGeom>
            <a:avLst/>
            <a:gdLst/>
            <a:ahLst/>
            <a:cxnLst/>
            <a:rect l="l" t="t" r="r" b="b"/>
            <a:pathLst>
              <a:path w="1234440" h="1069056">
                <a:moveTo>
                  <a:pt x="0" y="534528"/>
                </a:moveTo>
                <a:lnTo>
                  <a:pt x="308610" y="0"/>
                </a:lnTo>
                <a:lnTo>
                  <a:pt x="925830" y="0"/>
                </a:lnTo>
                <a:lnTo>
                  <a:pt x="1234440" y="534528"/>
                </a:lnTo>
                <a:lnTo>
                  <a:pt x="925830" y="1069056"/>
                </a:lnTo>
                <a:lnTo>
                  <a:pt x="308610" y="1069056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pic>
        <p:nvPicPr>
          <p:cNvPr id="5" name="Icône SetParameters" descr="SetParamet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8059" y="1863136"/>
            <a:ext cx="543154" cy="543154"/>
          </a:xfrm>
          <a:prstGeom prst="rect">
            <a:avLst/>
          </a:prstGeom>
        </p:spPr>
      </p:pic>
      <p:sp>
        <p:nvSpPr>
          <p:cNvPr id="6" name="Titre SetParameters"/>
          <p:cNvSpPr txBox="1"/>
          <p:nvPr/>
        </p:nvSpPr>
        <p:spPr>
          <a:xfrm>
            <a:off x="594360" y="2852105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SetParameters</a:t>
            </a:r>
            <a:endParaRPr lang="en-US" sz="1600" dirty="0"/>
          </a:p>
        </p:txBody>
      </p:sp>
      <p:sp>
        <p:nvSpPr>
          <p:cNvPr id="7" name="Détail SetParameters"/>
          <p:cNvSpPr txBox="1"/>
          <p:nvPr/>
        </p:nvSpPr>
        <p:spPr>
          <a:xfrm>
            <a:off x="640080" y="3263585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les paramètres arrivent</a:t>
            </a:r>
            <a:endParaRPr lang="en-US" sz="1300" dirty="0"/>
          </a:p>
        </p:txBody>
      </p:sp>
      <p:pic>
        <p:nvPicPr>
          <p:cNvPr id="8" name="Flèche 1" descr="pui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1988409"/>
            <a:ext cx="292608" cy="292608"/>
          </a:xfrm>
          <a:prstGeom prst="rect">
            <a:avLst/>
          </a:prstGeom>
        </p:spPr>
      </p:pic>
      <p:sp>
        <p:nvSpPr>
          <p:cNvPr id="9" name="Étape OnInitialized"/>
          <p:cNvSpPr/>
          <p:nvPr/>
        </p:nvSpPr>
        <p:spPr>
          <a:xfrm>
            <a:off x="3264408" y="1600200"/>
            <a:ext cx="1234440" cy="1069056"/>
          </a:xfrm>
          <a:custGeom>
            <a:avLst/>
            <a:gdLst/>
            <a:ahLst/>
            <a:cxnLst/>
            <a:rect l="l" t="t" r="r" b="b"/>
            <a:pathLst>
              <a:path w="1234440" h="1069056">
                <a:moveTo>
                  <a:pt x="0" y="534528"/>
                </a:moveTo>
                <a:lnTo>
                  <a:pt x="308610" y="0"/>
                </a:lnTo>
                <a:lnTo>
                  <a:pt x="925830" y="0"/>
                </a:lnTo>
                <a:lnTo>
                  <a:pt x="1234440" y="534528"/>
                </a:lnTo>
                <a:lnTo>
                  <a:pt x="925830" y="1069056"/>
                </a:lnTo>
                <a:lnTo>
                  <a:pt x="308610" y="1069056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pic>
        <p:nvPicPr>
          <p:cNvPr id="10" name="Icône OnInitialized" descr="OnInitializ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0051" y="1863136"/>
            <a:ext cx="543154" cy="543154"/>
          </a:xfrm>
          <a:prstGeom prst="rect">
            <a:avLst/>
          </a:prstGeom>
        </p:spPr>
      </p:pic>
      <p:sp>
        <p:nvSpPr>
          <p:cNvPr id="11" name="Titre OnInitialized"/>
          <p:cNvSpPr txBox="1"/>
          <p:nvPr/>
        </p:nvSpPr>
        <p:spPr>
          <a:xfrm>
            <a:off x="2816352" y="2852105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OnInitialized</a:t>
            </a:r>
            <a:endParaRPr lang="en-US" sz="1600" dirty="0"/>
          </a:p>
        </p:txBody>
      </p:sp>
      <p:sp>
        <p:nvSpPr>
          <p:cNvPr id="12" name="Détail OnInitialized"/>
          <p:cNvSpPr txBox="1"/>
          <p:nvPr/>
        </p:nvSpPr>
        <p:spPr>
          <a:xfrm>
            <a:off x="2862072" y="3263585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(ou sa version Async) une seule fois : charger les données</a:t>
            </a:r>
            <a:endParaRPr lang="en-US" sz="1300" dirty="0"/>
          </a:p>
        </p:txBody>
      </p:sp>
      <p:pic>
        <p:nvPicPr>
          <p:cNvPr id="13" name="Flèche 2" descr="pui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988409"/>
            <a:ext cx="292608" cy="292608"/>
          </a:xfrm>
          <a:prstGeom prst="rect">
            <a:avLst/>
          </a:prstGeom>
        </p:spPr>
      </p:pic>
      <p:sp>
        <p:nvSpPr>
          <p:cNvPr id="14" name="Étape OnParametersSet"/>
          <p:cNvSpPr/>
          <p:nvPr/>
        </p:nvSpPr>
        <p:spPr>
          <a:xfrm>
            <a:off x="5486400" y="1600200"/>
            <a:ext cx="1234440" cy="1069056"/>
          </a:xfrm>
          <a:custGeom>
            <a:avLst/>
            <a:gdLst/>
            <a:ahLst/>
            <a:cxnLst/>
            <a:rect l="l" t="t" r="r" b="b"/>
            <a:pathLst>
              <a:path w="1234440" h="1069056">
                <a:moveTo>
                  <a:pt x="0" y="534528"/>
                </a:moveTo>
                <a:lnTo>
                  <a:pt x="308610" y="0"/>
                </a:lnTo>
                <a:lnTo>
                  <a:pt x="925830" y="0"/>
                </a:lnTo>
                <a:lnTo>
                  <a:pt x="1234440" y="534528"/>
                </a:lnTo>
                <a:lnTo>
                  <a:pt x="925830" y="1069056"/>
                </a:lnTo>
                <a:lnTo>
                  <a:pt x="308610" y="1069056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pic>
        <p:nvPicPr>
          <p:cNvPr id="15" name="Icône OnParametersSet" descr="OnParametersS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2043" y="1863136"/>
            <a:ext cx="543154" cy="543154"/>
          </a:xfrm>
          <a:prstGeom prst="rect">
            <a:avLst/>
          </a:prstGeom>
        </p:spPr>
      </p:pic>
      <p:sp>
        <p:nvSpPr>
          <p:cNvPr id="16" name="Titre OnParametersSet"/>
          <p:cNvSpPr txBox="1"/>
          <p:nvPr/>
        </p:nvSpPr>
        <p:spPr>
          <a:xfrm>
            <a:off x="5038344" y="2852105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OnParametersSet</a:t>
            </a:r>
            <a:endParaRPr lang="en-US" sz="1600" dirty="0"/>
          </a:p>
        </p:txBody>
      </p:sp>
      <p:sp>
        <p:nvSpPr>
          <p:cNvPr id="17" name="Détail OnParametersSet"/>
          <p:cNvSpPr txBox="1"/>
          <p:nvPr/>
        </p:nvSpPr>
        <p:spPr>
          <a:xfrm>
            <a:off x="5084064" y="3263585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(ou Async) à chaque changement de paramètre</a:t>
            </a:r>
            <a:endParaRPr lang="en-US" sz="1300" dirty="0"/>
          </a:p>
        </p:txBody>
      </p:sp>
      <p:pic>
        <p:nvPicPr>
          <p:cNvPr id="18" name="Flèche 3" descr="pui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8312" y="1988409"/>
            <a:ext cx="292608" cy="292608"/>
          </a:xfrm>
          <a:prstGeom prst="rect">
            <a:avLst/>
          </a:prstGeom>
        </p:spPr>
      </p:pic>
      <p:sp>
        <p:nvSpPr>
          <p:cNvPr id="19" name="Étape Rendu"/>
          <p:cNvSpPr/>
          <p:nvPr/>
        </p:nvSpPr>
        <p:spPr>
          <a:xfrm>
            <a:off x="7708392" y="1600200"/>
            <a:ext cx="1234440" cy="1069056"/>
          </a:xfrm>
          <a:custGeom>
            <a:avLst/>
            <a:gdLst/>
            <a:ahLst/>
            <a:cxnLst/>
            <a:rect l="l" t="t" r="r" b="b"/>
            <a:pathLst>
              <a:path w="1234440" h="1069056">
                <a:moveTo>
                  <a:pt x="0" y="534528"/>
                </a:moveTo>
                <a:lnTo>
                  <a:pt x="308610" y="0"/>
                </a:lnTo>
                <a:lnTo>
                  <a:pt x="925830" y="0"/>
                </a:lnTo>
                <a:lnTo>
                  <a:pt x="1234440" y="534528"/>
                </a:lnTo>
                <a:lnTo>
                  <a:pt x="925830" y="1069056"/>
                </a:lnTo>
                <a:lnTo>
                  <a:pt x="308610" y="1069056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pic>
        <p:nvPicPr>
          <p:cNvPr id="20" name="Icône Rendu" descr="Rendu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4035" y="1863136"/>
            <a:ext cx="543154" cy="543154"/>
          </a:xfrm>
          <a:prstGeom prst="rect">
            <a:avLst/>
          </a:prstGeom>
        </p:spPr>
      </p:pic>
      <p:sp>
        <p:nvSpPr>
          <p:cNvPr id="21" name="Titre Rendu"/>
          <p:cNvSpPr txBox="1"/>
          <p:nvPr/>
        </p:nvSpPr>
        <p:spPr>
          <a:xfrm>
            <a:off x="7260336" y="2852105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Rendu</a:t>
            </a:r>
            <a:endParaRPr lang="en-US" sz="1600" dirty="0"/>
          </a:p>
        </p:txBody>
      </p:sp>
      <p:sp>
        <p:nvSpPr>
          <p:cNvPr id="22" name="Détail Rendu"/>
          <p:cNvSpPr txBox="1"/>
          <p:nvPr/>
        </p:nvSpPr>
        <p:spPr>
          <a:xfrm>
            <a:off x="7306056" y="3263585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Blazor calcule les différences du DOM</a:t>
            </a:r>
            <a:endParaRPr lang="en-US" sz="1300" dirty="0"/>
          </a:p>
        </p:txBody>
      </p:sp>
      <p:pic>
        <p:nvPicPr>
          <p:cNvPr id="23" name="Flèche 4" descr="pui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0304" y="1988409"/>
            <a:ext cx="292608" cy="292608"/>
          </a:xfrm>
          <a:prstGeom prst="rect">
            <a:avLst/>
          </a:prstGeom>
        </p:spPr>
      </p:pic>
      <p:sp>
        <p:nvSpPr>
          <p:cNvPr id="24" name="Étape OnAfterRender"/>
          <p:cNvSpPr/>
          <p:nvPr/>
        </p:nvSpPr>
        <p:spPr>
          <a:xfrm>
            <a:off x="9930384" y="1600200"/>
            <a:ext cx="1234440" cy="1069056"/>
          </a:xfrm>
          <a:custGeom>
            <a:avLst/>
            <a:gdLst/>
            <a:ahLst/>
            <a:cxnLst/>
            <a:rect l="l" t="t" r="r" b="b"/>
            <a:pathLst>
              <a:path w="1234440" h="1069056">
                <a:moveTo>
                  <a:pt x="0" y="534528"/>
                </a:moveTo>
                <a:lnTo>
                  <a:pt x="308610" y="0"/>
                </a:lnTo>
                <a:lnTo>
                  <a:pt x="925830" y="0"/>
                </a:lnTo>
                <a:lnTo>
                  <a:pt x="1234440" y="534528"/>
                </a:lnTo>
                <a:lnTo>
                  <a:pt x="925830" y="1069056"/>
                </a:lnTo>
                <a:lnTo>
                  <a:pt x="308610" y="1069056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pic>
        <p:nvPicPr>
          <p:cNvPr id="25" name="Icône OnAfterRender" descr="OnAfterRende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6027" y="1863136"/>
            <a:ext cx="543154" cy="543154"/>
          </a:xfrm>
          <a:prstGeom prst="rect">
            <a:avLst/>
          </a:prstGeom>
        </p:spPr>
      </p:pic>
      <p:sp>
        <p:nvSpPr>
          <p:cNvPr id="26" name="Titre OnAfterRender"/>
          <p:cNvSpPr txBox="1"/>
          <p:nvPr/>
        </p:nvSpPr>
        <p:spPr>
          <a:xfrm>
            <a:off x="9482328" y="2852105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OnAfterRender</a:t>
            </a:r>
            <a:endParaRPr lang="en-US" sz="1600" dirty="0"/>
          </a:p>
        </p:txBody>
      </p:sp>
      <p:sp>
        <p:nvSpPr>
          <p:cNvPr id="27" name="Détail OnAfterRender"/>
          <p:cNvSpPr txBox="1"/>
          <p:nvPr/>
        </p:nvSpPr>
        <p:spPr>
          <a:xfrm>
            <a:off x="9528048" y="3263585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(ou Async) après affichage : appels JavaScript</a:t>
            </a:r>
            <a:endParaRPr lang="en-US" sz="1300" dirty="0"/>
          </a:p>
        </p:txBody>
      </p:sp>
      <p:sp>
        <p:nvSpPr>
          <p:cNvPr id="28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29" name="Icône à retenir" descr="À reteni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30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Un événement (clic, saisie,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EventCallback</a:t>
            </a:r>
            <a:r>
              <a:rPr lang="en-US" sz="1500" dirty="0">
                <a:solidFill>
                  <a:schemeClr val="tx2"/>
                </a:solidFill>
              </a:rPr>
              <a:t>) déclenche un nouveau rendu. Hors de ces cas,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StateHasChanged()</a:t>
            </a:r>
            <a:r>
              <a:rPr lang="en-US" sz="1500" dirty="0">
                <a:solidFill>
                  <a:schemeClr val="tx2"/>
                </a:solidFill>
              </a:rPr>
              <a:t> le demande.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CYCLE DE VIE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Charger des données, gérer chaque état</a:t>
            </a:r>
            <a:endParaRPr lang="en-US" sz="2800" dirty="0"/>
          </a:p>
        </p:txBody>
      </p:sp>
      <p:sp>
        <p:nvSpPr>
          <p:cNvPr id="4" name="Points"/>
          <p:cNvSpPr txBox="1"/>
          <p:nvPr/>
        </p:nvSpPr>
        <p:spPr>
          <a:xfrm>
            <a:off x="548640" y="1463040"/>
            <a:ext cx="3931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@inject</a:t>
            </a:r>
            <a:r>
              <a:rPr lang="en-US" sz="1500" dirty="0">
                <a:solidFill>
                  <a:schemeClr val="tx1"/>
                </a:solidFill>
              </a:rPr>
              <a:t> reçoit un service du conteneur, comme un constructeur.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Chargement, erreur, vide, données : quatre états à afficher.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Pendant l'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500" dirty="0">
                <a:solidFill>
                  <a:schemeClr val="tx1"/>
                </a:solidFill>
              </a:rPr>
              <a:t>, Blazor affiche déjà la page avec « Loading… ».</a:t>
            </a:r>
            <a:endParaRPr lang="en-US" sz="1500" dirty="0"/>
          </a:p>
        </p:txBody>
      </p:sp>
      <p:sp>
        <p:nvSpPr>
          <p:cNvPr id="5" name="Code Razor"/>
          <p:cNvSpPr/>
          <p:nvPr/>
        </p:nvSpPr>
        <p:spPr>
          <a:xfrm>
            <a:off x="4754880" y="1417320"/>
            <a:ext cx="6903720" cy="3997706"/>
          </a:xfrm>
          <a:prstGeom prst="roundRect">
            <a:avLst>
              <a:gd name="adj" fmla="val 2287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6" name="Langage Razor"/>
          <p:cNvSpPr txBox="1"/>
          <p:nvPr/>
        </p:nvSpPr>
        <p:spPr>
          <a:xfrm>
            <a:off x="4983480" y="1536192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 · TicketList.razor</a:t>
            </a:r>
            <a:endParaRPr lang="en-US" sz="1100" dirty="0"/>
          </a:p>
        </p:txBody>
      </p:sp>
      <p:sp>
        <p:nvSpPr>
          <p:cNvPr id="7" name="Contenu Razor"/>
          <p:cNvSpPr txBox="1"/>
          <p:nvPr/>
        </p:nvSpPr>
        <p:spPr>
          <a:xfrm>
            <a:off x="4983480" y="1856232"/>
            <a:ext cx="6537960" cy="3449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@inject ITicketsClient Client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@if (_error is not null) { &lt;p&gt;@_error&lt;/p&gt;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(_tickets is null) { &lt;p&gt;Loading…&lt;/p&gt;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(_tickets.Count == 0) { &lt;p&gt;No ticket.&lt;/p&gt;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{ /* la liste */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@code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IReadOnlyList&lt;TicketDto&gt;? _tickets;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string? _error;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protected override async Task OnInitializedAsync()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 { _tickets = await Client.GetTicketsAsync();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catch (HttpRequestException e) { _error = e.Message;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nd hexagone"/>
          <p:cNvSpPr/>
          <p:nvPr/>
        </p:nvSpPr>
        <p:spPr>
          <a:xfrm>
            <a:off x="822960" y="1965960"/>
            <a:ext cx="3108960" cy="2692438"/>
          </a:xfrm>
          <a:custGeom>
            <a:avLst/>
            <a:gdLst/>
            <a:ahLst/>
            <a:cxnLst/>
            <a:rect l="l" t="t" r="r" b="b"/>
            <a:pathLst>
              <a:path w="3108960" h="2692438">
                <a:moveTo>
                  <a:pt x="0" y="1346219"/>
                </a:moveTo>
                <a:lnTo>
                  <a:pt x="777240" y="0"/>
                </a:lnTo>
                <a:lnTo>
                  <a:pt x="2331720" y="0"/>
                </a:lnTo>
                <a:lnTo>
                  <a:pt x="3108960" y="1346219"/>
                </a:lnTo>
                <a:lnTo>
                  <a:pt x="2331720" y="2692438"/>
                </a:lnTo>
                <a:lnTo>
                  <a:pt x="777240" y="2692438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sp>
        <p:nvSpPr>
          <p:cNvPr id="3" name="Numéro de partie"/>
          <p:cNvSpPr txBox="1"/>
          <p:nvPr/>
        </p:nvSpPr>
        <p:spPr>
          <a:xfrm>
            <a:off x="822960" y="1965960"/>
            <a:ext cx="310896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tx2"/>
                </a:solidFill>
              </a:rPr>
              <a:t>4</a:t>
            </a:r>
            <a:endParaRPr lang="en-US" sz="7200" dirty="0"/>
          </a:p>
        </p:txBody>
      </p:sp>
      <p:sp>
        <p:nvSpPr>
          <p:cNvPr id="4" name="Hexagone décoratif"/>
          <p:cNvSpPr/>
          <p:nvPr/>
        </p:nvSpPr>
        <p:spPr>
          <a:xfrm>
            <a:off x="3429000" y="1234440"/>
            <a:ext cx="914400" cy="791894"/>
          </a:xfrm>
          <a:custGeom>
            <a:avLst/>
            <a:gdLst/>
            <a:ahLst/>
            <a:cxnLst/>
            <a:rect l="l" t="t" r="r" b="b"/>
            <a:pathLst>
              <a:path w="914400" h="791894">
                <a:moveTo>
                  <a:pt x="0" y="395947"/>
                </a:moveTo>
                <a:lnTo>
                  <a:pt x="228600" y="0"/>
                </a:lnTo>
                <a:lnTo>
                  <a:pt x="685800" y="0"/>
                </a:lnTo>
                <a:lnTo>
                  <a:pt x="914400" y="395947"/>
                </a:lnTo>
                <a:lnTo>
                  <a:pt x="685800" y="791894"/>
                </a:lnTo>
                <a:lnTo>
                  <a:pt x="228600" y="791894"/>
                </a:lnTo>
                <a:close/>
              </a:path>
            </a:pathLst>
          </a:custGeom>
          <a:solidFill>
            <a:srgbClr val="001793">
              <a:alpha val="70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5" name="Hexagone décoratif"/>
          <p:cNvSpPr/>
          <p:nvPr/>
        </p:nvSpPr>
        <p:spPr>
          <a:xfrm>
            <a:off x="320040" y="4526280"/>
            <a:ext cx="1097280" cy="950272"/>
          </a:xfrm>
          <a:custGeom>
            <a:avLst/>
            <a:gdLst/>
            <a:ahLst/>
            <a:cxnLst/>
            <a:rect l="l" t="t" r="r" b="b"/>
            <a:pathLst>
              <a:path w="1097280" h="950272">
                <a:moveTo>
                  <a:pt x="0" y="475136"/>
                </a:moveTo>
                <a:lnTo>
                  <a:pt x="274320" y="0"/>
                </a:lnTo>
                <a:lnTo>
                  <a:pt x="822960" y="0"/>
                </a:lnTo>
                <a:lnTo>
                  <a:pt x="1097280" y="475136"/>
                </a:lnTo>
                <a:lnTo>
                  <a:pt x="822960" y="950272"/>
                </a:lnTo>
                <a:lnTo>
                  <a:pt x="274320" y="950272"/>
                </a:lnTo>
                <a:close/>
              </a:path>
            </a:pathLst>
          </a:custGeom>
          <a:solidFill>
            <a:srgbClr val="000D78">
              <a:alpha val="90000"/>
            </a:srgbClr>
          </a:solidFill>
          <a:ln w="12700">
            <a:solidFill>
              <a:srgbClr val="000D78">
                <a:alpha val="0"/>
              </a:srgbClr>
            </a:solidFill>
            <a:prstDash val="solid"/>
          </a:ln>
        </p:spPr>
      </p:sp>
      <p:sp>
        <p:nvSpPr>
          <p:cNvPr id="6" name="Hexagone décoratif"/>
          <p:cNvSpPr/>
          <p:nvPr/>
        </p:nvSpPr>
        <p:spPr>
          <a:xfrm>
            <a:off x="10607040" y="640080"/>
            <a:ext cx="1280160" cy="1108651"/>
          </a:xfrm>
          <a:custGeom>
            <a:avLst/>
            <a:gdLst/>
            <a:ahLst/>
            <a:cxnLst/>
            <a:rect l="l" t="t" r="r" b="b"/>
            <a:pathLst>
              <a:path w="1280160" h="1108651">
                <a:moveTo>
                  <a:pt x="0" y="554326"/>
                </a:moveTo>
                <a:lnTo>
                  <a:pt x="320040" y="0"/>
                </a:lnTo>
                <a:lnTo>
                  <a:pt x="960120" y="0"/>
                </a:lnTo>
                <a:lnTo>
                  <a:pt x="1280160" y="554326"/>
                </a:lnTo>
                <a:lnTo>
                  <a:pt x="960120" y="1108651"/>
                </a:lnTo>
                <a:lnTo>
                  <a:pt x="320040" y="1108651"/>
                </a:lnTo>
                <a:close/>
              </a:path>
            </a:pathLst>
          </a:custGeom>
          <a:solidFill>
            <a:srgbClr val="001793">
              <a:alpha val="55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7" name="Surtitre"/>
          <p:cNvSpPr txBox="1"/>
          <p:nvPr/>
        </p:nvSpPr>
        <p:spPr>
          <a:xfrm>
            <a:off x="4572000" y="2057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2"/>
                </a:solidFill>
              </a:rPr>
              <a:t>PARTIE 4</a:t>
            </a:r>
            <a:endParaRPr lang="en-US" sz="1600" dirty="0"/>
          </a:p>
        </p:txBody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4572000" y="251460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Les modes de rendu</a:t>
            </a:r>
            <a:endParaRPr lang="en-US" sz="34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4572000" y="42976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Où tourne le code, et ce que ça change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1722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MODES DE RENDU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Quatre modes, un même composant</a:t>
            </a:r>
            <a:endParaRPr lang="en-US" sz="2800" dirty="0"/>
          </a:p>
        </p:txBody>
      </p:sp>
      <p:graphicFrame>
        <p:nvGraphicFramePr>
          <p:cNvPr id="12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566160"/>
                <a:gridCol w="1463040"/>
                <a:gridCol w="37033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Où tourne le code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Interactif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Bon pour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Static SSR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serveur, une fois par requête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pages de contenu, formulaires simples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Interactive Server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serveur ; l'écran suit par SignalR (WebSocket)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oui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applis métier proches de la base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Interactive WebAssembly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navigateur, runtime .NET téléchargé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oui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hors ligne, calculs côté client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Interactive Auto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Server à la 1re visite, WebAssembly ensuite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oui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démarrage rapide puis autonomie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6" name="Icône à retenir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7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Le mode se choisit par page (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@rendermode InteractiveServer</a:t>
            </a:r>
            <a:r>
              <a:rPr lang="en-US" sz="1500" dirty="0">
                <a:solidFill>
                  <a:schemeClr val="tx2"/>
                </a:solidFill>
              </a:rPr>
              <a:t>) ou par instance (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&lt;Probe @rendermode="InteractiveWebAssembly" /&gt;</a:t>
            </a:r>
            <a:r>
              <a:rPr lang="en-US" sz="1500" dirty="0">
                <a:solidFill>
                  <a:schemeClr val="tx2"/>
                </a:solidFill>
              </a:rPr>
              <a:t>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MODES DE RENDU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Le prérendu : rapide, mais deux passages</a:t>
            </a:r>
            <a:endParaRPr lang="en-US" sz="2800" dirty="0"/>
          </a:p>
        </p:txBody>
      </p:sp>
      <p:sp>
        <p:nvSpPr>
          <p:cNvPr id="4" name="Carte Ce qu'il apporte"/>
          <p:cNvSpPr/>
          <p:nvPr/>
        </p:nvSpPr>
        <p:spPr>
          <a:xfrm>
            <a:off x="548640" y="1463040"/>
            <a:ext cx="5463540" cy="3794760"/>
          </a:xfrm>
          <a:prstGeom prst="roundRect">
            <a:avLst>
              <a:gd name="adj" fmla="val 2892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5" name="Pastille Ce qu'il apporte"/>
          <p:cNvSpPr/>
          <p:nvPr/>
        </p:nvSpPr>
        <p:spPr>
          <a:xfrm>
            <a:off x="82296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6" name="Icône Ce qu'il apporte" descr="Ce qu'il appor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91025"/>
            <a:ext cx="365760" cy="365760"/>
          </a:xfrm>
          <a:prstGeom prst="rect">
            <a:avLst/>
          </a:prstGeom>
        </p:spPr>
      </p:pic>
      <p:sp>
        <p:nvSpPr>
          <p:cNvPr id="7" name="Titre Ce qu'il apporte"/>
          <p:cNvSpPr txBox="1"/>
          <p:nvPr/>
        </p:nvSpPr>
        <p:spPr>
          <a:xfrm>
            <a:off x="1828800" y="1719072"/>
            <a:ext cx="3954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Ce qu'il apporte</a:t>
            </a:r>
            <a:endParaRPr lang="en-US" sz="1700" dirty="0"/>
          </a:p>
        </p:txBody>
      </p:sp>
      <p:sp>
        <p:nvSpPr>
          <p:cNvPr id="8" name="Détail Ce qu'il apporte"/>
          <p:cNvSpPr txBox="1"/>
          <p:nvPr/>
        </p:nvSpPr>
        <p:spPr>
          <a:xfrm>
            <a:off x="1828800" y="2176272"/>
            <a:ext cx="39547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Même un composant interactif est d'abord rendu en HTML sur le serveur : la page s'affiche tout de suite, et les moteurs de recherche la lisent.</a:t>
            </a:r>
            <a:endParaRPr lang="en-US" sz="1400" dirty="0"/>
          </a:p>
        </p:txBody>
      </p:sp>
      <p:sp>
        <p:nvSpPr>
          <p:cNvPr id="9" name="Carte Ce qu'il coûte"/>
          <p:cNvSpPr/>
          <p:nvPr/>
        </p:nvSpPr>
        <p:spPr>
          <a:xfrm>
            <a:off x="6195060" y="1463040"/>
            <a:ext cx="5463540" cy="3794760"/>
          </a:xfrm>
          <a:prstGeom prst="roundRect">
            <a:avLst>
              <a:gd name="adj" fmla="val 2892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10" name="Pastille Ce qu'il coûte"/>
          <p:cNvSpPr/>
          <p:nvPr/>
        </p:nvSpPr>
        <p:spPr>
          <a:xfrm>
            <a:off x="646938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11" name="Icône Ce qu'il coûte" descr="Ce qu'il coû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91025"/>
            <a:ext cx="365760" cy="365760"/>
          </a:xfrm>
          <a:prstGeom prst="rect">
            <a:avLst/>
          </a:prstGeom>
        </p:spPr>
      </p:pic>
      <p:sp>
        <p:nvSpPr>
          <p:cNvPr id="12" name="Titre Ce qu'il coûte"/>
          <p:cNvSpPr txBox="1"/>
          <p:nvPr/>
        </p:nvSpPr>
        <p:spPr>
          <a:xfrm>
            <a:off x="7475220" y="1719072"/>
            <a:ext cx="3954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Ce qu'il coûte</a:t>
            </a:r>
            <a:endParaRPr lang="en-US" sz="1700" dirty="0"/>
          </a:p>
        </p:txBody>
      </p:sp>
      <p:sp>
        <p:nvSpPr>
          <p:cNvPr id="13" name="Détail Ce qu'il coûte"/>
          <p:cNvSpPr txBox="1"/>
          <p:nvPr/>
        </p:nvSpPr>
        <p:spPr>
          <a:xfrm>
            <a:off x="7475220" y="2176272"/>
            <a:ext cx="39547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composant s'initialise deux fois : au prérendu, puis quand il devient interactif.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OnInitializedAsync</a:t>
            </a:r>
            <a:r>
              <a:rPr lang="en-US" sz="1400" dirty="0">
                <a:solidFill>
                  <a:schemeClr val="tx1"/>
                </a:solidFill>
              </a:rPr>
              <a:t> appelle donc l'API deux fois.</a:t>
            </a:r>
            <a:endParaRPr lang="en-US" sz="1400" dirty="0"/>
          </a:p>
        </p:txBody>
      </p:sp>
      <p:sp>
        <p:nvSpPr>
          <p:cNvPr id="14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15" name="Icône à retenir" descr="À reten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16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La correction arrive au TP-04 avec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[PersistentState]</a:t>
            </a:r>
            <a:r>
              <a:rPr lang="en-US" sz="1500" dirty="0">
                <a:solidFill>
                  <a:schemeClr val="tx2"/>
                </a:solidFill>
              </a:rPr>
              <a:t>, qui transmet l'état du prérendu au rendu interactif.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FORMULAIRES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Un formulaire validé avec EditForm</a:t>
            </a:r>
            <a:endParaRPr lang="en-US" sz="2800" dirty="0"/>
          </a:p>
        </p:txBody>
      </p:sp>
      <p:sp>
        <p:nvSpPr>
          <p:cNvPr id="4" name="Code Razor"/>
          <p:cNvSpPr/>
          <p:nvPr/>
        </p:nvSpPr>
        <p:spPr>
          <a:xfrm>
            <a:off x="548640" y="1417320"/>
            <a:ext cx="5440680" cy="2828798"/>
          </a:xfrm>
          <a:prstGeom prst="roundRect">
            <a:avLst>
              <a:gd name="adj" fmla="val 3232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5" name="Langage Razor"/>
          <p:cNvSpPr txBox="1"/>
          <p:nvPr/>
        </p:nvSpPr>
        <p:spPr>
          <a:xfrm>
            <a:off x="77724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 · NewTicket.razor</a:t>
            </a:r>
            <a:endParaRPr lang="en-US" sz="1100" dirty="0"/>
          </a:p>
        </p:txBody>
      </p:sp>
      <p:sp>
        <p:nvSpPr>
          <p:cNvPr id="6" name="Contenu Razor"/>
          <p:cNvSpPr txBox="1"/>
          <p:nvPr/>
        </p:nvSpPr>
        <p:spPr>
          <a:xfrm>
            <a:off x="777240" y="1856232"/>
            <a:ext cx="5074920" cy="228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&lt;EditForm Model="_form"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OnValidSubmit="SaveAsync"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FormName="new-ticket"&gt;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&lt;DataAnnotationsValidator /&gt;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for="title"&gt;Title&lt;/label&gt;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&lt;InputText id="title"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@bind-Value="_form.Title" /&gt;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&lt;ValidationMessage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For="() =&gt; _form.Title" /&gt;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type="submit"&gt;Create&lt;/button&gt;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&lt;/EditForm&gt;</a:t>
            </a:r>
            <a:endParaRPr lang="en-US" sz="1300" dirty="0"/>
          </a:p>
        </p:txBody>
      </p:sp>
      <p:sp>
        <p:nvSpPr>
          <p:cNvPr id="7" name="Code C#"/>
          <p:cNvSpPr/>
          <p:nvPr/>
        </p:nvSpPr>
        <p:spPr>
          <a:xfrm>
            <a:off x="6217920" y="1417320"/>
            <a:ext cx="5440680" cy="2633980"/>
          </a:xfrm>
          <a:prstGeom prst="roundRect">
            <a:avLst>
              <a:gd name="adj" fmla="val 3472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8" name="Langage C#"/>
          <p:cNvSpPr txBox="1"/>
          <p:nvPr/>
        </p:nvSpPr>
        <p:spPr>
          <a:xfrm>
            <a:off x="644652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 · le modèle du formulaire</a:t>
            </a:r>
            <a:endParaRPr lang="en-US" sz="1100" dirty="0"/>
          </a:p>
        </p:txBody>
      </p:sp>
      <p:sp>
        <p:nvSpPr>
          <p:cNvPr id="9" name="Contenu C#"/>
          <p:cNvSpPr txBox="1"/>
          <p:nvPr/>
        </p:nvSpPr>
        <p:spPr>
          <a:xfrm>
            <a:off x="6446520" y="1856232"/>
            <a:ext cx="5074920" cy="208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sealed class NewTicketForm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[Required(ErrorMessage =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"The title is required.")]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[StringLength(200)]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string Title { get; set; } = "";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TicketPriority Priority { get; set;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 TicketPriority.Normal;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11" name="Icône à retenir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12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Les mêmes DataAnnotations que sur l'API : l'utilisateur voit les erreurs avant d'envoyer, et l'API revérifie quand même.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GRILLES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QuickGrid : trier et paginer sans effort</a:t>
            </a:r>
            <a:endParaRPr lang="en-US" sz="2800" dirty="0"/>
          </a:p>
        </p:txBody>
      </p:sp>
      <p:sp>
        <p:nvSpPr>
          <p:cNvPr id="4" name="Points"/>
          <p:cNvSpPr txBox="1"/>
          <p:nvPr/>
        </p:nvSpPr>
        <p:spPr>
          <a:xfrm>
            <a:off x="548640" y="1463040"/>
            <a:ext cx="4023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 composant officiel, dans le package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Microsoft.AspNetCore.Components.QuickGrid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Il prend un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IQueryable</a:t>
            </a:r>
            <a:r>
              <a:rPr lang="en-US" sz="1500" dirty="0">
                <a:solidFill>
                  <a:schemeClr val="tx1"/>
                </a:solidFill>
              </a:rPr>
              <a:t> et fait le tri et la pagination.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Avec EF Core, il peut trier et paginer directement en SQL.</a:t>
            </a:r>
            <a:endParaRPr lang="en-US" sz="1500" dirty="0"/>
          </a:p>
        </p:txBody>
      </p:sp>
      <p:sp>
        <p:nvSpPr>
          <p:cNvPr id="5" name="Code Razor"/>
          <p:cNvSpPr/>
          <p:nvPr/>
        </p:nvSpPr>
        <p:spPr>
          <a:xfrm>
            <a:off x="4846320" y="1417320"/>
            <a:ext cx="6812280" cy="3413252"/>
          </a:xfrm>
          <a:prstGeom prst="roundRect">
            <a:avLst>
              <a:gd name="adj" fmla="val 2679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6" name="Langage Razor"/>
          <p:cNvSpPr txBox="1"/>
          <p:nvPr/>
        </p:nvSpPr>
        <p:spPr>
          <a:xfrm>
            <a:off x="5074920" y="1536192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 · TicketGrid.razor</a:t>
            </a:r>
            <a:endParaRPr lang="en-US" sz="1100" dirty="0"/>
          </a:p>
        </p:txBody>
      </p:sp>
      <p:sp>
        <p:nvSpPr>
          <p:cNvPr id="7" name="Contenu Razor"/>
          <p:cNvSpPr txBox="1"/>
          <p:nvPr/>
        </p:nvSpPr>
        <p:spPr>
          <a:xfrm>
            <a:off x="5074920" y="1856232"/>
            <a:ext cx="6446520" cy="286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&lt;QuickGrid Items="_tickets" Pagination="_pages"&gt;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&lt;PropertyColumn Property="t =&gt; t.Title"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Sortable="true" /&gt;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&lt;PropertyColumn Property="t =&gt; t.Priority"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Sortable="true" /&gt;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&lt;/QuickGrid&gt;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&lt;Paginator State="_pages" /&gt;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@code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IQueryable&lt;TicketDto&gt; _tickets =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Enumerable.Empty&lt;TicketDto&gt;().AsQueryable();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PaginationState _pages =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new() { ItemsPerPage = 10 };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CSS ET JAVASCRIPT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CSS isolé et appel JavaScript</a:t>
            </a:r>
            <a:endParaRPr lang="en-US" sz="2800" dirty="0"/>
          </a:p>
        </p:txBody>
      </p:sp>
      <p:sp>
        <p:nvSpPr>
          <p:cNvPr id="4" name="Code CSS"/>
          <p:cNvSpPr/>
          <p:nvPr/>
        </p:nvSpPr>
        <p:spPr>
          <a:xfrm>
            <a:off x="548640" y="1417320"/>
            <a:ext cx="5440680" cy="2633980"/>
          </a:xfrm>
          <a:prstGeom prst="roundRect">
            <a:avLst>
              <a:gd name="adj" fmla="val 3472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5" name="Langage CSS"/>
          <p:cNvSpPr txBox="1"/>
          <p:nvPr/>
        </p:nvSpPr>
        <p:spPr>
          <a:xfrm>
            <a:off x="77724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CSS · TicketCard.razor.css</a:t>
            </a:r>
            <a:endParaRPr lang="en-US" sz="1100" dirty="0"/>
          </a:p>
        </p:txBody>
      </p:sp>
      <p:sp>
        <p:nvSpPr>
          <p:cNvPr id="6" name="Contenu CSS"/>
          <p:cNvSpPr txBox="1"/>
          <p:nvPr/>
        </p:nvSpPr>
        <p:spPr>
          <a:xfrm>
            <a:off x="777240" y="1856232"/>
            <a:ext cx="5074920" cy="208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ne s'applique qu'à TicketCard */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.ticket-card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8px;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réécrit par le build en :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.ticket-card[b-3xxlpj9z1l] */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::deep vise les enfants */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.ticket-card ::deep p { margin: 0; }</a:t>
            </a:r>
            <a:endParaRPr lang="en-US" sz="1300" dirty="0"/>
          </a:p>
        </p:txBody>
      </p:sp>
      <p:sp>
        <p:nvSpPr>
          <p:cNvPr id="7" name="Code C#"/>
          <p:cNvSpPr/>
          <p:nvPr/>
        </p:nvSpPr>
        <p:spPr>
          <a:xfrm>
            <a:off x="6217920" y="1417320"/>
            <a:ext cx="5440680" cy="3023616"/>
          </a:xfrm>
          <a:prstGeom prst="roundRect">
            <a:avLst>
              <a:gd name="adj" fmla="val 3024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8" name="Langage C#"/>
          <p:cNvSpPr txBox="1"/>
          <p:nvPr/>
        </p:nvSpPr>
        <p:spPr>
          <a:xfrm>
            <a:off x="644652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 · appel d'un module JS</a:t>
            </a:r>
            <a:endParaRPr lang="en-US" sz="1100" dirty="0"/>
          </a:p>
        </p:txBody>
      </p:sp>
      <p:sp>
        <p:nvSpPr>
          <p:cNvPr id="9" name="Contenu C#"/>
          <p:cNvSpPr txBox="1"/>
          <p:nvPr/>
        </p:nvSpPr>
        <p:spPr>
          <a:xfrm>
            <a:off x="6446520" y="1856232"/>
            <a:ext cx="5074920" cy="2474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TicketCard.razor.js, à côté :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export function copyText(text)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return navigator.clipboard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.writeText(text);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_module ??= await JS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.InvokeAsync&lt;IJSObjectReference&gt;(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"import",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"./Components/TicketCard.razor.js");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_module.InvokeVoidAsync(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"copyText", Ticket.Title);</a:t>
            </a:r>
            <a:endParaRPr lang="en-US" sz="1300" dirty="0"/>
          </a:p>
        </p:txBody>
      </p:sp>
      <p:sp>
        <p:nvSpPr>
          <p:cNvPr id="10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11" name="Icône à retenir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12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Le CSS isolé ≈ les CSS Modules. L'interop JS sert pour ce que le navigateur seul sait faire : presse-papiers, cartes, graphiques.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À retenir</a:t>
            </a:r>
            <a:endParaRPr lang="en-US" sz="2800" dirty="0"/>
          </a:p>
        </p:txBody>
      </p:sp>
      <p:sp>
        <p:nvSpPr>
          <p:cNvPr id="3" name="Point 1"/>
          <p:cNvSpPr/>
          <p:nvPr/>
        </p:nvSpPr>
        <p:spPr>
          <a:xfrm>
            <a:off x="548640" y="1463040"/>
            <a:ext cx="731520" cy="633515"/>
          </a:xfrm>
          <a:custGeom>
            <a:avLst/>
            <a:gdLst/>
            <a:ahLst/>
            <a:cxnLst/>
            <a:rect l="l" t="t" r="r" b="b"/>
            <a:pathLst>
              <a:path w="731520" h="633515">
                <a:moveTo>
                  <a:pt x="0" y="316757"/>
                </a:moveTo>
                <a:lnTo>
                  <a:pt x="182880" y="0"/>
                </a:lnTo>
                <a:lnTo>
                  <a:pt x="548640" y="0"/>
                </a:lnTo>
                <a:lnTo>
                  <a:pt x="731520" y="316757"/>
                </a:lnTo>
                <a:lnTo>
                  <a:pt x="548640" y="633515"/>
                </a:lnTo>
                <a:lnTo>
                  <a:pt x="182880" y="633515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sp>
        <p:nvSpPr>
          <p:cNvPr id="4" name="Numéro 1"/>
          <p:cNvSpPr txBox="1"/>
          <p:nvPr/>
        </p:nvSpPr>
        <p:spPr>
          <a:xfrm>
            <a:off x="548640" y="1463040"/>
            <a:ext cx="731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Point 1 texte"/>
          <p:cNvSpPr txBox="1"/>
          <p:nvPr/>
        </p:nvSpPr>
        <p:spPr>
          <a:xfrm>
            <a:off x="1463040" y="141732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Une Blazor Web App : un projet serveur, un projet client pour ce qui tourne dans le navigateur.</a:t>
            </a:r>
            <a:endParaRPr lang="en-US" sz="1500" dirty="0"/>
          </a:p>
        </p:txBody>
      </p:sp>
      <p:sp>
        <p:nvSpPr>
          <p:cNvPr id="6" name="Point 2"/>
          <p:cNvSpPr/>
          <p:nvPr/>
        </p:nvSpPr>
        <p:spPr>
          <a:xfrm>
            <a:off x="6172200" y="1463040"/>
            <a:ext cx="731520" cy="633515"/>
          </a:xfrm>
          <a:custGeom>
            <a:avLst/>
            <a:gdLst/>
            <a:ahLst/>
            <a:cxnLst/>
            <a:rect l="l" t="t" r="r" b="b"/>
            <a:pathLst>
              <a:path w="731520" h="633515">
                <a:moveTo>
                  <a:pt x="0" y="316757"/>
                </a:moveTo>
                <a:lnTo>
                  <a:pt x="182880" y="0"/>
                </a:lnTo>
                <a:lnTo>
                  <a:pt x="548640" y="0"/>
                </a:lnTo>
                <a:lnTo>
                  <a:pt x="731520" y="316757"/>
                </a:lnTo>
                <a:lnTo>
                  <a:pt x="548640" y="633515"/>
                </a:lnTo>
                <a:lnTo>
                  <a:pt x="182880" y="633515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sp>
        <p:nvSpPr>
          <p:cNvPr id="7" name="Numéro 2"/>
          <p:cNvSpPr txBox="1"/>
          <p:nvPr/>
        </p:nvSpPr>
        <p:spPr>
          <a:xfrm>
            <a:off x="6172200" y="1463040"/>
            <a:ext cx="731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Point 2 texte"/>
          <p:cNvSpPr txBox="1"/>
          <p:nvPr/>
        </p:nvSpPr>
        <p:spPr>
          <a:xfrm>
            <a:off x="7086600" y="141732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 composant : du HTML, du C#, des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[Parameter]</a:t>
            </a:r>
            <a:r>
              <a:rPr lang="en-US" sz="1500" dirty="0">
                <a:solidFill>
                  <a:schemeClr val="tx1"/>
                </a:solidFill>
              </a:rPr>
              <a:t>, des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EventCallback</a:t>
            </a:r>
            <a:r>
              <a:rPr lang="en-US" sz="1500" dirty="0">
                <a:solidFill>
                  <a:schemeClr val="tx1"/>
                </a:solidFill>
              </a:rPr>
              <a:t>, un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ChildContent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9" name="Point 3"/>
          <p:cNvSpPr/>
          <p:nvPr/>
        </p:nvSpPr>
        <p:spPr>
          <a:xfrm>
            <a:off x="548640" y="2697480"/>
            <a:ext cx="731520" cy="633515"/>
          </a:xfrm>
          <a:custGeom>
            <a:avLst/>
            <a:gdLst/>
            <a:ahLst/>
            <a:cxnLst/>
            <a:rect l="l" t="t" r="r" b="b"/>
            <a:pathLst>
              <a:path w="731520" h="633515">
                <a:moveTo>
                  <a:pt x="0" y="316757"/>
                </a:moveTo>
                <a:lnTo>
                  <a:pt x="182880" y="0"/>
                </a:lnTo>
                <a:lnTo>
                  <a:pt x="548640" y="0"/>
                </a:lnTo>
                <a:lnTo>
                  <a:pt x="731520" y="316757"/>
                </a:lnTo>
                <a:lnTo>
                  <a:pt x="548640" y="633515"/>
                </a:lnTo>
                <a:lnTo>
                  <a:pt x="182880" y="633515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sp>
        <p:nvSpPr>
          <p:cNvPr id="10" name="Numéro 3"/>
          <p:cNvSpPr txBox="1"/>
          <p:nvPr/>
        </p:nvSpPr>
        <p:spPr>
          <a:xfrm>
            <a:off x="548640" y="2697480"/>
            <a:ext cx="731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Point 3 texte"/>
          <p:cNvSpPr txBox="1"/>
          <p:nvPr/>
        </p:nvSpPr>
        <p:spPr>
          <a:xfrm>
            <a:off x="1463040" y="265176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 charge les données dans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OnInitializedAsync</a:t>
            </a:r>
            <a:r>
              <a:rPr lang="en-US" sz="1500" dirty="0">
                <a:solidFill>
                  <a:schemeClr val="tx1"/>
                </a:solidFill>
              </a:rPr>
              <a:t>, en gérant chargement, erreur, vide et données.</a:t>
            </a:r>
            <a:endParaRPr lang="en-US" sz="1500" dirty="0"/>
          </a:p>
        </p:txBody>
      </p:sp>
      <p:sp>
        <p:nvSpPr>
          <p:cNvPr id="12" name="Point 4"/>
          <p:cNvSpPr/>
          <p:nvPr/>
        </p:nvSpPr>
        <p:spPr>
          <a:xfrm>
            <a:off x="6172200" y="2697480"/>
            <a:ext cx="731520" cy="633515"/>
          </a:xfrm>
          <a:custGeom>
            <a:avLst/>
            <a:gdLst/>
            <a:ahLst/>
            <a:cxnLst/>
            <a:rect l="l" t="t" r="r" b="b"/>
            <a:pathLst>
              <a:path w="731520" h="633515">
                <a:moveTo>
                  <a:pt x="0" y="316757"/>
                </a:moveTo>
                <a:lnTo>
                  <a:pt x="182880" y="0"/>
                </a:lnTo>
                <a:lnTo>
                  <a:pt x="548640" y="0"/>
                </a:lnTo>
                <a:lnTo>
                  <a:pt x="731520" y="316757"/>
                </a:lnTo>
                <a:lnTo>
                  <a:pt x="548640" y="633515"/>
                </a:lnTo>
                <a:lnTo>
                  <a:pt x="182880" y="633515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sp>
        <p:nvSpPr>
          <p:cNvPr id="13" name="Numéro 4"/>
          <p:cNvSpPr txBox="1"/>
          <p:nvPr/>
        </p:nvSpPr>
        <p:spPr>
          <a:xfrm>
            <a:off x="6172200" y="2697480"/>
            <a:ext cx="731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Point 4 texte"/>
          <p:cNvSpPr txBox="1"/>
          <p:nvPr/>
        </p:nvSpPr>
        <p:spPr>
          <a:xfrm>
            <a:off x="7086600" y="265176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Quatre modes de rendu : choisissez selon où doit tourner le code. Nos applis : surtout Server.</a:t>
            </a:r>
            <a:endParaRPr lang="en-US" sz="1500" dirty="0"/>
          </a:p>
        </p:txBody>
      </p:sp>
      <p:sp>
        <p:nvSpPr>
          <p:cNvPr id="15" name="Point 5"/>
          <p:cNvSpPr/>
          <p:nvPr/>
        </p:nvSpPr>
        <p:spPr>
          <a:xfrm>
            <a:off x="548640" y="3931920"/>
            <a:ext cx="731520" cy="633515"/>
          </a:xfrm>
          <a:custGeom>
            <a:avLst/>
            <a:gdLst/>
            <a:ahLst/>
            <a:cxnLst/>
            <a:rect l="l" t="t" r="r" b="b"/>
            <a:pathLst>
              <a:path w="731520" h="633515">
                <a:moveTo>
                  <a:pt x="0" y="316757"/>
                </a:moveTo>
                <a:lnTo>
                  <a:pt x="182880" y="0"/>
                </a:lnTo>
                <a:lnTo>
                  <a:pt x="548640" y="0"/>
                </a:lnTo>
                <a:lnTo>
                  <a:pt x="731520" y="316757"/>
                </a:lnTo>
                <a:lnTo>
                  <a:pt x="548640" y="633515"/>
                </a:lnTo>
                <a:lnTo>
                  <a:pt x="182880" y="633515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sp>
        <p:nvSpPr>
          <p:cNvPr id="16" name="Numéro 5"/>
          <p:cNvSpPr txBox="1"/>
          <p:nvPr/>
        </p:nvSpPr>
        <p:spPr>
          <a:xfrm>
            <a:off x="548640" y="3931920"/>
            <a:ext cx="731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5</a:t>
            </a:r>
            <a:endParaRPr lang="en-US" sz="2000" dirty="0"/>
          </a:p>
        </p:txBody>
      </p:sp>
      <p:sp>
        <p:nvSpPr>
          <p:cNvPr id="17" name="Point 5 texte"/>
          <p:cNvSpPr txBox="1"/>
          <p:nvPr/>
        </p:nvSpPr>
        <p:spPr>
          <a:xfrm>
            <a:off x="1463040" y="38862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 prérendu affiche vite mais initialise deux fois : corrigé demain avec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[PersistentState]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8" name="Point 6"/>
          <p:cNvSpPr/>
          <p:nvPr/>
        </p:nvSpPr>
        <p:spPr>
          <a:xfrm>
            <a:off x="6172200" y="3931920"/>
            <a:ext cx="731520" cy="633515"/>
          </a:xfrm>
          <a:custGeom>
            <a:avLst/>
            <a:gdLst/>
            <a:ahLst/>
            <a:cxnLst/>
            <a:rect l="l" t="t" r="r" b="b"/>
            <a:pathLst>
              <a:path w="731520" h="633515">
                <a:moveTo>
                  <a:pt x="0" y="316757"/>
                </a:moveTo>
                <a:lnTo>
                  <a:pt x="182880" y="0"/>
                </a:lnTo>
                <a:lnTo>
                  <a:pt x="548640" y="0"/>
                </a:lnTo>
                <a:lnTo>
                  <a:pt x="731520" y="316757"/>
                </a:lnTo>
                <a:lnTo>
                  <a:pt x="548640" y="633515"/>
                </a:lnTo>
                <a:lnTo>
                  <a:pt x="182880" y="633515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sp>
        <p:nvSpPr>
          <p:cNvPr id="19" name="Numéro 6"/>
          <p:cNvSpPr txBox="1"/>
          <p:nvPr/>
        </p:nvSpPr>
        <p:spPr>
          <a:xfrm>
            <a:off x="6172200" y="3931920"/>
            <a:ext cx="731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6</a:t>
            </a:r>
            <a:endParaRPr lang="en-US" sz="2000" dirty="0"/>
          </a:p>
        </p:txBody>
      </p:sp>
      <p:sp>
        <p:nvSpPr>
          <p:cNvPr id="20" name="Point 6 texte"/>
          <p:cNvSpPr txBox="1"/>
          <p:nvPr/>
        </p:nvSpPr>
        <p:spPr>
          <a:xfrm>
            <a:off x="7086600" y="38862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EditForm valide avec les DataAnnotations ; le CSS isolé et l'interop JS complètent.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Place au TP-03</a:t>
            </a:r>
            <a:endParaRPr lang="en-US" sz="4400" dirty="0"/>
          </a:p>
        </p:txBody>
      </p:sp>
      <p:pic>
        <p:nvPicPr>
          <p:cNvPr id="3" name="Accroche" descr="À vous de jou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54680"/>
            <a:ext cx="3840480" cy="118241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43434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tp-03-blazor-composants/enonce.html : le front de l'API d'hier. Lancez l'API, puis le front, et gardez l'onglet Réseau des outils de développement ouvert.</a:t>
            </a:r>
            <a:endParaRPr lang="en-US" sz="1600" dirty="0"/>
          </a:p>
        </p:txBody>
      </p:sp>
      <p:sp>
        <p:nvSpPr>
          <p:cNvPr id="5" name="Hexagone décoratif"/>
          <p:cNvSpPr/>
          <p:nvPr/>
        </p:nvSpPr>
        <p:spPr>
          <a:xfrm>
            <a:off x="10058400" y="274320"/>
            <a:ext cx="2011680" cy="1742166"/>
          </a:xfrm>
          <a:custGeom>
            <a:avLst/>
            <a:gdLst/>
            <a:ahLst/>
            <a:cxnLst/>
            <a:rect l="l" t="t" r="r" b="b"/>
            <a:pathLst>
              <a:path w="2011680" h="1742166">
                <a:moveTo>
                  <a:pt x="0" y="871083"/>
                </a:moveTo>
                <a:lnTo>
                  <a:pt x="502920" y="0"/>
                </a:lnTo>
                <a:lnTo>
                  <a:pt x="1508760" y="0"/>
                </a:lnTo>
                <a:lnTo>
                  <a:pt x="2011680" y="871083"/>
                </a:lnTo>
                <a:lnTo>
                  <a:pt x="1508760" y="1742166"/>
                </a:lnTo>
                <a:lnTo>
                  <a:pt x="502920" y="1742166"/>
                </a:lnTo>
                <a:close/>
              </a:path>
            </a:pathLst>
          </a:custGeom>
          <a:solidFill>
            <a:srgbClr val="000D78">
              <a:alpha val="90000"/>
            </a:srgbClr>
          </a:solidFill>
          <a:ln w="12700">
            <a:solidFill>
              <a:srgbClr val="000D78">
                <a:alpha val="0"/>
              </a:srgbClr>
            </a:solidFill>
            <a:prstDash val="solid"/>
          </a:ln>
        </p:spPr>
      </p:sp>
      <p:sp>
        <p:nvSpPr>
          <p:cNvPr id="6" name="Hexagone décoratif"/>
          <p:cNvSpPr/>
          <p:nvPr/>
        </p:nvSpPr>
        <p:spPr>
          <a:xfrm>
            <a:off x="11155680" y="2103120"/>
            <a:ext cx="1463040" cy="1267030"/>
          </a:xfrm>
          <a:custGeom>
            <a:avLst/>
            <a:gdLst/>
            <a:ahLst/>
            <a:cxnLst/>
            <a:rect l="l" t="t" r="r" b="b"/>
            <a:pathLst>
              <a:path w="1463040" h="1267030">
                <a:moveTo>
                  <a:pt x="0" y="633515"/>
                </a:moveTo>
                <a:lnTo>
                  <a:pt x="365760" y="0"/>
                </a:lnTo>
                <a:lnTo>
                  <a:pt x="1097280" y="0"/>
                </a:lnTo>
                <a:lnTo>
                  <a:pt x="1463040" y="633515"/>
                </a:lnTo>
                <a:lnTo>
                  <a:pt x="1097280" y="1267030"/>
                </a:lnTo>
                <a:lnTo>
                  <a:pt x="365760" y="1267030"/>
                </a:lnTo>
                <a:close/>
              </a:path>
            </a:pathLst>
          </a:custGeom>
          <a:solidFill>
            <a:srgbClr val="001793">
              <a:alpha val="65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7" name="Hexagone décoratif"/>
          <p:cNvSpPr/>
          <p:nvPr/>
        </p:nvSpPr>
        <p:spPr>
          <a:xfrm>
            <a:off x="9509760" y="4754880"/>
            <a:ext cx="1188720" cy="1029462"/>
          </a:xfrm>
          <a:custGeom>
            <a:avLst/>
            <a:gdLst/>
            <a:ahLst/>
            <a:cxnLst/>
            <a:rect l="l" t="t" r="r" b="b"/>
            <a:pathLst>
              <a:path w="1188720" h="1029462">
                <a:moveTo>
                  <a:pt x="0" y="514731"/>
                </a:moveTo>
                <a:lnTo>
                  <a:pt x="297180" y="0"/>
                </a:lnTo>
                <a:lnTo>
                  <a:pt x="891540" y="0"/>
                </a:lnTo>
                <a:lnTo>
                  <a:pt x="1188720" y="514731"/>
                </a:lnTo>
                <a:lnTo>
                  <a:pt x="891540" y="1029462"/>
                </a:lnTo>
                <a:lnTo>
                  <a:pt x="297180" y="1029462"/>
                </a:lnTo>
                <a:close/>
              </a:path>
            </a:pathLst>
          </a:custGeom>
          <a:solidFill>
            <a:srgbClr val="001793">
              <a:alpha val="50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8" name="Hexagone jaune"/>
          <p:cNvSpPr/>
          <p:nvPr/>
        </p:nvSpPr>
        <p:spPr>
          <a:xfrm>
            <a:off x="10881360" y="5257800"/>
            <a:ext cx="685800" cy="593920"/>
          </a:xfrm>
          <a:custGeom>
            <a:avLst/>
            <a:gdLst/>
            <a:ahLst/>
            <a:cxnLst/>
            <a:rect l="l" t="t" r="r" b="b"/>
            <a:pathLst>
              <a:path w="685800" h="593920">
                <a:moveTo>
                  <a:pt x="0" y="296960"/>
                </a:moveTo>
                <a:lnTo>
                  <a:pt x="171450" y="0"/>
                </a:lnTo>
                <a:lnTo>
                  <a:pt x="514350" y="0"/>
                </a:lnTo>
                <a:lnTo>
                  <a:pt x="685800" y="296960"/>
                </a:lnTo>
                <a:lnTo>
                  <a:pt x="514350" y="593920"/>
                </a:lnTo>
                <a:lnTo>
                  <a:pt x="171450" y="59392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pic>
        <p:nvPicPr>
          <p:cNvPr id="9" name="Logo" descr="Logo 3B Stud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148840"/>
            <a:ext cx="2560320" cy="20072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3B Studio">
  <a:themeElements>
    <a:clrScheme name="3B Studio">
      <a:dk1>
        <a:srgbClr val="110E2D"/>
      </a:dk1>
      <a:lt1>
        <a:srgbClr val="FFFFFF"/>
      </a:lt1>
      <a:dk2>
        <a:srgbClr val="000057"/>
      </a:dk2>
      <a:lt2>
        <a:srgbClr val="E1EAF1"/>
      </a:lt2>
      <a:accent1>
        <a:srgbClr val="0040FF"/>
      </a:accent1>
      <a:accent2>
        <a:srgbClr val="FFFF00"/>
      </a:accent2>
      <a:accent3>
        <a:srgbClr val="001793"/>
      </a:accent3>
      <a:accent4>
        <a:srgbClr val="000D78"/>
      </a:accent4>
      <a:accent5>
        <a:srgbClr val="00D66B"/>
      </a:accent5>
      <a:accent6>
        <a:srgbClr val="FF3749"/>
      </a:accent6>
      <a:hlink>
        <a:srgbClr val="0040FF"/>
      </a:hlink>
      <a:folHlink>
        <a:srgbClr val="000092"/>
      </a:folHlink>
    </a:clrScheme>
    <a:fontScheme name="3B Studio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Black Blue Bees - 3B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3 · Blazor : composants, modes de rendu et formulaires</dc:title>
  <dc:subject>Cours 3 · Blazor : composants, modes de rendu et formulaires</dc:subject>
  <dc:creator>3B Studio</dc:creator>
  <cp:lastModifiedBy>3B Studio</cp:lastModifiedBy>
  <cp:revision>1</cp:revision>
  <dcterms:created xsi:type="dcterms:W3CDTF">2026-10-19T08:12:43Z</dcterms:created>
  <dcterms:modified xsi:type="dcterms:W3CDTF">2026-10-19T08:12:43Z</dcterms:modified>
</cp:coreProperties>
</file>