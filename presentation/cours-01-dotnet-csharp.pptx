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23215b4-38df-4391-2452-e0247cb1e426}">
          <p14:sldIdLst>
            <p14:sldId id="256"/>
            <p14:sldId id="257"/>
          </p14:sldIdLst>
        </p14:section>
        <p14:section name="1. La plateforme" id="{a90551e0-6957-6af4-d907-7ae8b13b4565}">
          <p14:sldIdLst>
            <p14:sldId id="258"/>
            <p14:sldId id="259"/>
            <p14:sldId id="260"/>
            <p14:sldId id="261"/>
          </p14:sldIdLst>
        </p14:section>
        <p14:section name="2. L'outillage" id="{72fef092-1b10-3719-f556-2d5a2589cd53}">
          <p14:sldIdLst>
            <p14:sldId id="262"/>
            <p14:sldId id="263"/>
            <p14:sldId id="264"/>
            <p14:sldId id="265"/>
          </p14:sldIdLst>
        </p14:section>
        <p14:section name="3. Les types" id="{278c0f11-1e4b-ec2f-1c96-2a4f3267e174}">
          <p14:sldIdLst>
            <p14:sldId id="266"/>
            <p14:sldId id="267"/>
            <p14:sldId id="268"/>
            <p14:sldId id="269"/>
          </p14:sldIdLst>
        </p14:section>
        <p14:section name="4. Le langage" id="{1aedcbc4-e767-9f20-b6ef-24df24e81b16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5. Tester" id="{481aa98d-e6da-32e5-5fad-a16c3cac3617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Trente à quarante minutes de cours avant le TP-01. Le but : poser le vocabulaire et les réflexes. Tout ce qu'on voit ici sera manipulé ce matin.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parties, qui suivent l'ordre des exercices du TP-01.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directe avec la JVM : javac produit du bytecode, la JVM le compile avec son JIT. Pour un développeur Rust : Native AOT se rapproche d'un binaire compilé, au prix de quelques restrictions (réflexion).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plusieurs SDK cohabitent : c'est global.json qui choisit, dossier par dossier. Le TP-05 s'en sert pour .NET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Rythme annuel prévisible. Une version LTS reçoit des correctifs pendant trois ans, une STS pendant deux. C# suit : C# 14 avec .NET 10, C# 15 avec .NET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taper dotnet new list : on voit les modèles disponibles (console, webapi, blazor, xunit…). dotnet watch servira au TP-05 pour le Hot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Comparer avec un pom.xml : ici, pas de liste de sources ni de plugins. Nullable et ImplicitUsings sont dans Directory.Build.props à la racine du dépôt, qui s'applique à tous les projets.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convention de nos dépôts. Mettre Version= sur un PackageReference provoque l'erreur NU1008 : l'alternant la rencontrera au TP-04 en créant une bibliothèque.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piège classique : transformer une entité en record parce que c'est concis. Deux commandes avec les mêmes données restent deux commandes ; un test du TP-01 le vérifie.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syntaxe de collection [] (C# 12) et le constructeur primaire des records. L'égalité générée compare toutes les propriétés.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Grosse différence avec Option&lt;T&gt; de Rust : ici rien n'empêche un null d'arriver, par exemple depuis du JSON ou une vieille bibliothèque. L'exercice 3 part de code qui compile avec des avertissements CS8602.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switch expression renvoie une valeur, comme match en Rust. Le compilateur signale un switch non exhaustif (CS8509) : on le verra avec les unions de C# 15 au TP-05.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Équivalent Java : les Streams. En Rust : les itérateurs (filter, map, flat_map). La différence de taille arrive au TP-02 : sur un IQueryable, EF Core traduit la même requête en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question posée à la fin de l'exercice 5 : pourquoi SalesReport copie-t-il la séquence reçue ? Pour ne pas recalculer une requête paresseuse à chaque méthode.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Différence avec Rust : un futur Rust ne fait rien tant qu'on ne l'attend pas. Ici, la tâche est lancée immédiatement. Faire remarquer le ToList : sans lui, Select est paresseux et rien ne démarre avant WhenAll.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tests de l'exercice 6 attrapent l'await dans la boucle (concurrence maximale de 1) et l'annulation non transmise.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projets de test sont des exécutables (xUnit v3 sur Microsoft.Testing.Platform). Le test se lance aussi depuis l'IDE, en un clic, et en débogage.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points, un par notion. Les reprendre en fin de matinée avec ce qui a coincé dans le 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ensemble l'énoncé interactif et montrer le choix du langage de comparaison.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UVERTU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TU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Sous-titre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Titre de partie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Détail</a:t>
            </a:r>
            <a:endParaRPr lang="en-US" sz="1800" dirty="0"/>
          </a:p>
        </p:txBody>
      </p:sp>
      <p:pic>
        <p:nvPicPr>
          <p:cNvPr id="4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5989320"/>
            <a:ext cx="685800" cy="5376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Titre</a:t>
            </a:r>
            <a:endParaRPr lang="en-US" sz="2800" dirty="0"/>
          </a:p>
        </p:txBody>
      </p:sp>
      <p:pic>
        <p:nvPicPr>
          <p:cNvPr id="3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6089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Parcours .NET · 3B Studio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Détail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rtitre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COURS 1 · LUNDI 19 OCTOBRE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.NET et C# express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 plateforme, l'outillage, et ce qui change pour qui vient de Java, Rust, Python ou JavaScript.</a:t>
            </a:r>
            <a:endParaRPr lang="en-US" sz="1800" dirty="0"/>
          </a:p>
        </p:txBody>
      </p:sp>
      <p:sp>
        <p:nvSpPr>
          <p:cNvPr id="5" name="Hexagone décoratif"/>
          <p:cNvSpPr/>
          <p:nvPr/>
        </p:nvSpPr>
        <p:spPr>
          <a:xfrm>
            <a:off x="7863840" y="914400"/>
            <a:ext cx="1828800" cy="1583787"/>
          </a:xfrm>
          <a:custGeom>
            <a:avLst/>
            <a:gdLst/>
            <a:ahLst/>
            <a:cxnLst/>
            <a:rect l="l" t="t" r="r" b="b"/>
            <a:pathLst>
              <a:path w="1828800" h="1583787">
                <a:moveTo>
                  <a:pt x="0" y="791894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791894"/>
                </a:lnTo>
                <a:lnTo>
                  <a:pt x="1371600" y="1583787"/>
                </a:lnTo>
                <a:lnTo>
                  <a:pt x="457200" y="1583787"/>
                </a:lnTo>
                <a:close/>
              </a:path>
            </a:pathLst>
          </a:custGeom>
          <a:solidFill>
            <a:srgbClr val="000D78">
              <a:alpha val="85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424160" y="4526280"/>
            <a:ext cx="1371600" cy="1187840"/>
          </a:xfrm>
          <a:custGeom>
            <a:avLst/>
            <a:gdLst/>
            <a:ahLst/>
            <a:cxnLst/>
            <a:rect l="l" t="t" r="r" b="b"/>
            <a:pathLst>
              <a:path w="1371600" h="1187840">
                <a:moveTo>
                  <a:pt x="0" y="593920"/>
                </a:moveTo>
                <a:lnTo>
                  <a:pt x="342900" y="0"/>
                </a:lnTo>
                <a:lnTo>
                  <a:pt x="1028700" y="0"/>
                </a:lnTo>
                <a:lnTo>
                  <a:pt x="1371600" y="593920"/>
                </a:lnTo>
                <a:lnTo>
                  <a:pt x="1028700" y="1187840"/>
                </a:lnTo>
                <a:lnTo>
                  <a:pt x="342900" y="1187840"/>
                </a:lnTo>
                <a:close/>
              </a:path>
            </a:pathLst>
          </a:custGeom>
          <a:solidFill>
            <a:srgbClr val="001793">
              <a:alpha val="6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jaune"/>
          <p:cNvSpPr/>
          <p:nvPr/>
        </p:nvSpPr>
        <p:spPr>
          <a:xfrm>
            <a:off x="7635240" y="502920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8" name="Grand hexagone"/>
          <p:cNvSpPr/>
          <p:nvPr/>
        </p:nvSpPr>
        <p:spPr>
          <a:xfrm>
            <a:off x="827532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9" name="Numéro du cours"/>
          <p:cNvSpPr txBox="1"/>
          <p:nvPr/>
        </p:nvSpPr>
        <p:spPr>
          <a:xfrm>
            <a:off x="827532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2"/>
                </a:solidFill>
              </a:rPr>
              <a:t>1</a:t>
            </a:r>
            <a:endParaRPr lang="en-US" sz="8000" dirty="0"/>
          </a:p>
        </p:txBody>
      </p:sp>
      <p:pic>
        <p:nvPicPr>
          <p:cNvPr id="10" name="Logo" descr="Logo 3B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822960" cy="645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 programme</a:t>
            </a:r>
            <a:endParaRPr lang="en-US" sz="2800" dirty="0"/>
          </a:p>
        </p:txBody>
      </p:sp>
      <p:sp>
        <p:nvSpPr>
          <p:cNvPr id="3" name="Pastille 1"/>
          <p:cNvSpPr/>
          <p:nvPr/>
        </p:nvSpPr>
        <p:spPr>
          <a:xfrm>
            <a:off x="548640" y="141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4" name="Icône 1" descr="La plateforme .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356616" cy="356616"/>
          </a:xfrm>
          <a:prstGeom prst="rect">
            <a:avLst/>
          </a:prstGeom>
        </p:spPr>
      </p:pic>
      <p:sp>
        <p:nvSpPr>
          <p:cNvPr id="5" name="Partie 1"/>
          <p:cNvSpPr txBox="1"/>
          <p:nvPr/>
        </p:nvSpPr>
        <p:spPr>
          <a:xfrm>
            <a:off x="1554480" y="143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La plateforme .NET</a:t>
            </a:r>
            <a:endParaRPr lang="en-US" sz="1800" dirty="0"/>
          </a:p>
        </p:txBody>
      </p:sp>
      <p:sp>
        <p:nvSpPr>
          <p:cNvPr id="6" name="Contenu 1"/>
          <p:cNvSpPr txBox="1"/>
          <p:nvPr/>
        </p:nvSpPr>
        <p:spPr>
          <a:xfrm>
            <a:off x="5852160" y="143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runtime, SDK, versions, de C# au code machine</a:t>
            </a:r>
            <a:endParaRPr lang="en-US" sz="1500" dirty="0"/>
          </a:p>
        </p:txBody>
      </p:sp>
      <p:sp>
        <p:nvSpPr>
          <p:cNvPr id="7" name="Pastille 2"/>
          <p:cNvSpPr/>
          <p:nvPr/>
        </p:nvSpPr>
        <p:spPr>
          <a:xfrm>
            <a:off x="548640" y="23317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8" name="Icône 2" descr="L'outi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87168"/>
            <a:ext cx="356616" cy="356616"/>
          </a:xfrm>
          <a:prstGeom prst="rect">
            <a:avLst/>
          </a:prstGeom>
        </p:spPr>
      </p:pic>
      <p:sp>
        <p:nvSpPr>
          <p:cNvPr id="9" name="Partie 2"/>
          <p:cNvSpPr txBox="1"/>
          <p:nvPr/>
        </p:nvSpPr>
        <p:spPr>
          <a:xfrm>
            <a:off x="1554480" y="23500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L'outillage</a:t>
            </a:r>
            <a:endParaRPr lang="en-US" sz="1800" dirty="0"/>
          </a:p>
        </p:txBody>
      </p:sp>
      <p:sp>
        <p:nvSpPr>
          <p:cNvPr id="10" name="Contenu 2"/>
          <p:cNvSpPr txBox="1"/>
          <p:nvPr/>
        </p:nvSpPr>
        <p:spPr>
          <a:xfrm>
            <a:off x="5852160" y="23500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CLI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lang="en-US" sz="1500" dirty="0">
                <a:solidFill>
                  <a:schemeClr val="tx1"/>
                </a:solidFill>
              </a:rPr>
              <a:t>, le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.csproj</a:t>
            </a:r>
            <a:r>
              <a:rPr lang="en-US" sz="1500" dirty="0">
                <a:solidFill>
                  <a:schemeClr val="tx1"/>
                </a:solidFill>
              </a:rPr>
              <a:t>, NuGet</a:t>
            </a:r>
            <a:endParaRPr lang="en-US" sz="1500" dirty="0"/>
          </a:p>
        </p:txBody>
      </p:sp>
      <p:sp>
        <p:nvSpPr>
          <p:cNvPr id="11" name="Pastille 3"/>
          <p:cNvSpPr/>
          <p:nvPr/>
        </p:nvSpPr>
        <p:spPr>
          <a:xfrm>
            <a:off x="548640" y="32461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2" name="Icône 3" descr="Le système de typ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01568"/>
            <a:ext cx="356616" cy="356616"/>
          </a:xfrm>
          <a:prstGeom prst="rect">
            <a:avLst/>
          </a:prstGeom>
        </p:spPr>
      </p:pic>
      <p:sp>
        <p:nvSpPr>
          <p:cNvPr id="13" name="Partie 3"/>
          <p:cNvSpPr txBox="1"/>
          <p:nvPr/>
        </p:nvSpPr>
        <p:spPr>
          <a:xfrm>
            <a:off x="1554480" y="32644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Le système de types</a:t>
            </a:r>
            <a:endParaRPr lang="en-US" sz="1800" dirty="0"/>
          </a:p>
        </p:txBody>
      </p:sp>
      <p:sp>
        <p:nvSpPr>
          <p:cNvPr id="14" name="Contenu 3"/>
          <p:cNvSpPr txBox="1"/>
          <p:nvPr/>
        </p:nvSpPr>
        <p:spPr>
          <a:xfrm>
            <a:off x="5852160" y="32644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valeur ou référence, class, struct, record, nullabilité</a:t>
            </a:r>
            <a:endParaRPr lang="en-US" sz="1500" dirty="0"/>
          </a:p>
        </p:txBody>
      </p:sp>
      <p:sp>
        <p:nvSpPr>
          <p:cNvPr id="15" name="Pastille 4"/>
          <p:cNvSpPr/>
          <p:nvPr/>
        </p:nvSpPr>
        <p:spPr>
          <a:xfrm>
            <a:off x="548640" y="41605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4" descr="Le langage au quotidi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15968"/>
            <a:ext cx="356616" cy="356616"/>
          </a:xfrm>
          <a:prstGeom prst="rect">
            <a:avLst/>
          </a:prstGeom>
        </p:spPr>
      </p:pic>
      <p:sp>
        <p:nvSpPr>
          <p:cNvPr id="17" name="Partie 4"/>
          <p:cNvSpPr txBox="1"/>
          <p:nvPr/>
        </p:nvSpPr>
        <p:spPr>
          <a:xfrm>
            <a:off x="1554480" y="4178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Le langage au quotidien</a:t>
            </a:r>
            <a:endParaRPr lang="en-US" sz="1800" dirty="0"/>
          </a:p>
        </p:txBody>
      </p:sp>
      <p:sp>
        <p:nvSpPr>
          <p:cNvPr id="18" name="Contenu 4"/>
          <p:cNvSpPr txBox="1"/>
          <p:nvPr/>
        </p:nvSpPr>
        <p:spPr>
          <a:xfrm>
            <a:off x="5852160" y="41788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pattern matching, LINQ, async/await</a:t>
            </a:r>
            <a:endParaRPr lang="en-US" sz="1500" dirty="0"/>
          </a:p>
        </p:txBody>
      </p:sp>
      <p:sp>
        <p:nvSpPr>
          <p:cNvPr id="19" name="Pastille 5"/>
          <p:cNvSpPr/>
          <p:nvPr/>
        </p:nvSpPr>
        <p:spPr>
          <a:xfrm>
            <a:off x="548640" y="50749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5" descr="Tes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30368"/>
            <a:ext cx="356616" cy="356616"/>
          </a:xfrm>
          <a:prstGeom prst="rect">
            <a:avLst/>
          </a:prstGeom>
        </p:spPr>
      </p:pic>
      <p:sp>
        <p:nvSpPr>
          <p:cNvPr id="21" name="Partie 5"/>
          <p:cNvSpPr txBox="1"/>
          <p:nvPr/>
        </p:nvSpPr>
        <p:spPr>
          <a:xfrm>
            <a:off x="1554480" y="50932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 Tester</a:t>
            </a:r>
            <a:endParaRPr lang="en-US" sz="1800" dirty="0"/>
          </a:p>
        </p:txBody>
      </p:sp>
      <p:sp>
        <p:nvSpPr>
          <p:cNvPr id="22" name="Contenu 5"/>
          <p:cNvSpPr txBox="1"/>
          <p:nvPr/>
        </p:nvSpPr>
        <p:spPr>
          <a:xfrm>
            <a:off x="5852160" y="50932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xUnit,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[Fact]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[Theory]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1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1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La plateforme .NET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Ce qui tourne, ce qu'on installe, et quelle version choisir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PLATEFORME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Du code C# au code machine</a:t>
            </a:r>
            <a:endParaRPr lang="en-US" sz="2800" dirty="0"/>
          </a:p>
        </p:txBody>
      </p:sp>
      <p:sp>
        <p:nvSpPr>
          <p:cNvPr id="4" name="Accroche"/>
          <p:cNvSpPr txBox="1"/>
          <p:nvPr/>
        </p:nvSpPr>
        <p:spPr>
          <a:xfrm>
            <a:off x="548640" y="1417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Comme Java : on compile vers un code intermédiaire, que le runtime traduit en code machine à l'exécution.</a:t>
            </a:r>
            <a:endParaRPr lang="en-US" sz="1600" dirty="0"/>
          </a:p>
        </p:txBody>
      </p:sp>
      <p:sp>
        <p:nvSpPr>
          <p:cNvPr id="5" name="Étape Code C#"/>
          <p:cNvSpPr/>
          <p:nvPr/>
        </p:nvSpPr>
        <p:spPr>
          <a:xfrm>
            <a:off x="1042416" y="214884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6" name="Icône Code C#" descr="Code C#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2411776"/>
            <a:ext cx="543154" cy="543154"/>
          </a:xfrm>
          <a:prstGeom prst="rect">
            <a:avLst/>
          </a:prstGeom>
        </p:spPr>
      </p:pic>
      <p:sp>
        <p:nvSpPr>
          <p:cNvPr id="7" name="Titre Code C#"/>
          <p:cNvSpPr txBox="1"/>
          <p:nvPr/>
        </p:nvSpPr>
        <p:spPr>
          <a:xfrm>
            <a:off x="594360" y="340074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 C#</a:t>
            </a:r>
            <a:endParaRPr lang="en-US" sz="1600" dirty="0"/>
          </a:p>
        </p:txBody>
      </p:sp>
      <p:sp>
        <p:nvSpPr>
          <p:cNvPr id="8" name="Détail Code C#"/>
          <p:cNvSpPr txBox="1"/>
          <p:nvPr/>
        </p:nvSpPr>
        <p:spPr>
          <a:xfrm>
            <a:off x="640080" y="381222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fichiers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</a:t>
            </a:r>
            <a:r>
              <a:rPr lang="en-US" sz="1300" dirty="0">
                <a:solidFill>
                  <a:schemeClr val="tx1"/>
                </a:solidFill>
              </a:rPr>
              <a:t>, projet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.csproj</a:t>
            </a:r>
            <a:endParaRPr lang="en-US" sz="1300" dirty="0"/>
          </a:p>
        </p:txBody>
      </p:sp>
      <p:pic>
        <p:nvPicPr>
          <p:cNvPr id="9" name="Flèche 1" descr="pu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537049"/>
            <a:ext cx="292608" cy="292608"/>
          </a:xfrm>
          <a:prstGeom prst="rect">
            <a:avLst/>
          </a:prstGeom>
        </p:spPr>
      </p:pic>
      <p:sp>
        <p:nvSpPr>
          <p:cNvPr id="10" name="Étape Compilateur Roslyn"/>
          <p:cNvSpPr/>
          <p:nvPr/>
        </p:nvSpPr>
        <p:spPr>
          <a:xfrm>
            <a:off x="3264408" y="214884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1" name="Icône Compilateur Roslyn" descr="Compilateur Rosly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51" y="2411776"/>
            <a:ext cx="543154" cy="543154"/>
          </a:xfrm>
          <a:prstGeom prst="rect">
            <a:avLst/>
          </a:prstGeom>
        </p:spPr>
      </p:pic>
      <p:sp>
        <p:nvSpPr>
          <p:cNvPr id="12" name="Titre Compilateur Roslyn"/>
          <p:cNvSpPr txBox="1"/>
          <p:nvPr/>
        </p:nvSpPr>
        <p:spPr>
          <a:xfrm>
            <a:off x="2816352" y="340074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Compilateur Roslyn</a:t>
            </a:r>
            <a:endParaRPr lang="en-US" sz="1600" dirty="0"/>
          </a:p>
        </p:txBody>
      </p:sp>
      <p:sp>
        <p:nvSpPr>
          <p:cNvPr id="13" name="Détail Compilateur Roslyn"/>
          <p:cNvSpPr txBox="1"/>
          <p:nvPr/>
        </p:nvSpPr>
        <p:spPr>
          <a:xfrm>
            <a:off x="2862072" y="381222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build</a:t>
            </a:r>
            <a:r>
              <a:rPr lang="en-US" sz="1300" dirty="0">
                <a:solidFill>
                  <a:schemeClr val="tx1"/>
                </a:solidFill>
              </a:rPr>
              <a:t>, analyseurs, avertissements</a:t>
            </a:r>
            <a:endParaRPr lang="en-US" sz="1300" dirty="0"/>
          </a:p>
        </p:txBody>
      </p:sp>
      <p:pic>
        <p:nvPicPr>
          <p:cNvPr id="14" name="Flèche 2" descr="pu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37049"/>
            <a:ext cx="292608" cy="292608"/>
          </a:xfrm>
          <a:prstGeom prst="rect">
            <a:avLst/>
          </a:prstGeom>
        </p:spPr>
      </p:pic>
      <p:sp>
        <p:nvSpPr>
          <p:cNvPr id="15" name="Étape IL dans une DLL"/>
          <p:cNvSpPr/>
          <p:nvPr/>
        </p:nvSpPr>
        <p:spPr>
          <a:xfrm>
            <a:off x="5486400" y="214884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6" name="Icône IL dans une DLL" descr="IL dans une D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43" y="2411776"/>
            <a:ext cx="543154" cy="543154"/>
          </a:xfrm>
          <a:prstGeom prst="rect">
            <a:avLst/>
          </a:prstGeom>
        </p:spPr>
      </p:pic>
      <p:sp>
        <p:nvSpPr>
          <p:cNvPr id="17" name="Titre IL dans une DLL"/>
          <p:cNvSpPr txBox="1"/>
          <p:nvPr/>
        </p:nvSpPr>
        <p:spPr>
          <a:xfrm>
            <a:off x="5038344" y="340074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IL dans une DLL</a:t>
            </a:r>
            <a:endParaRPr lang="en-US" sz="1600" dirty="0"/>
          </a:p>
        </p:txBody>
      </p:sp>
      <p:sp>
        <p:nvSpPr>
          <p:cNvPr id="18" name="Détail IL dans une DLL"/>
          <p:cNvSpPr txBox="1"/>
          <p:nvPr/>
        </p:nvSpPr>
        <p:spPr>
          <a:xfrm>
            <a:off x="5084064" y="381222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 bytecode Java, portable</a:t>
            </a:r>
            <a:endParaRPr lang="en-US" sz="1300" dirty="0"/>
          </a:p>
        </p:txBody>
      </p:sp>
      <p:pic>
        <p:nvPicPr>
          <p:cNvPr id="19" name="Flèche 3" descr="p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2537049"/>
            <a:ext cx="292608" cy="292608"/>
          </a:xfrm>
          <a:prstGeom prst="rect">
            <a:avLst/>
          </a:prstGeom>
        </p:spPr>
      </p:pic>
      <p:sp>
        <p:nvSpPr>
          <p:cNvPr id="20" name="Étape CLR et JIT"/>
          <p:cNvSpPr/>
          <p:nvPr/>
        </p:nvSpPr>
        <p:spPr>
          <a:xfrm>
            <a:off x="7708392" y="214884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1" name="Icône CLR et JIT" descr="CLR et JI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035" y="2411776"/>
            <a:ext cx="543154" cy="543154"/>
          </a:xfrm>
          <a:prstGeom prst="rect">
            <a:avLst/>
          </a:prstGeom>
        </p:spPr>
      </p:pic>
      <p:sp>
        <p:nvSpPr>
          <p:cNvPr id="22" name="Titre CLR et JIT"/>
          <p:cNvSpPr txBox="1"/>
          <p:nvPr/>
        </p:nvSpPr>
        <p:spPr>
          <a:xfrm>
            <a:off x="7260336" y="340074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CLR et JIT</a:t>
            </a:r>
            <a:endParaRPr lang="en-US" sz="1600" dirty="0"/>
          </a:p>
        </p:txBody>
      </p:sp>
      <p:sp>
        <p:nvSpPr>
          <p:cNvPr id="23" name="Détail CLR et JIT"/>
          <p:cNvSpPr txBox="1"/>
          <p:nvPr/>
        </p:nvSpPr>
        <p:spPr>
          <a:xfrm>
            <a:off x="7306056" y="381222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compile en code machine à la volée</a:t>
            </a:r>
            <a:endParaRPr lang="en-US" sz="1300" dirty="0"/>
          </a:p>
        </p:txBody>
      </p:sp>
      <p:pic>
        <p:nvPicPr>
          <p:cNvPr id="24" name="Flèche 4" descr="pu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2537049"/>
            <a:ext cx="292608" cy="292608"/>
          </a:xfrm>
          <a:prstGeom prst="rect">
            <a:avLst/>
          </a:prstGeom>
        </p:spPr>
      </p:pic>
      <p:sp>
        <p:nvSpPr>
          <p:cNvPr id="25" name="Étape Code natif"/>
          <p:cNvSpPr/>
          <p:nvPr/>
        </p:nvSpPr>
        <p:spPr>
          <a:xfrm>
            <a:off x="9930384" y="214884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6" name="Icône Code natif" descr="Code natif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6027" y="2411776"/>
            <a:ext cx="543154" cy="543154"/>
          </a:xfrm>
          <a:prstGeom prst="rect">
            <a:avLst/>
          </a:prstGeom>
        </p:spPr>
      </p:pic>
      <p:sp>
        <p:nvSpPr>
          <p:cNvPr id="27" name="Titre Code natif"/>
          <p:cNvSpPr txBox="1"/>
          <p:nvPr/>
        </p:nvSpPr>
        <p:spPr>
          <a:xfrm>
            <a:off x="9482328" y="340074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 natif</a:t>
            </a:r>
            <a:endParaRPr lang="en-US" sz="1600" dirty="0"/>
          </a:p>
        </p:txBody>
      </p:sp>
      <p:sp>
        <p:nvSpPr>
          <p:cNvPr id="28" name="Détail Code natif"/>
          <p:cNvSpPr txBox="1"/>
          <p:nvPr/>
        </p:nvSpPr>
        <p:spPr>
          <a:xfrm>
            <a:off x="9528048" y="381222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 Native AOT : tout compilé d'avance</a:t>
            </a:r>
            <a:endParaRPr lang="en-US" sz="1300" dirty="0"/>
          </a:p>
        </p:txBody>
      </p:sp>
      <p:sp>
        <p:nvSpPr>
          <p:cNvPr id="2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30" name="Icône à retenir" descr="À reteni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3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seul runtime pour C#, F# et VB : ils partagent la bibliothèque standard (la BCL) et tous les packages NuGet.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PLATEFORME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qu'on installe, ce qu'on utilise</a:t>
            </a:r>
            <a:endParaRPr lang="en-US" sz="2800" dirty="0"/>
          </a:p>
        </p:txBody>
      </p:sp>
      <p:sp>
        <p:nvSpPr>
          <p:cNvPr id="4" name="Carte Le SDK"/>
          <p:cNvSpPr/>
          <p:nvPr/>
        </p:nvSpPr>
        <p:spPr>
          <a:xfrm>
            <a:off x="54864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Le SDK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Le SDK" descr="Le SD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Le SDK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SDK</a:t>
            </a:r>
            <a:endParaRPr lang="en-US" sz="1600" dirty="0"/>
          </a:p>
        </p:txBody>
      </p:sp>
      <p:sp>
        <p:nvSpPr>
          <p:cNvPr id="8" name="Détail Le SDK"/>
          <p:cNvSpPr txBox="1"/>
          <p:nvPr/>
        </p:nvSpPr>
        <p:spPr>
          <a:xfrm>
            <a:off x="82296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Compilateur, CLI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lang="en-US" sz="1400" dirty="0">
                <a:solidFill>
                  <a:schemeClr val="tx1"/>
                </a:solidFill>
              </a:rPr>
              <a:t>, modèles de projets. Une machine de dev peut en avoir plusieurs côte à côte.</a:t>
            </a:r>
            <a:endParaRPr lang="en-US" sz="1400" dirty="0"/>
          </a:p>
        </p:txBody>
      </p:sp>
      <p:sp>
        <p:nvSpPr>
          <p:cNvPr id="9" name="Carte Le runtime"/>
          <p:cNvSpPr/>
          <p:nvPr/>
        </p:nvSpPr>
        <p:spPr>
          <a:xfrm>
            <a:off x="431292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Le runtime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Le runtime" descr="Le runti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Le runtime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runtime</a:t>
            </a:r>
            <a:endParaRPr lang="en-US" sz="1600" dirty="0"/>
          </a:p>
        </p:txBody>
      </p:sp>
      <p:sp>
        <p:nvSpPr>
          <p:cNvPr id="13" name="Détail Le runtime"/>
          <p:cNvSpPr txBox="1"/>
          <p:nvPr/>
        </p:nvSpPr>
        <p:spPr>
          <a:xfrm>
            <a:off x="458724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qu'il faut pour exécuter : CLR et bibliothèques. Inclus dans le SDK ; seul sur un serveur.</a:t>
            </a:r>
            <a:endParaRPr lang="en-US" sz="1400" dirty="0"/>
          </a:p>
        </p:txBody>
      </p:sp>
      <p:sp>
        <p:nvSpPr>
          <p:cNvPr id="14" name="Carte La BCL"/>
          <p:cNvSpPr/>
          <p:nvPr/>
        </p:nvSpPr>
        <p:spPr>
          <a:xfrm>
            <a:off x="807720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La BCL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La BCL" descr="La BC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La BCL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BCL</a:t>
            </a:r>
            <a:endParaRPr lang="en-US" sz="1600" dirty="0"/>
          </a:p>
        </p:txBody>
      </p:sp>
      <p:sp>
        <p:nvSpPr>
          <p:cNvPr id="18" name="Détail La BCL"/>
          <p:cNvSpPr txBox="1"/>
          <p:nvPr/>
        </p:nvSpPr>
        <p:spPr>
          <a:xfrm>
            <a:off x="835152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bibliothèque standard : collections, fichiers, HTTP, JSON, dates, LINQ… très fournie.</a:t>
            </a:r>
            <a:endParaRPr lang="en-US" sz="1400" dirty="0"/>
          </a:p>
        </p:txBody>
      </p:sp>
      <p:sp>
        <p:nvSpPr>
          <p:cNvPr id="19" name="Carte NuGet"/>
          <p:cNvSpPr/>
          <p:nvPr/>
        </p:nvSpPr>
        <p:spPr>
          <a:xfrm>
            <a:off x="54864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NuGet"/>
          <p:cNvSpPr/>
          <p:nvPr/>
        </p:nvSpPr>
        <p:spPr>
          <a:xfrm>
            <a:off x="82296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NuGet" descr="NuG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268465"/>
            <a:ext cx="365760" cy="365760"/>
          </a:xfrm>
          <a:prstGeom prst="rect">
            <a:avLst/>
          </a:prstGeom>
        </p:spPr>
      </p:pic>
      <p:sp>
        <p:nvSpPr>
          <p:cNvPr id="22" name="Titre NuGet"/>
          <p:cNvSpPr txBox="1"/>
          <p:nvPr/>
        </p:nvSpPr>
        <p:spPr>
          <a:xfrm>
            <a:off x="173736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NuGet</a:t>
            </a:r>
            <a:endParaRPr lang="en-US" sz="1600" dirty="0"/>
          </a:p>
        </p:txBody>
      </p:sp>
      <p:sp>
        <p:nvSpPr>
          <p:cNvPr id="23" name="Détail NuGet"/>
          <p:cNvSpPr txBox="1"/>
          <p:nvPr/>
        </p:nvSpPr>
        <p:spPr>
          <a:xfrm>
            <a:off x="82296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gestionnaire de packages, ≈ Maven Central, crates.io, PyPI ou npm.</a:t>
            </a:r>
            <a:endParaRPr lang="en-US" sz="1400" dirty="0"/>
          </a:p>
        </p:txBody>
      </p:sp>
      <p:sp>
        <p:nvSpPr>
          <p:cNvPr id="24" name="Carte global.json"/>
          <p:cNvSpPr/>
          <p:nvPr/>
        </p:nvSpPr>
        <p:spPr>
          <a:xfrm>
            <a:off x="431292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5" name="Pastille global.json"/>
          <p:cNvSpPr/>
          <p:nvPr/>
        </p:nvSpPr>
        <p:spPr>
          <a:xfrm>
            <a:off x="458724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6" name="Icône global.json" descr="global.js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980" y="4268465"/>
            <a:ext cx="365760" cy="365760"/>
          </a:xfrm>
          <a:prstGeom prst="rect">
            <a:avLst/>
          </a:prstGeom>
        </p:spPr>
      </p:pic>
      <p:sp>
        <p:nvSpPr>
          <p:cNvPr id="27" name="Titre global.json"/>
          <p:cNvSpPr txBox="1"/>
          <p:nvPr/>
        </p:nvSpPr>
        <p:spPr>
          <a:xfrm>
            <a:off x="550164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global.json</a:t>
            </a:r>
            <a:endParaRPr lang="en-US" sz="1600" dirty="0"/>
          </a:p>
        </p:txBody>
      </p:sp>
      <p:sp>
        <p:nvSpPr>
          <p:cNvPr id="28" name="Détail global.json"/>
          <p:cNvSpPr txBox="1"/>
          <p:nvPr/>
        </p:nvSpPr>
        <p:spPr>
          <a:xfrm>
            <a:off x="458724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Choisit la version du SDK pour un dossier : notre dépôt épingle .NET 10.</a:t>
            </a:r>
            <a:endParaRPr lang="en-US" sz="1400" dirty="0"/>
          </a:p>
        </p:txBody>
      </p:sp>
      <p:sp>
        <p:nvSpPr>
          <p:cNvPr id="29" name="Carte ASP.NET Core"/>
          <p:cNvSpPr/>
          <p:nvPr/>
        </p:nvSpPr>
        <p:spPr>
          <a:xfrm>
            <a:off x="807720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30" name="Pastille ASP.NET Core"/>
          <p:cNvSpPr/>
          <p:nvPr/>
        </p:nvSpPr>
        <p:spPr>
          <a:xfrm>
            <a:off x="835152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31" name="Icône ASP.NET Core" descr="ASP.NET Co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260" y="4268465"/>
            <a:ext cx="365760" cy="365760"/>
          </a:xfrm>
          <a:prstGeom prst="rect">
            <a:avLst/>
          </a:prstGeom>
        </p:spPr>
      </p:pic>
      <p:sp>
        <p:nvSpPr>
          <p:cNvPr id="32" name="Titre ASP.NET Core"/>
          <p:cNvSpPr txBox="1"/>
          <p:nvPr/>
        </p:nvSpPr>
        <p:spPr>
          <a:xfrm>
            <a:off x="926592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ASP.NET Core</a:t>
            </a:r>
            <a:endParaRPr lang="en-US" sz="1600" dirty="0"/>
          </a:p>
        </p:txBody>
      </p:sp>
      <p:sp>
        <p:nvSpPr>
          <p:cNvPr id="33" name="Détail ASP.NET Core"/>
          <p:cNvSpPr txBox="1"/>
          <p:nvPr/>
        </p:nvSpPr>
        <p:spPr>
          <a:xfrm>
            <a:off x="835152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framework web, livré avec le runtime : API, Blazor, SignalR.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PLATEFORME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Une version par an, en novembre</a:t>
            </a:r>
            <a:endParaRPr lang="en-US" sz="2800" dirty="0"/>
          </a:p>
        </p:txBody>
      </p:sp>
      <p:graphicFrame>
        <p:nvGraphicFramePr>
          <p:cNvPr id="7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463040"/>
                <a:gridCol w="2377440"/>
                <a:gridCol w="3794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Version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Sortie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Pour nous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.NET 8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novembre 2023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ans, jusqu'à fin 2026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applis existantes, à migrer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.NET 9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novembre 2024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ans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rarement utilisé en production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.NET 10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novembre 2025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ans, jusqu'à fin 2028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notre cible : celle des TP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.NET 11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novembre 2026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ans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à découvrir (C# 15), pas en production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6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7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versions paires sont LTS (support long) : c'est sur elles qu'on bâtit. Les impaires servent à essayer les nouveautés.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2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2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L'outillage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La CLI, le fichier projet et les packages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L'OUTILLAGE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CLI dotnet fait tout</a:t>
            </a:r>
            <a:endParaRPr lang="en-US" sz="2800" dirty="0"/>
          </a:p>
        </p:txBody>
      </p:sp>
      <p:sp>
        <p:nvSpPr>
          <p:cNvPr id="4" name="Accroche"/>
          <p:cNvSpPr txBox="1"/>
          <p:nvPr/>
        </p:nvSpPr>
        <p:spPr>
          <a:xfrm>
            <a:off x="548640" y="1463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L'IDE appelle les mêmes commandes : ce que fait Rider ou Visual Studio, on peut le faire au terminal, et la CI aussi.</a:t>
            </a:r>
            <a:endParaRPr lang="en-US" sz="1700" dirty="0"/>
          </a:p>
        </p:txBody>
      </p:sp>
      <p:sp>
        <p:nvSpPr>
          <p:cNvPr id="5" name="Points"/>
          <p:cNvSpPr txBox="1"/>
          <p:nvPr/>
        </p:nvSpPr>
        <p:spPr>
          <a:xfrm>
            <a:off x="548640" y="26060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00" dirty="0">
                <a:solidFill>
                  <a:schemeClr val="tx1"/>
                </a:solidFill>
              </a:rPr>
              <a:t> crée un projet à partir d'un modèle.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r>
              <a:rPr lang="en-US" sz="1500" dirty="0">
                <a:solidFill>
                  <a:schemeClr val="tx1"/>
                </a:solidFill>
              </a:rPr>
              <a:t> : compiler, lancer, tester.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package</a:t>
            </a:r>
            <a:r>
              <a:rPr lang="en-US" sz="1500" dirty="0">
                <a:solidFill>
                  <a:schemeClr val="tx1"/>
                </a:solidFill>
              </a:rPr>
              <a:t> ajoute une dépendance NuGet.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500" dirty="0">
                <a:solidFill>
                  <a:schemeClr val="tx1"/>
                </a:solidFill>
              </a:rPr>
              <a:t> prépare le déploiement.</a:t>
            </a:r>
            <a:endParaRPr lang="en-US" sz="1500" dirty="0"/>
          </a:p>
        </p:txBody>
      </p:sp>
      <p:sp>
        <p:nvSpPr>
          <p:cNvPr id="6" name="Code Bash"/>
          <p:cNvSpPr/>
          <p:nvPr/>
        </p:nvSpPr>
        <p:spPr>
          <a:xfrm>
            <a:off x="4846320" y="1417320"/>
            <a:ext cx="681228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7" name="Langage Bash"/>
          <p:cNvSpPr txBox="1"/>
          <p:nvPr/>
        </p:nvSpPr>
        <p:spPr>
          <a:xfrm>
            <a:off x="5074920" y="15361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Bash</a:t>
            </a:r>
            <a:endParaRPr lang="en-US" sz="1100" dirty="0"/>
          </a:p>
        </p:txBody>
      </p:sp>
      <p:sp>
        <p:nvSpPr>
          <p:cNvPr id="8" name="Contenu Bash"/>
          <p:cNvSpPr txBox="1"/>
          <p:nvPr/>
        </p:nvSpPr>
        <p:spPr>
          <a:xfrm>
            <a:off x="5074920" y="1856232"/>
            <a:ext cx="644652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--list-sdks                 # SDK installés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console -n Hello        # nouveau projet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Hello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                        # compile et lance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Humanizer.Core  # une dépendance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 --solution Katas.slnx  # tous les tests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watch                       # relance à chaque sauvegarde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publish -c Release          # prêt à déployer</a:t>
            </a:r>
            <a:endParaRPr lang="en-US" sz="1300" dirty="0"/>
          </a:p>
        </p:txBody>
      </p:sp>
      <p:sp>
        <p:nvSpPr>
          <p:cNvPr id="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0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Équivalents :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</a:t>
            </a:r>
            <a:r>
              <a:rPr lang="en-US" sz="1500" dirty="0">
                <a:solidFill>
                  <a:schemeClr val="tx2"/>
                </a:solidFill>
              </a:rPr>
              <a:t> ou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gradle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</a:t>
            </a:r>
            <a:r>
              <a:rPr lang="en-US" sz="1500" dirty="0">
                <a:solidFill>
                  <a:schemeClr val="tx2"/>
                </a:solidFill>
              </a:rPr>
              <a:t> +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r>
              <a:rPr lang="en-US" sz="1500" dirty="0">
                <a:solidFill>
                  <a:schemeClr val="tx2"/>
                </a:solidFill>
              </a:rPr>
              <a:t>. Ici, une seule commande pour tout.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L'OUTILLAGE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Anatomie d'un projet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.csproj</a:t>
            </a:r>
            <a:r>
              <a:rPr lang="en-US" sz="1500" dirty="0">
                <a:solidFill>
                  <a:schemeClr val="tx1"/>
                </a:solidFill>
              </a:rPr>
              <a:t> est court : le SDK fournit les conventions.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Tous les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</a:t>
            </a:r>
            <a:r>
              <a:rPr lang="en-US" sz="1500" dirty="0">
                <a:solidFill>
                  <a:schemeClr val="tx1"/>
                </a:solidFill>
              </a:rPr>
              <a:t> du dossier sont compilés, sans les lister.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r>
              <a:rPr lang="en-US" sz="1500" dirty="0">
                <a:solidFill>
                  <a:schemeClr val="tx1"/>
                </a:solidFill>
              </a:rPr>
              <a:t> en « top-level statements » : pas de classe ni de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500" dirty="0">
                <a:solidFill>
                  <a:schemeClr val="tx1"/>
                </a:solidFill>
              </a:rPr>
              <a:t> à écrire.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</a:t>
            </a:r>
            <a:r>
              <a:rPr lang="en-US" sz="1500" dirty="0">
                <a:solidFill>
                  <a:schemeClr val="tx1"/>
                </a:solidFill>
              </a:rPr>
              <a:t> et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obj/</a:t>
            </a:r>
            <a:r>
              <a:rPr lang="en-US" sz="1500" dirty="0">
                <a:solidFill>
                  <a:schemeClr val="tx1"/>
                </a:solidFill>
              </a:rPr>
              <a:t> sont générés, et ignorés par Git.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Une solution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.slnx</a:t>
            </a:r>
            <a:r>
              <a:rPr lang="en-US" sz="1500" dirty="0">
                <a:solidFill>
                  <a:schemeClr val="tx1"/>
                </a:solidFill>
              </a:rPr>
              <a:t> regroupe plusieurs projets.</a:t>
            </a:r>
            <a:endParaRPr lang="en-US" sz="1500" dirty="0"/>
          </a:p>
        </p:txBody>
      </p:sp>
      <p:sp>
        <p:nvSpPr>
          <p:cNvPr id="5" name="Code XML"/>
          <p:cNvSpPr/>
          <p:nvPr/>
        </p:nvSpPr>
        <p:spPr>
          <a:xfrm>
            <a:off x="5029200" y="1417320"/>
            <a:ext cx="662940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XML"/>
          <p:cNvSpPr txBox="1"/>
          <p:nvPr/>
        </p:nvSpPr>
        <p:spPr>
          <a:xfrm>
            <a:off x="5257800" y="153619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Hello.csproj</a:t>
            </a:r>
            <a:endParaRPr lang="en-US" sz="1100" dirty="0"/>
          </a:p>
        </p:txBody>
      </p:sp>
      <p:sp>
        <p:nvSpPr>
          <p:cNvPr id="7" name="Contenu XML"/>
          <p:cNvSpPr txBox="1"/>
          <p:nvPr/>
        </p:nvSpPr>
        <p:spPr>
          <a:xfrm>
            <a:off x="5257800" y="1856232"/>
            <a:ext cx="626364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 Sdk="Microsoft.NET.Sdk"&gt;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&lt;PropertyGroup&gt;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&lt;OutputType&gt;Exe&lt;/OutputType&gt;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&lt;TargetFramework&gt;net10.0&lt;/TargetFramework&gt;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&lt;Nullable&gt;enable&lt;/Nullable&gt;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&lt;ImplicitUsings&gt;enable&lt;/ImplicitUsings&gt;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&lt;/PropertyGroup&gt;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300" dirty="0"/>
          </a:p>
        </p:txBody>
      </p:sp>
      <p:sp>
        <p:nvSpPr>
          <p:cNvPr id="8" name="Code C#"/>
          <p:cNvSpPr/>
          <p:nvPr/>
        </p:nvSpPr>
        <p:spPr>
          <a:xfrm>
            <a:off x="5029200" y="3798824"/>
            <a:ext cx="6629400" cy="1075436"/>
          </a:xfrm>
          <a:prstGeom prst="roundRect">
            <a:avLst>
              <a:gd name="adj" fmla="val 8503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9" name="Langage C#"/>
          <p:cNvSpPr txBox="1"/>
          <p:nvPr/>
        </p:nvSpPr>
        <p:spPr>
          <a:xfrm>
            <a:off x="5257800" y="3917696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Program.cs</a:t>
            </a:r>
            <a:endParaRPr lang="en-US" sz="1100" dirty="0"/>
          </a:p>
        </p:txBody>
      </p:sp>
      <p:sp>
        <p:nvSpPr>
          <p:cNvPr id="10" name="Contenu C#"/>
          <p:cNvSpPr txBox="1"/>
          <p:nvPr/>
        </p:nvSpPr>
        <p:spPr>
          <a:xfrm>
            <a:off x="5257800" y="4237736"/>
            <a:ext cx="6263640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 = args.Length &gt; 0 ? args[0] : "world";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Console.WriteLine($"Hello, {name}!");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L'OUTILLAGE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NuGet et la gestion centralisée des versions</a:t>
            </a:r>
            <a:endParaRPr lang="en-US" sz="2800" dirty="0"/>
          </a:p>
        </p:txBody>
      </p:sp>
      <p:sp>
        <p:nvSpPr>
          <p:cNvPr id="4" name="Code XML"/>
          <p:cNvSpPr/>
          <p:nvPr/>
        </p:nvSpPr>
        <p:spPr>
          <a:xfrm>
            <a:off x="54864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XML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Directory.Packages.props (racine)</a:t>
            </a:r>
            <a:endParaRPr lang="en-US" sz="1100" dirty="0"/>
          </a:p>
        </p:txBody>
      </p:sp>
      <p:sp>
        <p:nvSpPr>
          <p:cNvPr id="6" name="Contenu XML"/>
          <p:cNvSpPr txBox="1"/>
          <p:nvPr/>
        </p:nvSpPr>
        <p:spPr>
          <a:xfrm>
            <a:off x="77724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&lt;PropertyGroup&gt;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&lt;ManagePackageVersionsCentrally&gt;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true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&lt;/ManagePackageVersionsCentrally&gt;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&lt;/PropertyGroup&gt;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&lt;ItemGroup&gt;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&lt;PackageVersion Include="Humanizer.Core"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Version="3.0.10"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&lt;/ItemGroup&gt;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300" dirty="0"/>
          </a:p>
        </p:txBody>
      </p:sp>
      <p:sp>
        <p:nvSpPr>
          <p:cNvPr id="7" name="Code XML"/>
          <p:cNvSpPr/>
          <p:nvPr/>
        </p:nvSpPr>
        <p:spPr>
          <a:xfrm>
            <a:off x="6217920" y="1417320"/>
            <a:ext cx="5440680" cy="1854708"/>
          </a:xfrm>
          <a:prstGeom prst="roundRect">
            <a:avLst>
              <a:gd name="adj" fmla="val 4930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XML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Katas.csproj</a:t>
            </a:r>
            <a:endParaRPr lang="en-US" sz="1100" dirty="0"/>
          </a:p>
        </p:txBody>
      </p:sp>
      <p:sp>
        <p:nvSpPr>
          <p:cNvPr id="9" name="Contenu XML"/>
          <p:cNvSpPr txBox="1"/>
          <p:nvPr/>
        </p:nvSpPr>
        <p:spPr>
          <a:xfrm>
            <a:off x="6446520" y="1856232"/>
            <a:ext cx="5074920" cy="1306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&lt;ItemGroup&gt;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pas de Version : elle vient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du fichier central --&gt;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&lt;PackageReference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Include="Humanizer.Core" /&gt;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&lt;/ItemGroup&gt;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version par package pour tout le dépôt, ≈ un BOM Maven ou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[workspace.dependencies]</a:t>
            </a:r>
            <a:r>
              <a:rPr lang="en-US" sz="1500" dirty="0">
                <a:solidFill>
                  <a:schemeClr val="tx2"/>
                </a:solidFill>
              </a:rPr>
              <a:t> de Cargo. L'audit NuGet signale les failles.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3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3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 système de types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Valeur ou référence, et un compilateur qui traque les null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LES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class, struct, record : trois façons de modéliser</a:t>
            </a:r>
            <a:endParaRPr lang="en-US" sz="2800" dirty="0"/>
          </a:p>
        </p:txBody>
      </p:sp>
      <p:graphicFrame>
        <p:nvGraphicFramePr>
          <p:cNvPr id="1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80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struct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record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référence (sur le tas)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valeur (copiée)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référence ;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 struct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: valeur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Égalité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 identité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 valeur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 valeur, générée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Mutabilité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 choix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souvent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readonly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immuable par défaut,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pour copier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Pour quoi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entités, services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petites valeurs (Money, Point)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DTO, messages, valeurs métier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 Java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 d'équivalent direct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record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 Rust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Box / Rc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struct + Copy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struct + derive(PartialEq)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6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7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entité qui a une identité et un cycle de vie (une commande) reste une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500" dirty="0">
                <a:solidFill>
                  <a:schemeClr val="tx2"/>
                </a:solidFill>
              </a:rPr>
              <a:t>, même si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r>
              <a:rPr lang="en-US" sz="1500" dirty="0">
                <a:solidFill>
                  <a:schemeClr val="tx2"/>
                </a:solidFill>
              </a:rPr>
              <a:t> est plus court à écrire.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LES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trois en pratique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11109960" cy="3218434"/>
          </a:xfrm>
          <a:prstGeom prst="roundRect">
            <a:avLst>
              <a:gd name="adj" fmla="val 2841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10744200" cy="266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                                        // une entité : identité, cycle de vie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Id { get; init;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List&lt;OrderLine&gt; Lines { get; } = [];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readonly record struct Money(decimal Amount, string Currency);   // une petite valeur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Customer(string Name, string? Email);       // un DTO, comparé par valeur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ada = new Customer("Ada", null);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withMail = ada with { Email = "ada@3b.studio" };      // copie modifiée, l'original ne bouge pas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Console.WriteLine(ada == new Customer("Ada", null));      // True : même contenu</a:t>
            </a:r>
            <a:endParaRPr lang="en-US" sz="1300" dirty="0"/>
          </a:p>
        </p:txBody>
      </p:sp>
      <p:sp>
        <p:nvSpPr>
          <p:cNvPr id="7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8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9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500" dirty="0">
                <a:solidFill>
                  <a:schemeClr val="tx2"/>
                </a:solidFill>
              </a:rPr>
              <a:t> : modifiable seulement à la création.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500" dirty="0">
                <a:solidFill>
                  <a:schemeClr val="tx2"/>
                </a:solidFill>
              </a:rPr>
              <a:t> copie un record en changeant quelques propriétés.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LES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Nullabilité : le compilateur vous prévient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email = customer.Email;  // peut être null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length = email?.Length ?? 0; // ?. puis ??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(email is not null)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ici, le compilateur sait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Console.WriteLine(email.ToUpper());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customer.Name!;    // "je sais",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// à éviter</a:t>
            </a:r>
            <a:endParaRPr lang="en-US" sz="1300" dirty="0"/>
          </a:p>
        </p:txBody>
      </p:sp>
      <p:sp>
        <p:nvSpPr>
          <p:cNvPr id="7" name="Code Rust"/>
          <p:cNvSpPr/>
          <p:nvPr/>
        </p:nvSpPr>
        <p:spPr>
          <a:xfrm>
            <a:off x="621792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Rust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Rust</a:t>
            </a:r>
            <a:endParaRPr lang="en-US" sz="1100" dirty="0"/>
          </a:p>
        </p:txBody>
      </p:sp>
      <p:sp>
        <p:nvSpPr>
          <p:cNvPr id="9" name="Contenu Rust"/>
          <p:cNvSpPr txBox="1"/>
          <p:nvPr/>
        </p:nvSpPr>
        <p:spPr>
          <a:xfrm>
            <a:off x="644652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email: Option&lt;String&gt;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customer.email.clone();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length = email.as_ref()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.map_or(0, |e| e.len());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Some(e) = &amp;email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e.to_uppercase());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 d'équivalent de ! 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unwrap() panique à l'exécution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r>
              <a:rPr lang="en-US" sz="1500" dirty="0">
                <a:solidFill>
                  <a:schemeClr val="tx2"/>
                </a:solidFill>
              </a:rPr>
              <a:t> n'est vérifié qu'à la compilation, par des avertissements : à l'exécution, un null passe quand même. Traitez les avertissements comme des erreurs.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4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4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 langage au quotidien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Pattern matching, LINQ et async/await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 LANGAGE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Pattern matching : tester la forme d'une valeur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Describe(object? value)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switch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 =&gt; "nothing",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when n &lt; 0 =&gt; "negative",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=&gt; $"number {n}",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{ Length: 0 } =&gt; "empty text",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Money { Amount: 0 } =&gt; "no money",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int[] and [var single] =&gt; $"one: {single}",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"unknown",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</p:txBody>
      </p:sp>
      <p:sp>
        <p:nvSpPr>
          <p:cNvPr id="7" name="Code Java"/>
          <p:cNvSpPr/>
          <p:nvPr/>
        </p:nvSpPr>
        <p:spPr>
          <a:xfrm>
            <a:off x="621792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Java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Java 21</a:t>
            </a:r>
            <a:endParaRPr lang="en-US" sz="1100" dirty="0"/>
          </a:p>
        </p:txBody>
      </p:sp>
      <p:sp>
        <p:nvSpPr>
          <p:cNvPr id="9" name="Contenu Java"/>
          <p:cNvSpPr txBox="1"/>
          <p:nvPr/>
        </p:nvSpPr>
        <p:spPr>
          <a:xfrm>
            <a:off x="644652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describe(Object value)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switch (value)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null -&gt; "nothing";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Integer n when n &lt; 0 -&gt; "negative";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Integer n -&gt; "number " + n;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String s when s.isEmpty() -&gt;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"empty text";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-&gt; "unknown";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Motifs de type, de propriété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Length: 0 }</a:t>
            </a:r>
            <a:r>
              <a:rPr lang="en-US" sz="1500" dirty="0">
                <a:solidFill>
                  <a:schemeClr val="tx2"/>
                </a:solidFill>
              </a:rPr>
              <a:t>, relationnels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</a:t>
            </a:r>
            <a:r>
              <a:rPr lang="en-US" sz="1500" dirty="0">
                <a:solidFill>
                  <a:schemeClr val="tx2"/>
                </a:solidFill>
              </a:rPr>
              <a:t>, de liste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[var single]</a:t>
            </a:r>
            <a:r>
              <a:rPr lang="en-US" sz="1500" dirty="0">
                <a:solidFill>
                  <a:schemeClr val="tx2"/>
                </a:solidFill>
              </a:rPr>
              <a:t>, combinés par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 LANGAGE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LINQ : des requêtes sur n'importe quelle collection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439162"/>
          </a:xfrm>
          <a:prstGeom prst="roundRect">
            <a:avLst>
              <a:gd name="adj" fmla="val 374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189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top3 = orders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.SelectMany(o =&gt; o.Lines)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.GroupBy(l =&gt; l.Product.Category)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.Select(g =&gt; new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Category = g.Key,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Revenue = g.Sum(l =&gt; l.Total) })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.OrderByDescending(x =&gt; x.Revenue)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.Take(3)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.ToList();</a:t>
            </a:r>
            <a:endParaRPr lang="en-US" sz="1300" dirty="0"/>
          </a:p>
        </p:txBody>
      </p:sp>
      <p:sp>
        <p:nvSpPr>
          <p:cNvPr id="7" name="Code Python"/>
          <p:cNvSpPr/>
          <p:nvPr/>
        </p:nvSpPr>
        <p:spPr>
          <a:xfrm>
            <a:off x="6217920" y="1417320"/>
            <a:ext cx="5440680" cy="2633980"/>
          </a:xfrm>
          <a:prstGeom prst="roundRect">
            <a:avLst>
              <a:gd name="adj" fmla="val 347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Python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Contenu Python"/>
          <p:cNvSpPr txBox="1"/>
          <p:nvPr/>
        </p:nvSpPr>
        <p:spPr>
          <a:xfrm>
            <a:off x="6446520" y="1856232"/>
            <a:ext cx="5074920" cy="208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defaultdict(Decimal)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 in orders: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o.lines: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 = line.product.category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revenue[cat] += line.total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top3 = sorted(revenue.items(),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key=lambda kv: kv[1],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reverse=True)[:3]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chemeClr val="tx2"/>
                </a:solidFill>
              </a:rPr>
              <a:t> = filter,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chemeClr val="tx2"/>
                </a:solidFill>
              </a:rPr>
              <a:t> = map,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SelectMany</a:t>
            </a:r>
            <a:r>
              <a:rPr lang="en-US" sz="1500" dirty="0">
                <a:solidFill>
                  <a:schemeClr val="tx2"/>
                </a:solidFill>
              </a:rPr>
              <a:t> = flatMap,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500" dirty="0">
                <a:solidFill>
                  <a:schemeClr val="tx2"/>
                </a:solidFill>
              </a:rPr>
              <a:t> = groupingBy. Les mêmes opérateurs servent aux requêtes SQL avec EF 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 LANGAGE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LINQ est paresseux</a:t>
            </a:r>
            <a:endParaRPr lang="en-US" sz="2800" dirty="0"/>
          </a:p>
        </p:txBody>
      </p:sp>
      <p:sp>
        <p:nvSpPr>
          <p:cNvPr id="4" name="Accroche"/>
          <p:cNvSpPr txBox="1"/>
          <p:nvPr/>
        </p:nvSpPr>
        <p:spPr>
          <a:xfrm>
            <a:off x="548640" y="1463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Une requête LINQ ne s'exécute qu'au moment où on la parcourt, et elle se ré-exécute à chaque parcours.</a:t>
            </a:r>
            <a:endParaRPr lang="en-US" sz="1700" dirty="0"/>
          </a:p>
        </p:txBody>
      </p:sp>
      <p:sp>
        <p:nvSpPr>
          <p:cNvPr id="5" name="Points"/>
          <p:cNvSpPr txBox="1"/>
          <p:nvPr/>
        </p:nvSpPr>
        <p:spPr>
          <a:xfrm>
            <a:off x="548640" y="26060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chemeClr val="tx1"/>
                </a:solidFill>
              </a:rPr>
              <a:t>… construisent la requête sans rien calculer.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ToList()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500" dirty="0">
                <a:solidFill>
                  <a:schemeClr val="tx1"/>
                </a:solidFill>
              </a:rPr>
              <a:t> la déclenchent.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Parcourir deux fois, c'est calculer deux fois : matérialisez avec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ToList()</a:t>
            </a:r>
            <a:r>
              <a:rPr lang="en-US" sz="1500" dirty="0">
                <a:solidFill>
                  <a:schemeClr val="tx1"/>
                </a:solidFill>
              </a:rPr>
              <a:t> ou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 query]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Code C#"/>
          <p:cNvSpPr/>
          <p:nvPr/>
        </p:nvSpPr>
        <p:spPr>
          <a:xfrm>
            <a:off x="4846320" y="1417320"/>
            <a:ext cx="6812280" cy="2828798"/>
          </a:xfrm>
          <a:prstGeom prst="roundRect">
            <a:avLst>
              <a:gd name="adj" fmla="val 323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7" name="Langage C#"/>
          <p:cNvSpPr txBox="1"/>
          <p:nvPr/>
        </p:nvSpPr>
        <p:spPr>
          <a:xfrm>
            <a:off x="5074920" y="15361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8" name="Contenu C#"/>
          <p:cNvSpPr txBox="1"/>
          <p:nvPr/>
        </p:nvSpPr>
        <p:spPr>
          <a:xfrm>
            <a:off x="5074920" y="1856232"/>
            <a:ext cx="6446520" cy="228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query = numbers.Where(n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Console.WriteLine($"test {n}");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&gt; 2;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rien n'est affiché : la requête n'a pas tourné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count = query.Count();  // affiche les tests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list = query.ToList();  // les ré-affiche !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IReadOnlyList&lt;int&gt; once = [.. query];  // une fois</a:t>
            </a:r>
            <a:endParaRPr lang="en-US" sz="1300" dirty="0"/>
          </a:p>
        </p:txBody>
      </p:sp>
      <p:sp>
        <p:nvSpPr>
          <p:cNvPr id="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0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Comme un itérateur Rust ou un générateur Python : paresseux tant qu'on ne consomme pas.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 LANGAGE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async/await : attendre sans bloquer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3023616"/>
          </a:xfrm>
          <a:prstGeom prst="roundRect">
            <a:avLst>
              <a:gd name="adj" fmla="val 302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47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Task&lt;int[]&gt; FetchSizesAsync(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IEnumerable&lt;Uri&gt; uris,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CancellationToken ct)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ToList() : toutes démarrent ici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downloads = uris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.Select(u =&gt; http.GetStringAsync(u, ct))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.ToList();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pages = await Task.WhenAll(downloads);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pages.Select(p =&gt; p.Length)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.ToArray();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ode JavaScript"/>
          <p:cNvSpPr/>
          <p:nvPr/>
        </p:nvSpPr>
        <p:spPr>
          <a:xfrm>
            <a:off x="6217920" y="1417320"/>
            <a:ext cx="544068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JavaScript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9" name="Contenu JavaScript"/>
          <p:cNvSpPr txBox="1"/>
          <p:nvPr/>
        </p:nvSpPr>
        <p:spPr>
          <a:xfrm>
            <a:off x="6446520" y="1856232"/>
            <a:ext cx="507492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fetchSizes(urls, signal)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map : toutes démarrent ici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pages = await Promise.all(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urls.map(u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fetch(u, { signal })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.then(r =&gt; r.text())));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pages.map(p =&gt; p.length);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500" dirty="0">
                <a:solidFill>
                  <a:schemeClr val="tx2"/>
                </a:solidFill>
              </a:rPr>
              <a:t> ≈ une Promise : elle démarre dès l'appel.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dirty="0">
                <a:solidFill>
                  <a:schemeClr val="tx2"/>
                </a:solidFill>
              </a:rPr>
              <a:t> libère le thread pendant l'attente ;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Task.WhenAll</a:t>
            </a:r>
            <a:r>
              <a:rPr lang="en-US" sz="1500" dirty="0">
                <a:solidFill>
                  <a:schemeClr val="tx2"/>
                </a:solidFill>
              </a:rPr>
              <a:t> attend tout en parallèle.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 LANGAGE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pièges de l'asynchrone</a:t>
            </a:r>
            <a:endParaRPr lang="en-US" sz="2800" dirty="0"/>
          </a:p>
        </p:txBody>
      </p:sp>
      <p:sp>
        <p:nvSpPr>
          <p:cNvPr id="4" name="Carte `async void`"/>
          <p:cNvSpPr/>
          <p:nvPr/>
        </p:nvSpPr>
        <p:spPr>
          <a:xfrm>
            <a:off x="54864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`async void`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`async void`" descr="`async void`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`async void`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void</a:t>
            </a:r>
            <a:endParaRPr lang="en-US" sz="1700" dirty="0"/>
          </a:p>
        </p:txBody>
      </p:sp>
      <p:sp>
        <p:nvSpPr>
          <p:cNvPr id="8" name="Détail `async void`"/>
          <p:cNvSpPr txBox="1"/>
          <p:nvPr/>
        </p:nvSpPr>
        <p:spPr>
          <a:xfrm>
            <a:off x="182880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exception y fait tomber l'application et personne ne peut l'attendre. Réservé aux gestionnaires d'événements.</a:t>
            </a:r>
            <a:endParaRPr lang="en-US" sz="1400" dirty="0"/>
          </a:p>
        </p:txBody>
      </p:sp>
      <p:sp>
        <p:nvSpPr>
          <p:cNvPr id="9" name="Carte `.Result` et `.Wait()`"/>
          <p:cNvSpPr/>
          <p:nvPr/>
        </p:nvSpPr>
        <p:spPr>
          <a:xfrm>
            <a:off x="6195060" y="146304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`.Result` et `.Wait()`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`.Result` et `.Wait()`" descr="`.Result` et `.Wait()`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`.Result` et `.Wait()`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.Result</a:t>
            </a:r>
            <a:r>
              <a:rPr lang="en-US" sz="1700" b="1" dirty="0">
                <a:solidFill>
                  <a:schemeClr val="tx2"/>
                </a:solidFill>
              </a:rPr>
              <a:t> et </a:t>
            </a: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.Wait()</a:t>
            </a:r>
            <a:endParaRPr lang="en-US" sz="1700" dirty="0"/>
          </a:p>
        </p:txBody>
      </p:sp>
      <p:sp>
        <p:nvSpPr>
          <p:cNvPr id="13" name="Détail `.Result` et `.Wait()`"/>
          <p:cNvSpPr txBox="1"/>
          <p:nvPr/>
        </p:nvSpPr>
        <p:spPr>
          <a:xfrm>
            <a:off x="7475220" y="217627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Bloquent un thread pour attendre : risque d'interblocage et de saturation. Toujours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te Le `CancellationToken` oublié"/>
          <p:cNvSpPr/>
          <p:nvPr/>
        </p:nvSpPr>
        <p:spPr>
          <a:xfrm>
            <a:off x="54864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Le `CancellationToken` oublié"/>
          <p:cNvSpPr/>
          <p:nvPr/>
        </p:nvSpPr>
        <p:spPr>
          <a:xfrm>
            <a:off x="82296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Le `CancellationToken` oublié" descr="Le `CancellationToken` oubli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268465"/>
            <a:ext cx="365760" cy="365760"/>
          </a:xfrm>
          <a:prstGeom prst="rect">
            <a:avLst/>
          </a:prstGeom>
        </p:spPr>
      </p:pic>
      <p:sp>
        <p:nvSpPr>
          <p:cNvPr id="17" name="Titre Le `CancellationToken` oublié"/>
          <p:cNvSpPr txBox="1"/>
          <p:nvPr/>
        </p:nvSpPr>
        <p:spPr>
          <a:xfrm>
            <a:off x="182880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 </a:t>
            </a: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CancellationToken</a:t>
            </a:r>
            <a:r>
              <a:rPr lang="en-US" sz="1700" b="1" dirty="0">
                <a:solidFill>
                  <a:schemeClr val="tx2"/>
                </a:solidFill>
              </a:rPr>
              <a:t> oublié</a:t>
            </a:r>
            <a:endParaRPr lang="en-US" sz="1700" dirty="0"/>
          </a:p>
        </p:txBody>
      </p:sp>
      <p:sp>
        <p:nvSpPr>
          <p:cNvPr id="18" name="Détail Le `CancellationToken` oublié"/>
          <p:cNvSpPr txBox="1"/>
          <p:nvPr/>
        </p:nvSpPr>
        <p:spPr>
          <a:xfrm>
            <a:off x="182880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passer jusqu'au bout permet d'annuler une requête HTTP ou SQL quand l'utilisateur part.</a:t>
            </a:r>
            <a:endParaRPr lang="en-US" sz="1400" dirty="0"/>
          </a:p>
        </p:txBody>
      </p:sp>
      <p:sp>
        <p:nvSpPr>
          <p:cNvPr id="19" name="Carte `await` dans une boucle"/>
          <p:cNvSpPr/>
          <p:nvPr/>
        </p:nvSpPr>
        <p:spPr>
          <a:xfrm>
            <a:off x="6195060" y="3840480"/>
            <a:ext cx="54635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`await` dans une boucle"/>
          <p:cNvSpPr/>
          <p:nvPr/>
        </p:nvSpPr>
        <p:spPr>
          <a:xfrm>
            <a:off x="646938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`await` dans une boucle" descr="`await` dans une bou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68465"/>
            <a:ext cx="365760" cy="365760"/>
          </a:xfrm>
          <a:prstGeom prst="rect">
            <a:avLst/>
          </a:prstGeom>
        </p:spPr>
      </p:pic>
      <p:sp>
        <p:nvSpPr>
          <p:cNvPr id="22" name="Titre `await` dans une boucle"/>
          <p:cNvSpPr txBox="1"/>
          <p:nvPr/>
        </p:nvSpPr>
        <p:spPr>
          <a:xfrm>
            <a:off x="7475220" y="409651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700" b="1" dirty="0">
                <a:solidFill>
                  <a:schemeClr val="tx2"/>
                </a:solidFill>
              </a:rPr>
              <a:t> dans une boucle</a:t>
            </a:r>
            <a:endParaRPr lang="en-US" sz="1700" dirty="0"/>
          </a:p>
        </p:txBody>
      </p:sp>
      <p:sp>
        <p:nvSpPr>
          <p:cNvPr id="23" name="Détail `await` dans une boucle"/>
          <p:cNvSpPr txBox="1"/>
          <p:nvPr/>
        </p:nvSpPr>
        <p:spPr>
          <a:xfrm>
            <a:off x="7475220" y="4553712"/>
            <a:ext cx="39547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appels partent un par un. Pour du parallèle : démarrer toutes les tâches, puis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Task.WhenAll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Des tests avec xUnit</a:t>
            </a:r>
            <a:endParaRPr lang="en-US" sz="28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463040"/>
            <a:ext cx="4023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[Fact]</a:t>
            </a:r>
            <a:r>
              <a:rPr lang="en-US" sz="1500" dirty="0">
                <a:solidFill>
                  <a:schemeClr val="tx1"/>
                </a:solidFill>
              </a:rPr>
              <a:t> : un test sans paramètre.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[Theory]</a:t>
            </a:r>
            <a:r>
              <a:rPr lang="en-US" sz="1500" dirty="0">
                <a:solidFill>
                  <a:schemeClr val="tx1"/>
                </a:solidFill>
              </a:rPr>
              <a:t> +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[InlineData]</a:t>
            </a:r>
            <a:r>
              <a:rPr lang="en-US" sz="1500" dirty="0">
                <a:solidFill>
                  <a:schemeClr val="tx1"/>
                </a:solidFill>
              </a:rPr>
              <a:t> : le même test sur plusieurs jeux de données.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Assert.Equal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Assert.Throws&lt;T&gt;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Assert.Contains</a:t>
            </a:r>
            <a:r>
              <a:rPr lang="en-US" sz="1500" dirty="0">
                <a:solidFill>
                  <a:schemeClr val="tx1"/>
                </a:solidFill>
              </a:rPr>
              <a:t>…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test asynchrone renvoie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r>
              <a:rPr lang="en-US" sz="1500" dirty="0">
                <a:solidFill>
                  <a:schemeClr val="tx1"/>
                </a:solidFill>
              </a:rPr>
              <a:t> lance tout ;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--filter-namespace</a:t>
            </a:r>
            <a:r>
              <a:rPr lang="en-US" sz="1500" dirty="0">
                <a:solidFill>
                  <a:schemeClr val="tx1"/>
                </a:solidFill>
              </a:rPr>
              <a:t> un sous-ensemble.</a:t>
            </a:r>
            <a:endParaRPr lang="en-US" sz="1500" dirty="0"/>
          </a:p>
        </p:txBody>
      </p:sp>
      <p:sp>
        <p:nvSpPr>
          <p:cNvPr id="5" name="Code C#"/>
          <p:cNvSpPr/>
          <p:nvPr/>
        </p:nvSpPr>
        <p:spPr>
          <a:xfrm>
            <a:off x="4846320" y="1417320"/>
            <a:ext cx="6812280" cy="3413252"/>
          </a:xfrm>
          <a:prstGeom prst="roundRect">
            <a:avLst>
              <a:gd name="adj" fmla="val 267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C#"/>
          <p:cNvSpPr txBox="1"/>
          <p:nvPr/>
        </p:nvSpPr>
        <p:spPr>
          <a:xfrm>
            <a:off x="5074920" y="15361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</a:t>
            </a:r>
            <a:endParaRPr lang="en-US" sz="1100" dirty="0"/>
          </a:p>
        </p:txBody>
      </p:sp>
      <p:sp>
        <p:nvSpPr>
          <p:cNvPr id="7" name="Contenu C#"/>
          <p:cNvSpPr txBox="1"/>
          <p:nvPr/>
        </p:nvSpPr>
        <p:spPr>
          <a:xfrm>
            <a:off x="5074920" y="1856232"/>
            <a:ext cx="6446520" cy="286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ShippingTests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[Fact]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Free_From100Euros()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Assert.Equal(0m, Shipping.Cost(Order(100m, "FR")));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[Theory]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[InlineData("FR", 4.90)]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[InlineData("DE", 9.90)]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Cost_DependsOnTheCountry(string country,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double expected) =&gt;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Assert.Equal((decimal)expected,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Shipping.Cost(Order(20m, country)));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9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attribut n'accepte pas de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r>
              <a:rPr lang="en-US" sz="1500" dirty="0">
                <a:solidFill>
                  <a:schemeClr val="tx2"/>
                </a:solidFill>
              </a:rPr>
              <a:t> : on passe un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500" dirty="0">
                <a:solidFill>
                  <a:schemeClr val="tx2"/>
                </a:solidFill>
              </a:rPr>
              <a:t> et on convertit. ≈ JUnit 5,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#[test]</a:t>
            </a:r>
            <a:r>
              <a:rPr lang="en-US" sz="1500" dirty="0">
                <a:solidFill>
                  <a:schemeClr val="tx2"/>
                </a:solidFill>
              </a:rPr>
              <a:t> de Rust, pytest.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À retenir</a:t>
            </a:r>
            <a:endParaRPr lang="en-US" sz="2800" dirty="0"/>
          </a:p>
        </p:txBody>
      </p:sp>
      <p:sp>
        <p:nvSpPr>
          <p:cNvPr id="3" name="Point 1"/>
          <p:cNvSpPr/>
          <p:nvPr/>
        </p:nvSpPr>
        <p:spPr>
          <a:xfrm>
            <a:off x="54864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4" name="Numéro 1"/>
          <p:cNvSpPr txBox="1"/>
          <p:nvPr/>
        </p:nvSpPr>
        <p:spPr>
          <a:xfrm>
            <a:off x="54864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Point 1 texte"/>
          <p:cNvSpPr txBox="1"/>
          <p:nvPr/>
        </p:nvSpPr>
        <p:spPr>
          <a:xfrm>
            <a:off x="146304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C# compile en IL, exécuté par le CLR avec un JIT : comme la JVM. .NET 10 est notre LTS.</a:t>
            </a:r>
            <a:endParaRPr lang="en-US" sz="1500" dirty="0"/>
          </a:p>
        </p:txBody>
      </p:sp>
      <p:sp>
        <p:nvSpPr>
          <p:cNvPr id="6" name="Point 2"/>
          <p:cNvSpPr/>
          <p:nvPr/>
        </p:nvSpPr>
        <p:spPr>
          <a:xfrm>
            <a:off x="617220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7" name="Numéro 2"/>
          <p:cNvSpPr txBox="1"/>
          <p:nvPr/>
        </p:nvSpPr>
        <p:spPr>
          <a:xfrm>
            <a:off x="617220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Point 2 texte"/>
          <p:cNvSpPr txBox="1"/>
          <p:nvPr/>
        </p:nvSpPr>
        <p:spPr>
          <a:xfrm>
            <a:off x="708660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CLI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lang="en-US" sz="1500" dirty="0">
                <a:solidFill>
                  <a:schemeClr val="tx1"/>
                </a:solidFill>
              </a:rPr>
              <a:t> fait tout ; le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.csproj</a:t>
            </a:r>
            <a:r>
              <a:rPr lang="en-US" sz="1500" dirty="0">
                <a:solidFill>
                  <a:schemeClr val="tx1"/>
                </a:solidFill>
              </a:rPr>
              <a:t> est court ; les versions de packages sont centralisées.</a:t>
            </a:r>
            <a:endParaRPr lang="en-US" sz="1500" dirty="0"/>
          </a:p>
        </p:txBody>
      </p:sp>
      <p:sp>
        <p:nvSpPr>
          <p:cNvPr id="9" name="Point 3"/>
          <p:cNvSpPr/>
          <p:nvPr/>
        </p:nvSpPr>
        <p:spPr>
          <a:xfrm>
            <a:off x="54864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0" name="Numéro 3"/>
          <p:cNvSpPr txBox="1"/>
          <p:nvPr/>
        </p:nvSpPr>
        <p:spPr>
          <a:xfrm>
            <a:off x="54864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Point 3 texte"/>
          <p:cNvSpPr txBox="1"/>
          <p:nvPr/>
        </p:nvSpPr>
        <p:spPr>
          <a:xfrm>
            <a:off x="146304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500" dirty="0">
                <a:solidFill>
                  <a:schemeClr val="tx1"/>
                </a:solidFill>
              </a:rPr>
              <a:t> pour les entités,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r>
              <a:rPr lang="en-US" sz="1500" dirty="0">
                <a:solidFill>
                  <a:schemeClr val="tx1"/>
                </a:solidFill>
              </a:rPr>
              <a:t> pour les valeurs et DTO,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500" dirty="0">
                <a:solidFill>
                  <a:schemeClr val="tx1"/>
                </a:solidFill>
              </a:rPr>
              <a:t> pour les petites valeurs.</a:t>
            </a:r>
            <a:endParaRPr lang="en-US" sz="1500" dirty="0"/>
          </a:p>
        </p:txBody>
      </p:sp>
      <p:sp>
        <p:nvSpPr>
          <p:cNvPr id="12" name="Point 4"/>
          <p:cNvSpPr/>
          <p:nvPr/>
        </p:nvSpPr>
        <p:spPr>
          <a:xfrm>
            <a:off x="617220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3" name="Numéro 4"/>
          <p:cNvSpPr txBox="1"/>
          <p:nvPr/>
        </p:nvSpPr>
        <p:spPr>
          <a:xfrm>
            <a:off x="617220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Point 4 texte"/>
          <p:cNvSpPr txBox="1"/>
          <p:nvPr/>
        </p:nvSpPr>
        <p:spPr>
          <a:xfrm>
            <a:off x="708660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r>
              <a:rPr lang="en-US" sz="1500" dirty="0">
                <a:solidFill>
                  <a:schemeClr val="tx1"/>
                </a:solidFill>
              </a:rPr>
              <a:t> : la nullabilité est vérifiée à la compilation seulement. Lisez les avertissements.</a:t>
            </a:r>
            <a:endParaRPr lang="en-US" sz="1500" dirty="0"/>
          </a:p>
        </p:txBody>
      </p:sp>
      <p:sp>
        <p:nvSpPr>
          <p:cNvPr id="15" name="Point 5"/>
          <p:cNvSpPr/>
          <p:nvPr/>
        </p:nvSpPr>
        <p:spPr>
          <a:xfrm>
            <a:off x="54864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6" name="Numéro 5"/>
          <p:cNvSpPr txBox="1"/>
          <p:nvPr/>
        </p:nvSpPr>
        <p:spPr>
          <a:xfrm>
            <a:off x="54864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Point 5 texte"/>
          <p:cNvSpPr txBox="1"/>
          <p:nvPr/>
        </p:nvSpPr>
        <p:spPr>
          <a:xfrm>
            <a:off x="146304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LINQ est paresseux : matérialisez avant de parcourir plusieurs fois.</a:t>
            </a:r>
            <a:endParaRPr lang="en-US" sz="1500" dirty="0"/>
          </a:p>
        </p:txBody>
      </p:sp>
      <p:sp>
        <p:nvSpPr>
          <p:cNvPr id="18" name="Point 6"/>
          <p:cNvSpPr/>
          <p:nvPr/>
        </p:nvSpPr>
        <p:spPr>
          <a:xfrm>
            <a:off x="617220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9" name="Numéro 6"/>
          <p:cNvSpPr txBox="1"/>
          <p:nvPr/>
        </p:nvSpPr>
        <p:spPr>
          <a:xfrm>
            <a:off x="617220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Point 6 texte"/>
          <p:cNvSpPr txBox="1"/>
          <p:nvPr/>
        </p:nvSpPr>
        <p:spPr>
          <a:xfrm>
            <a:off x="70866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r>
              <a:rPr lang="en-US" sz="1500" dirty="0">
                <a:solidFill>
                  <a:schemeClr val="tx1"/>
                </a:solidFill>
              </a:rPr>
              <a:t> démarre tout de suite ;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dirty="0">
                <a:solidFill>
                  <a:schemeClr val="tx1"/>
                </a:solidFill>
              </a:rPr>
              <a:t>, jamais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.Result</a:t>
            </a:r>
            <a:r>
              <a:rPr lang="en-US" sz="1500" dirty="0">
                <a:solidFill>
                  <a:schemeClr val="tx1"/>
                </a:solidFill>
              </a:rPr>
              <a:t>, et passez le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CancellationToken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Place au TP-01</a:t>
            </a:r>
            <a:endParaRPr lang="en-US" sz="4400" dirty="0"/>
          </a:p>
        </p:txBody>
      </p:sp>
      <p:pic>
        <p:nvPicPr>
          <p:cNvPr id="3" name="Accroche" descr="À vous de jou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3840480" cy="118241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tp-01-tour-csharp/enonce.html : sept exercices, chacun avec ses tests. Ils sont rouges au départ ; l'exercice est fini quand ils passent au vert.</a:t>
            </a:r>
            <a:endParaRPr lang="en-US" sz="1600" dirty="0"/>
          </a:p>
        </p:txBody>
      </p:sp>
      <p:sp>
        <p:nvSpPr>
          <p:cNvPr id="5" name="Hexagone décoratif"/>
          <p:cNvSpPr/>
          <p:nvPr/>
        </p:nvSpPr>
        <p:spPr>
          <a:xfrm>
            <a:off x="10058400" y="274320"/>
            <a:ext cx="2011680" cy="1742166"/>
          </a:xfrm>
          <a:custGeom>
            <a:avLst/>
            <a:gdLst/>
            <a:ahLst/>
            <a:cxnLst/>
            <a:rect l="l" t="t" r="r" b="b"/>
            <a:pathLst>
              <a:path w="2011680" h="1742166">
                <a:moveTo>
                  <a:pt x="0" y="871083"/>
                </a:moveTo>
                <a:lnTo>
                  <a:pt x="502920" y="0"/>
                </a:lnTo>
                <a:lnTo>
                  <a:pt x="1508760" y="0"/>
                </a:lnTo>
                <a:lnTo>
                  <a:pt x="2011680" y="871083"/>
                </a:lnTo>
                <a:lnTo>
                  <a:pt x="1508760" y="1742166"/>
                </a:lnTo>
                <a:lnTo>
                  <a:pt x="502920" y="1742166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1155680" y="2103120"/>
            <a:ext cx="1463040" cy="1267030"/>
          </a:xfrm>
          <a:custGeom>
            <a:avLst/>
            <a:gdLst/>
            <a:ahLst/>
            <a:cxnLst/>
            <a:rect l="l" t="t" r="r" b="b"/>
            <a:pathLst>
              <a:path w="1463040" h="1267030">
                <a:moveTo>
                  <a:pt x="0" y="633515"/>
                </a:moveTo>
                <a:lnTo>
                  <a:pt x="365760" y="0"/>
                </a:lnTo>
                <a:lnTo>
                  <a:pt x="1097280" y="0"/>
                </a:lnTo>
                <a:lnTo>
                  <a:pt x="1463040" y="633515"/>
                </a:lnTo>
                <a:lnTo>
                  <a:pt x="1097280" y="1267030"/>
                </a:lnTo>
                <a:lnTo>
                  <a:pt x="365760" y="1267030"/>
                </a:lnTo>
                <a:close/>
              </a:path>
            </a:pathLst>
          </a:custGeom>
          <a:solidFill>
            <a:srgbClr val="001793">
              <a:alpha val="6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décoratif"/>
          <p:cNvSpPr/>
          <p:nvPr/>
        </p:nvSpPr>
        <p:spPr>
          <a:xfrm>
            <a:off x="9509760" y="4754880"/>
            <a:ext cx="1188720" cy="1029462"/>
          </a:xfrm>
          <a:custGeom>
            <a:avLst/>
            <a:gdLst/>
            <a:ahLst/>
            <a:cxnLst/>
            <a:rect l="l" t="t" r="r" b="b"/>
            <a:pathLst>
              <a:path w="1188720" h="1029462">
                <a:moveTo>
                  <a:pt x="0" y="514731"/>
                </a:moveTo>
                <a:lnTo>
                  <a:pt x="297180" y="0"/>
                </a:lnTo>
                <a:lnTo>
                  <a:pt x="891540" y="0"/>
                </a:lnTo>
                <a:lnTo>
                  <a:pt x="1188720" y="514731"/>
                </a:lnTo>
                <a:lnTo>
                  <a:pt x="891540" y="1029462"/>
                </a:lnTo>
                <a:lnTo>
                  <a:pt x="297180" y="1029462"/>
                </a:lnTo>
                <a:close/>
              </a:path>
            </a:pathLst>
          </a:custGeom>
          <a:solidFill>
            <a:srgbClr val="001793">
              <a:alpha val="5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8" name="Hexagone jaune"/>
          <p:cNvSpPr/>
          <p:nvPr/>
        </p:nvSpPr>
        <p:spPr>
          <a:xfrm>
            <a:off x="10881360" y="5257800"/>
            <a:ext cx="685800" cy="593920"/>
          </a:xfrm>
          <a:custGeom>
            <a:avLst/>
            <a:gdLst/>
            <a:ahLst/>
            <a:cxnLst/>
            <a:rect l="l" t="t" r="r" b="b"/>
            <a:pathLst>
              <a:path w="685800" h="593920">
                <a:moveTo>
                  <a:pt x="0" y="296960"/>
                </a:moveTo>
                <a:lnTo>
                  <a:pt x="171450" y="0"/>
                </a:lnTo>
                <a:lnTo>
                  <a:pt x="514350" y="0"/>
                </a:lnTo>
                <a:lnTo>
                  <a:pt x="685800" y="296960"/>
                </a:lnTo>
                <a:lnTo>
                  <a:pt x="514350" y="593920"/>
                </a:lnTo>
                <a:lnTo>
                  <a:pt x="171450" y="59392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9" name="Logo" descr="Logo 3B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560320" cy="200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B Studio">
  <a:themeElements>
    <a:clrScheme name="3B Studio">
      <a:dk1>
        <a:srgbClr val="110E2D"/>
      </a:dk1>
      <a:lt1>
        <a:srgbClr val="FFFFFF"/>
      </a:lt1>
      <a:dk2>
        <a:srgbClr val="000057"/>
      </a:dk2>
      <a:lt2>
        <a:srgbClr val="E1EAF1"/>
      </a:lt2>
      <a:accent1>
        <a:srgbClr val="0040FF"/>
      </a:accent1>
      <a:accent2>
        <a:srgbClr val="FFFF00"/>
      </a:accent2>
      <a:accent3>
        <a:srgbClr val="001793"/>
      </a:accent3>
      <a:accent4>
        <a:srgbClr val="000D78"/>
      </a:accent4>
      <a:accent5>
        <a:srgbClr val="00D66B"/>
      </a:accent5>
      <a:accent6>
        <a:srgbClr val="FF3749"/>
      </a:accent6>
      <a:hlink>
        <a:srgbClr val="0040FF"/>
      </a:hlink>
      <a:folHlink>
        <a:srgbClr val="000092"/>
      </a:folHlink>
    </a:clrScheme>
    <a:fontScheme name="3B Studi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Black Blue Bees - 3B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 · .NET et C# express</dc:title>
  <dc:subject>Cours 1 · .NET et C# express</dc:subject>
  <dc:creator>3B Studio</dc:creator>
  <cp:lastModifiedBy>3B Studio</cp:lastModifiedBy>
  <cp:revision>1</cp:revision>
  <dcterms:created xsi:type="dcterms:W3CDTF">2026-10-19T08:12:42Z</dcterms:created>
  <dcterms:modified xsi:type="dcterms:W3CDTF">2026-10-19T08:12:42Z</dcterms:modified>
</cp:coreProperties>
</file>